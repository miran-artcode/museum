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2" r:id="rId53"/>
    <p:sldId id="303" r:id="rId54"/>
    <p:sldId id="304" r:id="rId55"/>
    <p:sldId id="305" r:id="rId56"/>
  </p:sldIdLst>
  <p:notesMasterIdLst>
    <p:notesMasterId r:id="rId3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4차시입니다. 유물은 발견되는 것이 아니고 읽히는 것입니다. 마모의 위치, 균열의 방향, 수리의 흔적이 과거의 행위를 지시합니다. 오늘 여러분은 그 읽기의 문법을 익히고 자기 유물을 종이 위에서 설계합니다. 손으로 그리고 씁니다. 이 차시에도 생성형 AI는 쓰지 않습니다. 오늘의 산출물인 설계 카드가 없으면 다음 시간에 이미지를 만들 수 없습니다.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 목표 셋입니다. 사물의 사용 흔적이 과거의 행위를 어떻게 지시하는지 설명하기. 박물관이 사물을 명명하고 분류하고 전시하는 관례를 이해하고 그 서식을 활용하기. 자신이 관찰한 사안에서 출발해 논리적으로 성립하는 사물을 설계하고 근거를 기록하기.</a:t>
            </a:r>
          </a:p>
          <a:p>
            <a:r>
              <a:rPr lang="ko-KR" dirty="0"/>
              <a:t>오늘은 이론이 설계 카드를 채우기 위한 도구로만 쓰입니다. 각 절이 끝날 때마다 이것이 카드의 어느 칸에 쓰이는지 제가 지목하겠습니다. 준비물은 학습지 4, 연필, 지우개, 자입니다.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120분 운영입니다. 도입에서 3차시를 회상하고 교실 사물 하나를 들고 이것은 몇 년 뒤 무엇으로 읽힐까를 묻습니다. 전개 1은 호더의 해석고고학과 얽힘 개념, 전개 2는 사용흔 분석과 쉬퍼의 행위연쇄, 전개 3은 라스제의 쓰레기 고고학, 전개 4는 박물관학과 명명 관례, 전개 5는 인류세의 유물, 전개 6이 설계 실습입니다. 전개 6이 오늘의 핵심이고, 앞의 이론은 모두 그 카드를 채우기 위한 도구입니다.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지금까지 확정된 규칙 셋입니다. 규칙 1, 형식. 아카이브의 서식을 빌리고 허구임을 밝힙니다. 2차시 결론입니다. 유물번호, 명제표, 출처 기록이 신뢰를 만들고, 우리는 그 장치를 쓰되 마지막 줄에서 스스로 해제합니다. 규칙 2, 대상. 사람을 만들지 않고 사람이 남긴 것을 만듭니다. 3차시 결론입니다. 자, 살세도, 포렌식 아키텍처의 방법입니다. 규칙 3, 범위. 직접 관찰한 것에서만 출발합니다. 케스터의 기준이고, 관찰하지 않은 타인의 고통을 소재로 쓰지 않습니다.</a:t>
            </a:r>
          </a:p>
          <a:p>
            <a:r>
              <a:rPr lang="ko-KR" dirty="0"/>
              <a:t>모둠별로 3차시 과제였던 자기 사안을 1분씩 공유하세요.</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(교실 문 손잡이를 실제로 가리키거나 떼어 들고 묻는다.) 이 교실 문의 손잡이를 300년 뒤에 누가 발굴합니다. 그 사람은 이 손잡이를 보고 무엇을 알아낼 수 있습니까.</a:t>
            </a:r>
          </a:p>
          <a:p>
            <a:r>
              <a:rPr lang="ko-KR" dirty="0"/>
              <a:t>흔적에서 행위로 답이 나오게 유도합니다. 닳은 높이에서 이 사람들의 평균 키를 알 수 있습니다. 닳은 방향에서 밀었는지 당겼는지, 오른손인지 왼손인지 알 수 있습니다. 닳은 정도에서 하루 몇 번, 몇 년 동안인지 추정할 수 있습니다. 수리 흔적에서 고쳐 쓸 만큼 중요했다는 사실을 알 수 있습니다.</a:t>
            </a:r>
          </a:p>
          <a:p>
            <a:r>
              <a:rPr lang="ko-KR" dirty="0"/>
              <a:t>오른쪽은 석기 표면의 사용흔을 현미경으로 관찰한 이미지입니다. 마찰 방향과 광택의 분포가 도구가 어떻게 쓰였는지 알려 줍니다. 오늘 배울 것이 바로 이 읽기입니다.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1입니다. 1980년대 고고학에 큰 전환이 일어났습니다. 사물을 기능과 통계로만 다루던 방식에서, 사물이 담고 있는 의미와 사회적 관계를 함께 읽는 방식으로 넘어간 것입니다. 우리의 유물 설계는 후자의 관점에 서 있습니다.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이언 호더의 『과거 읽기』, 1986년입니다. 호더는 새로운 흐름의 대표 인물로, 과거 사회의 행동을 설명하려면 사물을 데이터가 아니고 텍스트처럼 읽어야 한다고 주장했습니다. 같은 토기 조각도 어느 집 어느 자리에서 나왔는지, 무엇과 함께 있었는지에 따라 다른 뜻을 가집니다.</a:t>
            </a:r>
          </a:p>
          <a:p>
            <a:r>
              <a:rPr lang="ko-KR" dirty="0"/>
              <a:t>우리 설계에 옮기면 이렇습니다. 여러분이 만들 유물은 형태만으로 완성되지 않습니다. 어디서 어떤 상태로 무엇과 함께 발견되었다는 맥락이 붙어야 읽힙니다. 카드의 수습 경위 칸이 이 자리입니다.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같은 유물, 두 개의 읽는 법입니다. 과정고고학은 1960~80년대 미국의 신고고학으로, 목표는 과거에 대한 객관적이고 과학적인 지식이고 방법은 자연과학의 유추를 통해 인간 행동의 법칙을 도출하는 것입니다. 후기과정고고학은 1985년 이후 호더 등이 이끈 흐름으로, 그 객관성의 가능성 자체를 의심하고 의미, 이데올로기, 주체성을 다시 들여옵니다.</a:t>
            </a:r>
          </a:p>
          <a:p>
            <a:r>
              <a:rPr lang="ko-KR" dirty="0"/>
              <a:t>우리는 둘 다 씁니다. 재질에 그 흔적이 물리적으로 생길 수 있는가는 과정고고학의 질문이고, 그 흔적이 누구의 어떤 삶을 지시하는가는 후기과정고고학의 질문입니다. 카드의 재질 칸과 서술 칸이 각각 여기 대응합니다.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호더의 『얽힘』, 2012년입니다. 사람이 사물을 만들지만 만들어진 사물은 사람을 특정한 방식으로 살게 만듭니다. 토기를 만들면 흙을 구하러 가야 하고, 불을 관리해야 하고, 깨지면 고쳐야 하고, 그 일을 하는 사람이 따로 필요해집니다. 사물 하나가 노동과 관계와 시간을 붙잡습니다.</a:t>
            </a:r>
          </a:p>
          <a:p>
            <a:r>
              <a:rPr lang="ko-KR" dirty="0"/>
              <a:t>여러분의 유물도 마찬가지입니다. 그 사물이 있어서 사람들이 무엇을 반복해야 했는가. 그 반복이 어디에 흔적을 남겼는가. 3차시에 적은 보이지 않는 노동이 이 얽힘의 자리입니다.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차탈회위크입니다. 튀르키예 코니아 주의 신석기 유적으로 약 9,000년간 사람이 살았습니다. 호더가 이끈 스탠퍼드대 장기 프로젝트입니다. 주거지가 층층이 쌓여 재건축된 구조이고 벽화, 매장, 일상 도구가 함께 나옵니다.</a:t>
            </a:r>
          </a:p>
          <a:p>
            <a:r>
              <a:rPr lang="ko-KR" dirty="0"/>
              <a:t>발굴 현장의 기록 방식에서 우리 설계에 옮길 것 셋입니다. 출토 지점, 어디에서 발견되었다고 설정할 것인가. 층위, 얼마나 깊이 묻혀 있었는가, 곧 시간의 두께. 동반 출토품, 함께 나온 것이 있는가, 있다면 그것이 이 사물의 용도를 어떻게 좁히는가.</a:t>
            </a:r>
          </a:p>
          <a:p>
            <a:r>
              <a:rPr lang="ko-KR" dirty="0"/>
              <a:t>이 셋이 카드의 수습 경위 칸에 들어갑니다.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2입니다. 오늘의 기술적 핵심입니다. 사용흔 분석은 유물에서 행위를 복원하는 방법이고, 우리는 그 절차를 역방향으로 씁니다. 행위를 정한 뒤 그에 맞는 흔적을 설계합니다.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마이클 쉬퍼의 행위연쇄 분석입니다. 1975년 『아메리칸 앤티쿼티』에 실렸습니다. 사물의 생애를 여섯 단계로 나눕니다. 원료 획득, 제작, 사용, 유지와 수리, 재사용, 폐기. 각 단계가 사물에 다른 흔적을 남깁니다. 제작 흔적과 사용 흔적과 폐기 후 흔적은 서로 다릅니다.</a:t>
            </a:r>
          </a:p>
          <a:p>
            <a:r>
              <a:rPr lang="ko-KR" dirty="0"/>
              <a:t>여러분의 카드에서 사용 흔적 칸과 매몰 흔적 칸이 따로 있는 이유가 이것입니다. 쓰면서 생긴 자국과 묻힌 뒤에 생긴 변화를 나눠 적어야 합니다.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지금 남아 있는 것은 남겨진 것이 아니고 살아남은 것입니다. 쉬퍼는 고고학적 기록이 그대로 보존된 과거가 아니고 여러 변형 과정을 통과한 결과라고 보았습니다. 자연적 변형은 부식, 압착, 침식, 동물의 교란입니다. 문화적 변형은 재사용, 이동, 파괴, 매장입니다.</a:t>
            </a:r>
          </a:p>
          <a:p>
            <a:r>
              <a:rPr lang="ko-KR" dirty="0"/>
              <a:t>설계에 옮기면 이렇습니다. 여러분의 사물이 300년을 어떻게 통과했는지 정해야 합니다. 어느 부분이 사라지고 어느 부분이 남았는가. 종이와 천은 대개 사라지고, 금속과 도자와 플라스틱은 남습니다. 카드의 매몰 흔적 칸이 이 자리입니다.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현미경으로 본 사용의 흔적입니다. 석기 표면을 20배에서 200배로 관찰해 마모 방향, 광택 분포, 미세 결손을 확인합니다. 사용흔 분석이라는 분야입니다.</a:t>
            </a:r>
          </a:p>
          <a:p>
            <a:r>
              <a:rPr lang="ko-KR" dirty="0"/>
              <a:t>셋을 봅니다. 첫째, 밝게 반사되는 영역은 어디입니까. 그곳이 손이나 대상이 닿은 자리입니다. 둘째, 긁힌 선들이 같은 방향입니까, 다른 방향입니까. 셋째, 이 도구는 자르는 데 썼을까요, 긁는 데 썼을까요. 선의 방향이 답을 줍니다.</a:t>
            </a:r>
          </a:p>
          <a:p>
            <a:r>
              <a:rPr lang="ko-KR" dirty="0"/>
              <a:t>현미경이 없어도 원리는 같습니다. 다음 슬라이드에서 네 가지 통로로 정리합니다.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사용흔을 읽는 네 가지 통로입니다. 마모는 표면이 닳아 생긴 방향성 있는 줄로, 어떤 동작을 반복했는지 알려 줍니다. 설계 지시문 예는 손잡이 아래쪽이 한 방향으로 닳아 있음입니다. 광택은 자주 잡은 부위가 매끄러워진 것으로, 손이 어디에 얼마나 닿았는지 알려 줍니다. 예는 오른쪽 그립 3분의 1만 광택. 잔존물은 표면에 남은 물질로, 무엇을 담거나 다뤘는지 알려 줍니다. 예는 안쪽 바닥에 갈색 침착. 수리는 이어 붙이거나 덧댄 자국으로, 고쳐 쓸 만큼 중요했다는 사실을 알려 줍니다. 예는 금속 띠로 두 번 보강.</a:t>
            </a:r>
          </a:p>
          <a:p>
            <a:r>
              <a:rPr lang="ko-KR" dirty="0"/>
              <a:t>카드의 사용 흔적 칸에는 이 네 통로 가운데 최소 둘을 부위와 방식을 붙여 적습니다.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사용흔이 통설을 뒤집은 연구입니다. 미국 남서부 밈브레스 지역의 무덤에서는 채색 그릇이 다량 출토됩니다. 오랫동안 연구자들은 이 그릇이 장례를 위해 특별히 만들어진 것이라고 보았습니다. 부장품이니 새 물건일 것이라는 추정이었습니다.</a:t>
            </a:r>
          </a:p>
          <a:p>
            <a:r>
              <a:rPr lang="ko-KR" dirty="0"/>
              <a:t>브레이가 1982년에 부장 그릇의 사용흔 유무를 조사했습니다. 결과는 대부분의 그릇에 사용 마모가 있었습니다. 부장품 전용 제작이라는 가정이 반박되었습니다. 사람들은 쓰던 그릇을 무덤에 넣었습니다.</a:t>
            </a:r>
          </a:p>
          <a:p>
            <a:r>
              <a:rPr lang="ko-KR" dirty="0"/>
              <a:t>흔적 하나가 해석 전체를 바꿉니다. 여러분의 사물에서도 흔적이 있느냐 없느냐가 그 사물이 어떤 삶을 살았는지 결정합니다.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1입니다. 짝 활동 15분. 자기가 지금 가지고 있는 물건 하나를 고릅니다. 필기구, 지우개, 물병, 이어폰 무엇이든 좋지만 6개월 이상 쓴 것이어야 합니다. 짝과 물건을 교환하고 사용흔만 보고 상대의 사용 습관을 추정해 적습니다.</a:t>
            </a:r>
          </a:p>
          <a:p>
            <a:r>
              <a:rPr lang="ko-KR" dirty="0"/>
              <a:t>기록지 네 칸을 8분 동안 채웁니다. 닳은 자리, 어디가 어떤 방향으로 닳았습니까. 광택, 어느 면이 매끄러워졌습니까. 잔존물, 무엇이 묻어 있습니까. 수리, 고친 자국이 있습니까. 그리고 추정 문장 한 줄. 이 사람은 이 물건을 이렇게 썼다.</a:t>
            </a:r>
          </a:p>
          <a:p>
            <a:r>
              <a:rPr lang="ko-KR" dirty="0"/>
              <a:t>확인 단계 5분. 정답을 맞히는 활동이 아닙니다. 짝이 실제 사용 습관을 말해 주면 어디서 추정이 맞았고 어디서 어긋났는지 표시합니다. 어긋난 자리에서 무엇이 추정을 메웠는지 봅니다. 지식이었습니까, 습관이었습니까. 이 질문이 오늘 첫 번째 핵심 발문입니다.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3입니다. 고고학은 먼 과거만 다루지 않습니다. 1973년부터 미국 투손에서는 현대인의 쓰레기통을 유적처럼 조사했습니다. 사람의 말과 사물이 어긋날 때 무엇을 믿어야 할까요.</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윌리엄 라스제의 투손 쓰레기 프로젝트입니다. 1973년 애리조나 대학에서 시작했습니다. 방법은 고고학과 똑같았습니다. 내용물을 분류하고, 계량하고, 기록했습니다. 이후 매립지를 직접 발굴하는 조사로 확장되었습니다.</a:t>
            </a:r>
          </a:p>
          <a:p>
            <a:r>
              <a:rPr lang="ko-KR" dirty="0"/>
              <a:t>발견 가운데 유명한 것입니다. 사람들은 설문에서 자기가 먹는 음식과 버리는 양을 실제와 다르게 답했습니다. 술 소비량은 적게, 채소 섭취는 많게 말했습니다. 쓰레기는 다른 이야기를 했습니다. 매립지에서는 수십 년 된 신문이 읽을 수 있는 상태로 나왔고, 분해된다고 믿었던 것들이 그대로 있었습니다.</a:t>
            </a:r>
          </a:p>
          <a:p>
            <a:r>
              <a:rPr lang="ko-KR" dirty="0"/>
              <a:t>사람의 진술과 사물의 기록은 어긋납니다. 어긋남 자체가 자료입니다.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쓰레기 분류와 계량 작업 장면입니다. 항목별로 구분하고 계량하고 기록합니다. 2차시 디온의 「테이트 템스 발굴」과 비교해 보세요.</a:t>
            </a:r>
          </a:p>
          <a:p>
            <a:r>
              <a:rPr lang="ko-KR" dirty="0"/>
              <a:t>첫째, 이 물건들을 봉투에 담아 두었다면 무엇으로 보일까요. 둘째, 분류 기준을 정한 사람은 누구입니까. 그 기준은 결과에 영향을 줍니까. 셋째, 여기서 빠진 항목이 있다면 어떤 결론이 사라집니까.</a:t>
            </a:r>
          </a:p>
          <a:p>
            <a:r>
              <a:rPr lang="ko-KR" dirty="0"/>
              <a:t>분류가 자료를 만듭니다. 같은 쓰레기도 재질별로 나누면 재활용 이야기가 되고, 상표별로 나누면 소비 이야기가 됩니다.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현대의 사물을 고고학으로 다루는 흐름입니다. 알프레도 곤살레스루이발은 고고학을 현재의 물질문화로 확장했습니다. 전쟁, 재난, 기술 폐기물처럼 지금 생산되고 있는 사물을 유적처럼 다룹니다. 호더의 얽힘 개념을 현대 사회에 적용한 흐름입니다.</a:t>
            </a:r>
          </a:p>
          <a:p>
            <a:r>
              <a:rPr lang="ko-KR" dirty="0"/>
              <a:t>전개 3에서 확인한 세 문장입니다. 사람의 진술과 사물의 기록은 어긋납니다. 어긋남 자체가 자료입니다. 유적은 오래된 곳이 아니고 사물이 퇴적된 곳입니다. 어제의 쓰레기통도 유적입니다. 가장 많이 남는 것이 가장 중요한 것은 아닙니다. 이 세 번째가 오늘 마지막 발문입니다.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4입니다. 박물관은 사물을 보관하는 창고로 보이지만, 진열과 명제표를 통해 의미를 만들어 내는 장치입니다. 2차시의 제도 논의를 오늘은 우리 손이 직접 쓰는 서식으로 옮깁니다.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토니 베넷의 「전시적 복합체」, 1988년입니다. 19세기에 등장한 박물관, 박람회, 만국박람회를 하나의 장치로 묶어 전시적 복합체라 불렀습니다. 사물을 사적인 소유의 영역에서 꺼내 공적으로 보이는 영역으로 옮기는 제도였다는 것입니다.</a:t>
            </a:r>
          </a:p>
          <a:p>
            <a:r>
              <a:rPr lang="ko-KR" dirty="0"/>
              <a:t>베넷은 푸코의 규율 개념을 빌려 이렇게 봅니다. 박물관은 관람자에게 사물을 보여 주는 동시에 어떻게 보아야 하는지, 어떻게 걸어야 하는지, 어디서 멈춰야 하는지를 가르칩니다. 관람자는 보는 사람이면서 동시에 보이는 사람이 됩니다.</a:t>
            </a:r>
          </a:p>
          <a:p>
            <a:r>
              <a:rPr lang="ko-KR" dirty="0"/>
              <a:t>7차시에 교실을 전시장으로 만들 때 여러분도 관람 동선과 정지 지점을 설계합니다. 그때 이 개념이 다시 나옵니다.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박물관화라는 개념입니다. 한 사물이 박물관에 들어가면 보존, 연구, 교육의 대상이 됩니다. 동시에 원래 있던 자리에서 떼어내지고 쓰이던 기능을 잃습니다. 두 방향을 함께 보는 개념입니다.</a:t>
            </a:r>
          </a:p>
          <a:p>
            <a:r>
              <a:rPr lang="ko-KR" dirty="0"/>
              <a:t>자리를 옮기면 훼손 위험에서 벗어나 장기 보존이 가능해지지만, 어디에 어떻게 놓여 있었는지의 맥락이 사라집니다. 기능이 정지되면 사용에 의한 추가 마모가 멈추지만, 그 사물이 하던 일을 아무도 다시 볼 수 없습니다. 이름이 붙으면 검색과 연구가 가능해지지만, 그 이름이 가리키지 않는 다른 가능성은 닫힙니다.</a:t>
            </a:r>
          </a:p>
          <a:p>
            <a:r>
              <a:rPr lang="ko-KR" dirty="0"/>
              <a:t>여러분의 카드는 이 박물관화를 스스로 수행하는 서식입니다. 무엇을 얻고 무엇을 잃는지 알고 쓰는 것과 모르고 쓰는 것은 다릅니다.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명제표라는 작은 인쇄물입니다. 일반 항목은 명칭, 연대, 재질, 치수, 출토 또는 전래, 소장 번호입니다. 기능은 사물을 자료로 등록하고 관람자의 해석 범위를 안내하는 것입니다. 2차시 이것은 미술 작품이 아니다 캡션을 떠올려 보세요.</a:t>
            </a:r>
          </a:p>
          <a:p>
            <a:r>
              <a:rPr lang="ko-KR" dirty="0"/>
              <a:t>셋을 봅니다. 첫째, 가장 크게 인쇄된 항목은 무엇입니까. 왜 그것이 가장 큽니까. 둘째, 이 표에서 추정과 확정은 어떻게 구분되어 있습니까. 추정 연대라는 말, 물음표, 세기 단위 표기. 셋째, 손글씨로 적혀 있었다면 신뢰가 달라졌을까요.</a:t>
            </a:r>
          </a:p>
          <a:p>
            <a:r>
              <a:rPr lang="ko-KR" dirty="0"/>
              <a:t>활자, 순서, 크기가 신뢰를 만듭니다. 6차시에 여러분이 명제표를 쓸 때 이 세 가지를 결정합니다.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한국 박물관의 유물 명명 관례입니다. 유물 명칭은 감상평이 아닙니다. 정해진 순서로 정보를 나열한 코드입니다. 순서를 알면 이름만 읽고도 재료, 만든 방식, 무늬, 용도를 알 수 있습니다.</a:t>
            </a:r>
          </a:p>
          <a:p>
            <a:r>
              <a:rPr lang="ko-KR" dirty="0"/>
              <a:t>네 자리를 순서대로 채웁니다. 첫째 재질, 무엇으로 만들었는가. 청자, 백자, 분청사기, 청동. 재료가 가장 변하지 않는 정보이므로 분류의 첫 기준입니다. 둘째 기법, 어떻게 만들거나 장식했는가. 상감, 철화, 양각. 셋째 문양, 무엇이 그려졌는가. 운학문, 연화문, 모란문. 넷째 기물, 어떤 형태의 물건인가. 매병, 대접, 향로.</a:t>
            </a:r>
          </a:p>
          <a:p>
            <a:r>
              <a:rPr lang="ko-KR" dirty="0"/>
              <a:t>이 네 자리 규칙을 오늘 활동 2에서 교실 사물에 직접 적용합니다. 그리고 그 이름이 5차시 프롬프트의 첫 줄이 됩니다.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이름 한 줄을 네 조각으로 자릅니다. 청자 상감 운학문 매병. 청자는 재질입니다. 푸른빛 유약을 입힌 자기. 상감은 기법입니다. 무늬를 파내고 다른 흙을 채워 넣음. 운학문은 문양입니다. 구름과 학. 매병은 기물입니다. 어깨가 넓고 아래가 좁은 병.</a:t>
            </a:r>
          </a:p>
          <a:p>
            <a:r>
              <a:rPr lang="ko-KR" dirty="0"/>
              <a:t>2차시 도입에서 본 바로 그 물건입니다. 그때는 급식실 선반과 유리장을 비교했고, 오늘은 이름 자체를 분해합니다. 이름에 아름답다, 신비롭다 같은 말이 하나도 없다는 점을 확인하세요. 감상어가 들어가는 순간 명제표는 광고가 됩니다.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2입니다. 개인 6분, 모둠 검증 6분. 교실에서 사물 하나를 고릅니다. 그 사물을 2300년에 발굴된 유물로 간주하고 네 자리 규칙으로 명칭을 만듭니다. 이 활동의 산출물이 5차시 프롬프트의 첫 줄이 됩니다.</a:t>
            </a:r>
          </a:p>
          <a:p>
            <a:r>
              <a:rPr lang="ko-KR" dirty="0"/>
              <a:t>1단계 개인 작성. 고른 사물, 예를 들어 급식 식판, 실내화, 충전 케이블. 재질은 실제 재료를 씁니다. 상상 재료는 안 됩니다. 기법은 만든 방식입니다. 사출, 압출, 편조. 문양은 표면에 있는 것입니다. 없으면 무문. 기물은 형태에서만 짓습니다. 용도를 말하는 이름은 피합니다. 케이블 대신 연결구, 식판 대신 구획 접시.</a:t>
            </a:r>
          </a:p>
          <a:p>
            <a:r>
              <a:rPr lang="ko-KR" dirty="0"/>
              <a:t>2단계 모둠 검증. 서로의 이름을 시험합니다. 이름만 듣고 그 사물을 그릴 수 있는가. 감상어가 있는가. 용도가 드러났는가. 세 질문에서 걸리면 고칩니다.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5입니다. 지금 우리가 만드는 사물 중 어떤 것은 인간보다 오래 남습니다. 남길 것을 고르고 읽는 법을 함께 설계하는 작업. 우리의 2300년 유물과 정확히 같은 문제입니다.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트레버 파글렌의 「The Last Pictures」, 2012년입니다. 이미지 100장을 미세 에칭한 실리콘 디스크 한 점을 통신위성 EchoStar XVI에 실어 2012년 9월 바이코누르에서 발사했습니다. 정지궤도 약 35,786킬로미터에 있습니다.</a:t>
            </a:r>
          </a:p>
          <a:p>
            <a:r>
              <a:rPr lang="ko-KR" dirty="0"/>
              <a:t>첫째, 이 작품을 볼 수 있는 사람은 누구입니까. 지금은 아무도 없습니다. 둘째, 100장만 고른다면 무엇을 넣겠습니까. 셋째, 그것을 볼 존재가 우리 언어를 모른다면 무엇이 전달됩니까.</a:t>
            </a:r>
          </a:p>
          <a:p>
            <a:r>
              <a:rPr lang="ko-KR" dirty="0"/>
              <a:t>남길 것을 고르는 일이 작품입니다. 뒤샹의 선택이 여기까지 왔습니다.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50억 년을 견디도록 설계된 기록입니다. 매체를 고르는 일이 수명을 결정합니다. 종이, 필름, 자기 기록은 수십 년 안에 손상됩니다. 파글렌은 실리콘에 에칭했고 위성은 대기권 밖에 있어 부식이 없습니다.</a:t>
            </a:r>
          </a:p>
          <a:p>
            <a:r>
              <a:rPr lang="ko-KR" dirty="0"/>
              <a:t>우리 유물의 재질을 정할 때 물을 것 셋입니다. 이 재질은 300년을 버티는가. 종이와 천은 특별한 조건이 없으면 어렵습니다. 버틴다면 어떤 상태로 버티는가. 색이 빠지는가, 형태가 뒤틀리는가. 버티지 못하는 부분이 있다면 그 결손 자체가 유물의 특징이 됩니다. 손잡이의 나무는 사라지고 금속 심만 남은 상태처럼요.</a:t>
            </a:r>
          </a:p>
          <a:p>
            <a:r>
              <a:rPr lang="ko-KR" dirty="0"/>
              <a:t>카드의 재질 칸과 매몰 흔적 칸이 여기서 연결됩니다.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10,000년 뒤에도 읽혀야 하는 표지입니다. 미국의 핵폐기물 처분장에서 10,000년간 위험을 전달할 표지를 설계하는 연구가 있었습니다. 핵 기호학이라는 분야입니다. 이 항목은 개요 수준이고 학술 인용은 따로 확인이 필요합니다.</a:t>
            </a:r>
          </a:p>
          <a:p>
            <a:r>
              <a:rPr lang="ko-KR" dirty="0"/>
              <a:t>첫째, 문자를 읽지 못하는 사람에게도 위험이 전달됩니까. 둘째, 이 형태가 오히려 호기심을 자극하지는 않습니까. 셋째, 10,000년 뒤 사람들이 이것을 유물로 발굴해 박물관에 넣는다면 어떤 명제표를 붙일까요.</a:t>
            </a:r>
          </a:p>
          <a:p>
            <a:r>
              <a:rPr lang="ko-KR" dirty="0"/>
              <a:t>글이 가장 먼저 사라집니다. 그 다음이 형태이고 재질이 마지막까지 남습니다. 다음 슬라이드에서 정리합니다.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전달의 세 층위입니다. 문자는 글로 적은 설명으로 가장 정확하지만 언어를 아는 사람에게만 작동합니다. 가장 먼저 사라집니다. 우리 카드의 명제표가 여기 해당합니다. 형태는 모양, 크기, 비례입니다. 손에 쥐는 물건인지 두 손으로 드는 물건인지가 보입니다. 문자보다 오래 남습니다. 우리 카드의 치수와 기물 이름이 여기 해당합니다. 재질은 무엇으로 만들었는가입니다. 가장 오래 남고 가장 적게 말합니다. 우리 카드의 재질 칸입니다.</a:t>
            </a:r>
          </a:p>
          <a:p>
            <a:r>
              <a:rPr lang="ko-KR" dirty="0"/>
              <a:t>우리 전시의 관람자는 문자를 읽을 수 있습니다. 그런데 2300년의 발굴자는 우리 문자를 모를 수 있습니다. 카드의 명칭과 용도가 추정으로 표기되는 이유입니다.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6, 설계 실습입니다. 이 절의 산출물은 설계 카드 한 장입니다. 카드가 완성되지 않으면 5차시에서 이미지를 만들 수 없습니다. 아직 AI는 쓰지 않습니다. 종이 위에서 유물을 완성합니다.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우리 전시의 규칙입니다. 설정은 하나입니다. 2300년의 발굴자가 21세기 초의 퇴적층에서 사물을 수습했다. 그 사물의 이름과 용도는 발굴자가 추정한 것이다. 우리는 그 추정 기록을 만듭니다.</a:t>
            </a:r>
          </a:p>
          <a:p>
            <a:r>
              <a:rPr lang="ko-KR" dirty="0"/>
              <a:t>지켜야 하는 조건 다섯입니다. 시점은 발굴 연도 2300년으로 통일합니다. 재료는 지금 실제로 존재하는 재료만 씁니다. 흔적은 사용흔과 매몰 흔적을 나눠 적습니다. 대상은 3차시에 적은 보이지 않는 것과 관련된 사물이어야 합니다. 표기는 허구임을 카드에 명시합니다.</a:t>
            </a:r>
          </a:p>
          <a:p>
            <a:r>
              <a:rPr lang="ko-KR" dirty="0"/>
              <a:t>고르지 말아야 할 사물 셋입니다. 실재 인물이나 사건을 지칭하는 것. 3차시 규칙입니다. 지금 존재하지 않는 재료나 기술로 된 것. 발굴자가 추정할 수 없게 되기 때문입니다. 사용 흔적이 생길 수 없는 것. 쓰이지 않은 사물은 삶을 기록하지 못합니다.</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유물 설계 카드, 별지 4입니다. 아홉 칸을 채우면 유물이 성립합니다. 유물번호는 임의 번호 체계로, 예를 들어 2300-KR-014입니다. 명칭은 재질, 기법, 문양, 기물 네 자리입니다. 추정 연대는 21세기 초처럼 폭이 있는 표기입니다. 재질과 기법은 실제 존재하는 재료와 제작 방식입니다. 치수는 단위를 붙여 적습니다. 수습 경위는 장소, 층위, 동반 출토품입니다. 사용 흔적은 부위와 방식입니다. 매몰 흔적은 300년의 변화입니다. 추정 용도는 발굴자의 추정으로 표기합니다.</a:t>
            </a:r>
          </a:p>
          <a:p>
            <a:r>
              <a:rPr lang="ko-KR" dirty="0"/>
              <a:t>각 칸 옆에 근거가 된 이론을 적어 두었습니다. 오늘 배운 것이 어느 칸에 쓰이는지 확인하면서 씁니다. 40분 동안 개인 작성이고, 저는 순회하면서 한 사람에게 한 질문만 던집니다.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무엇이 유물을 성립시키는가. 유물의 설득력은 정교한 형태에서 오지 않습니다. 서로 다른 항목이 같은 이야기를 하는지에서 옵니다. 세 축이 맞으면 성립하고 하나라도 어긋나면 무너집니다.</a:t>
            </a:r>
          </a:p>
          <a:p>
            <a:r>
              <a:rPr lang="ko-KR" dirty="0"/>
              <a:t>축 1, 재질과 흔적. 그 재질에 그 흔적이 물리적으로 생길 수 있는가. 금속 표면에 산화 얼룩과 눌린 변형은 맞습니다. 유리에 한쪽만 부드럽게 닳은 광택은 어긋납니다. 유리는 그렇게 닳지 않습니다. 축 2, 용도와 부위. 그 용도로 썼다면 그 부위에 흔적이 나는가. 잡는 물건이면 손이 닿는 폭에만 광택이 납니다. 축 3, 수습과 매몰. 그 장소에 그 상태로 묻힐 수 있는가. 붕괴층에 눌려 있었다면 한쪽 면이 압착됩니다.</a:t>
            </a:r>
          </a:p>
          <a:p>
            <a:r>
              <a:rPr lang="ko-KR" dirty="0"/>
              <a:t>카드를 다 쓰면 이 세 축으로 스스로 점검합니다.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카드 제출 전 자기 점검입니다. 여덟 질문에 모두 예가 되어야 합니다. 명칭에 감상어가 하나도 없는가. 재질이 지금 존재하는 재료인가. 사용 흔적에 부위와 방식이 모두 적혀 있는가. 매몰 흔적이 따로 적혀 있는가. 수습 경위에 장소, 층위, 동반 출토품이 있는가. 치수에 단위가 붙어 있는가. 용도가 추정으로 표기되어 있는가. 허구 표기가 있는가.</a:t>
            </a:r>
          </a:p>
          <a:p>
            <a:r>
              <a:rPr lang="ko-KR" dirty="0"/>
              <a:t>하나라도 아니오면 그 칸으로 돌아갑니다. 짝과 카드를 바꿔 서로 점검해 주세요.</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축이 맞는 카드 예시입니다. 2300-KR-014, 고분자 피복 동선 편조 이중단자 연결구. 추정 연대 21세기 초, 2010년에서 2040년 사이. 실제 사물은 충전 케이블이지만 이름에 용도가 없습니다.</a:t>
            </a:r>
          </a:p>
          <a:p>
            <a:r>
              <a:rPr lang="ko-KR" dirty="0"/>
              <a:t>왜 성립하는지 세 축으로 봅니다. 재질과 흔적. 고분자는 변색되고 경화되며 금속은 마모됩니다. 재료별로 다른 흔적을 적었습니다. 용도와 부위. 반복해서 꽂고 뽑는 물건이므로 마모가 단자부 양 끝에 있습니다. 수습과 매몰. 붕괴층에 눌려 있었으므로 한쪽 면만 압착되었습니다.</a:t>
            </a:r>
          </a:p>
          <a:p>
            <a:r>
              <a:rPr lang="ko-KR" dirty="0"/>
              <a:t>세 항목이 하나의 이야기를 합니다. 이것이 정교함과 다른 종류의 설득력입니다.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어디서 무너지는지 보는 예시입니다. 신비의 빛나는 기억 장치. 일곱 곳이 어긋났습니다.</a:t>
            </a:r>
          </a:p>
          <a:p>
            <a:r>
              <a:rPr lang="ko-KR" dirty="0"/>
              <a:t>유물번호가 없습니다. 명칭의 신비의는 감상어이고 네 자리 규칙 위반입니다. 연대가 단일 연도로 확정되어 있는데 추정에는 폭이 있어야 합니다. 재질이 미지의 합금인데 검증 불가능하고 실재 재료여야 합니다. 치수에 단위가 없어 비교할 수 없습니다. 수습에 장소, 층위, 동반품이 모두 없습니다. 사용흔이 부위와 방식 없는 분위기 서술입니다. 허구 표기가 없습니다.</a:t>
            </a:r>
          </a:p>
          <a:p>
            <a:r>
              <a:rPr lang="ko-KR" dirty="0"/>
              <a:t>이런 카드로 5차시에 프롬프트를 쓰면 도구는 게임 아이템을 만들어 냅니다. 빈자리를 도구가 장식으로 채우기 때문입니다. 자기 카드에서 이 일곱 항목 가운데 걸리는 것이 있는지 지금 확인하세요.</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개의 발문으로 오늘을 닫습니다. 사물이 말하는가, 우리가 말하게 하는가. 답을 정하는 시간이 아니고 근거를 대는 연습을 하는 시간입니다. 오늘의 근거는 방금 쓴 카드와 활동 1의 기록입니다.</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첫 번째 발문입니다. 닳은 자리는 사실인가, 아니면 사실처럼 읽히는 자국인가.</a:t>
            </a:r>
          </a:p>
          <a:p>
            <a:r>
              <a:rPr lang="ko-KR" dirty="0"/>
              <a:t>답변에 반드시 포함할 것 셋입니다. 활동 1에서 자기가 틀린 추정을 하나 인용합니다. 그 흔적이 무엇을 알려 주었고 무엇은 알려 주지 않았는지 나눕니다. 추정을 메운 것이 무엇이었는지 말합니다. 지식이었습니까, 습관이었습니까.</a:t>
            </a:r>
          </a:p>
          <a:p>
            <a:r>
              <a:rPr lang="ko-KR" dirty="0"/>
              <a:t>(되묻기. 흔적은 사실이다. 좋다, 그럼 같은 흔적을 보고 두 사람이 다르게 답한 이유는 무엇인가. 읽기 나름이다. 그럼 어떤 흔적은 왜 누구나 같게 읽는가. 카드의 어느 칸이 그 말을 뒷받침하는지 지목하게 한다.)</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번째 발문입니다. 이름을 붙이는 순간 우리는 무엇을 닫아 버리는가.</a:t>
            </a:r>
          </a:p>
          <a:p>
            <a:r>
              <a:rPr lang="ko-KR" dirty="0"/>
              <a:t>답변에 반드시 포함할 것 셋입니다. 활동 2에서 자기가 정한 기물 이름을 인용합니다. 그 이름이 배제한 다른 용도를 하나 이상 말합니다. 1차시 뒤샹의 명명 행위와 비교합니다.</a:t>
            </a:r>
          </a:p>
          <a:p>
            <a:r>
              <a:rPr lang="ko-KR" dirty="0"/>
              <a:t>(되묻기. 아무것도 닫지 않는다. 연결구라 적었다면 관람자는 장식품이라는 가능성을 떠올릴 수 있는가. 정확하면 문제없다. 2300년의 발굴자에게 정확이란 무엇인가, 그 사람은 충전이 무엇인지 모른다. 느낌으로 답하면 그 느낌을 만든 부위를 하나 지목하게 한다.)</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번째 발문입니다. 가장 많이 남는 것이 그 시대를 대표하게 되는 것은 정당한가.</a:t>
            </a:r>
          </a:p>
          <a:p>
            <a:r>
              <a:rPr lang="ko-KR" dirty="0"/>
              <a:t>답변에 반드시 포함할 것 셋입니다. 라스제의 발견 중 하나를 근거로 인용합니다. 오늘 교실에서 가장 많이 남을 물건과 가장 중요한 물건을 각각 듭니다. 둘이 다르다면 그 차이가 미래의 기록에서 어떻게 왜곡될지 말합니다.</a:t>
            </a:r>
          </a:p>
          <a:p>
            <a:r>
              <a:rPr lang="ko-KR" dirty="0"/>
              <a:t>(되묻기. 정당하다, 증거가 그것뿐이다. 그럼 나무로 만든 물건만 쓰던 사회는 역사에서 어떻게 기록되는가. 부당하다. 그럼 남지 않은 것을 무엇으로 복원하는가, 그것은 추정인가 창작인가. 모두 같은 답이면 반대로 볼 사람은 어떤 흔적을 근거로 쓸지 묻는다.)</a:t>
            </a:r>
          </a:p>
          <a:p>
            <a:r>
              <a:rPr lang="ko-KR" dirty="0"/>
              <a:t>칠판에 근거의 종류만 분류해 남깁니다. 흔적 근거, 문헌 근거, 경험 근거, 논리 근거.</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학습지 별지 4의 구성입니다. 1면은 사물 읽기 기록지로 활동 1에서 씁니다. 2면은 명명 실습으로 활동 2에서 씁니다. 3면과 4면이 설계 카드입니다. 전개 6에서 씁니다. 3면과 4면은 5차시에 반드시 가져와야 합니다. 카드 없이는 다음 시간 작업이 불가능합니다.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남길 다섯 문장입니다. 첫째, 사물은 스스로 말하지 않습니다. 그러나 닳은 자리는 행위를 기록합니다. 둘째, 사용에 의한 흔적과 묻힌 뒤의 흔적은 다릅니다. 둘을 나누는 것이 읽기의 시작입니다. 셋째, 사람의 말과 사물의 기록은 어긋납니다. 어긋남 자체가 자료입니다. 넷째, 이름은 정보를 더하는 동시에 다른 가능성을 닫습니다. 명명은 권한입니다. 다섯째, 유물의 설득력은 근거의 일관성에서 옵니다.</a:t>
            </a:r>
          </a:p>
          <a:p>
            <a:r>
              <a:rPr lang="ko-KR" dirty="0"/>
              <a:t>아래는 오늘 만난 인물과 문헌입니다.</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다음 시간은 5차시, 문장이 이미지를 결정한다입니다. 단원에서 처음으로 생성형 AI를 사용합니다. 오늘 만든 설계 카드의 문장을 프롬프트로 옮기고 결과 이미지가 카드와 맞는지 검증합니다. 도구를 배우는 시간이 아니고 기술한 것과 산출된 것의 차이를 읽는 시간입니다.</a:t>
            </a:r>
          </a:p>
          <a:p>
            <a:r>
              <a:rPr lang="ko-KR" dirty="0"/>
              <a:t>준비 사항입니다. 학습지 별지 4의 3면과 4면을 반드시 가져옵니다. 매몰 흔적 칸이 비어 있으면 오늘 채워 둡니다. 사용 도구와 계정 안내는 5차시 도입에서 함께 합니다.</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인용한 문헌과 도판 출처입니다. 호더, 쉬퍼, 라스제, 베넷, 곤살레스루이발, 파글렌, 그리고 국립중앙박물관 명명 관례입니다. 배포본에는 소장 기관명과 작품 정보를 함께 표기합니다.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3.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jpe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4.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jpe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3.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jpe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3.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jpe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jpe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4.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jpe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3.png"/><Relationship Id="rId4" Type="http://schemas.openxmlformats.org/officeDocument/2006/relationships/image" Target="../media/image-16-3.png"/><Relationship Id="rId5" Type="http://schemas.openxmlformats.org/officeDocument/2006/relationships/image" Target="../media/image-7-4.pn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0-2.png"/><Relationship Id="rId4" Type="http://schemas.openxmlformats.org/officeDocument/2006/relationships/image" Target="../media/image1.jp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8-2.png"/><Relationship Id="rId4" Type="http://schemas.openxmlformats.org/officeDocument/2006/relationships/image" Target="../media/image-15-3.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8-2.png"/><Relationship Id="rId4" Type="http://schemas.openxmlformats.org/officeDocument/2006/relationships/image" Target="../media/image-2-2.png"/><Relationship Id="rId5" Type="http://schemas.openxmlformats.org/officeDocument/2006/relationships/image" Target="../media/image-15-3.png"/><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0-2.png"/><Relationship Id="rId4" Type="http://schemas.openxmlformats.org/officeDocument/2006/relationships/image" Target="../media/image3.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8-2.png"/><Relationship Id="rId4" Type="http://schemas.openxmlformats.org/officeDocument/2006/relationships/image" Target="../media/image-15-3.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0-2.png"/><Relationship Id="rId4" Type="http://schemas.openxmlformats.org/officeDocument/2006/relationships/image" Target="../media/image3.png"/><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6-3.png"/><Relationship Id="rId4" Type="http://schemas.openxmlformats.org/officeDocument/2006/relationships/image" Target="../media/image-7-4.png"/><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6-3.png"/><Relationship Id="rId4" Type="http://schemas.openxmlformats.org/officeDocument/2006/relationships/image" Target="../media/image-7-4.png"/><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png"/><Relationship Id="rId4" Type="http://schemas.openxmlformats.org/officeDocument/2006/relationships/image" Target="../media/image-8-3.png"/><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jpeg"/><Relationship Id="rId3" Type="http://schemas.openxmlformats.org/officeDocument/2006/relationships/image" Target="../media/image5.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11.png"/><Relationship Id="rId5"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9E5DD"/>
        </a:solidFill>
      </p:bgPr>
    </p:bg>
    <p:spTree>
      <p:nvGrpSpPr>
        <p:cNvPr id="1" name=""/>
        <p:cNvGrpSpPr/>
        <p:nvPr/>
      </p:nvGrpSpPr>
      <p:grpSpPr>
        <a:xfrm>
          <a:off x="0" y="0"/>
          <a:ext cx="0" cy="0"/>
          <a:chOff x="0" y="0"/>
          <a:chExt cx="0" cy="0"/>
        </a:xfrm>
      </p:grpSpPr>
      <p:pic>
        <p:nvPicPr>
          <p:cNvPr id="2" name="Image 0" descr="gen-dedup-87774964def63b96480d586333306a00.png">    </p:cNvPr>
          <p:cNvPicPr>
            <a:picLocks noChangeAspect="1"/>
          </p:cNvPicPr>
          <p:nvPr/>
        </p:nvPicPr>
        <p:blipFill>
          <a:blip r:embed="rId1"/>
          <a:stretch/>
        </p:blipFill>
        <p:spPr>
          <a:xfrm>
            <a:off x="1181361" y="1257300"/>
            <a:ext cx="9448583" cy="28346"/>
          </a:xfrm>
          <a:prstGeom prst="rect">
            <a:avLst/>
          </a:prstGeom>
        </p:spPr>
      </p:pic>
      <p:pic>
        <p:nvPicPr>
          <p:cNvPr id="3" name="Image 1" descr="gen-dedup-94625d464372d5cd4fae92a1b6a351c3.png">    </p:cNvPr>
          <p:cNvPicPr>
            <a:picLocks noChangeAspect="1"/>
          </p:cNvPicPr>
          <p:nvPr/>
        </p:nvPicPr>
        <p:blipFill>
          <a:blip r:embed="rId2"/>
          <a:stretch/>
        </p:blipFill>
        <p:spPr>
          <a:xfrm>
            <a:off x="1144004" y="4515307"/>
            <a:ext cx="1255292" cy="47549"/>
          </a:xfrm>
          <a:prstGeom prst="rect">
            <a:avLst/>
          </a:prstGeom>
        </p:spPr>
      </p:pic>
      <p:sp>
        <p:nvSpPr>
          <p:cNvPr id="4" name="Shape 0"/>
          <p:cNvSpPr/>
          <p:nvPr/>
        </p:nvSpPr>
        <p:spPr>
          <a:xfrm>
            <a:off x="11811305" y="0"/>
            <a:ext cx="6476695" cy="10287000"/>
          </a:xfrm>
          <a:prstGeom prst="rect">
            <a:avLst/>
          </a:prstGeom>
          <a:solidFill>
            <a:srgbClr val="C9C3B6"/>
          </a:solidFill>
          <a:ln w="12700">
            <a:solidFill>
              <a:srgbClr val="FFFFFF">
                <a:alpha val="0"/>
              </a:srgbClr>
            </a:solidFill>
            <a:prstDash val="solid"/>
          </a:ln>
        </p:spPr>
      </p:sp>
      <p:pic>
        <p:nvPicPr>
          <p:cNvPr id="5" name="Image 2" descr="gen-dedup-9c9315b344db13bc9ecd2204b917ed4d.jpg">    </p:cNvPr>
          <p:cNvPicPr>
            <a:picLocks noChangeAspect="1"/>
          </p:cNvPicPr>
          <p:nvPr/>
        </p:nvPicPr>
        <p:blipFill>
          <a:blip r:embed="rId3"/>
          <a:stretch>
            <a:fillRect/>
          </a:stretch>
        </p:blipFill>
        <p:spPr>
          <a:xfrm>
            <a:off x="11811305" y="0"/>
            <a:ext cx="6479390" cy="10287000"/>
          </a:xfrm>
          <a:prstGeom prst="rect">
            <a:avLst/>
          </a:prstGeom>
        </p:spPr>
      </p:pic>
      <p:sp>
        <p:nvSpPr>
          <p:cNvPr id="6" name="Shape 1"/>
          <p:cNvSpPr/>
          <p:nvPr/>
        </p:nvSpPr>
        <p:spPr>
          <a:xfrm>
            <a:off x="11811305" y="8134502"/>
            <a:ext cx="6476695" cy="2152498"/>
          </a:xfrm>
          <a:prstGeom prst="rect">
            <a:avLst/>
          </a:prstGeom>
          <a:solidFill>
            <a:srgbClr val="1A1915">
              <a:alpha val="86000"/>
            </a:srgbClr>
          </a:solidFill>
          <a:ln w="12700">
            <a:solidFill>
              <a:srgbClr val="FFFFFF">
                <a:alpha val="0"/>
              </a:srgbClr>
            </a:solidFill>
            <a:prstDash val="solid"/>
          </a:ln>
        </p:spPr>
      </p:sp>
      <p:sp>
        <p:nvSpPr>
          <p:cNvPr id="7" name="Text 2"/>
          <p:cNvSpPr txBox="1"/>
          <p:nvPr/>
        </p:nvSpPr>
        <p:spPr>
          <a:xfrm>
            <a:off x="12135002" y="8382305"/>
            <a:ext cx="5829300" cy="286207"/>
          </a:xfrm>
          <a:prstGeom prst="rect">
            <a:avLst/>
          </a:prstGeom>
          <a:noFill/>
          <a:ln/>
        </p:spPr>
        <p:txBody>
          <a:bodyPr wrap="none" lIns="0" tIns="0" rIns="0" bIns="0" rtlCol="0" anchor="ctr"/>
          <a:lstStyle/>
          <a:p>
            <a:pPr algn="l" indent="0" marL="0">
              <a:buNone/>
            </a:pPr>
            <a:r>
              <a:rPr lang="en-US" sz="1575" spc="472" kern="0" dirty="0">
                <a:solidFill>
                  <a:srgbClr val="A79E8C"/>
                </a:solidFill>
                <a:latin typeface="Noto Sans KR" pitchFamily="34" charset="0"/>
                <a:ea typeface="Noto Sans KR" pitchFamily="34" charset="-122"/>
                <a:cs typeface="Noto Sans KR" pitchFamily="34" charset="-120"/>
              </a:rPr>
              <a:t>PLATE 4—01</a:t>
            </a:r>
            <a:endParaRPr lang="en-US" sz="1575" dirty="0"/>
          </a:p>
        </p:txBody>
      </p:sp>
      <p:sp>
        <p:nvSpPr>
          <p:cNvPr id="8" name="Text 3"/>
          <p:cNvSpPr txBox="1"/>
          <p:nvPr/>
        </p:nvSpPr>
        <p:spPr>
          <a:xfrm>
            <a:off x="12135002" y="8781898"/>
            <a:ext cx="5829300" cy="362102"/>
          </a:xfrm>
          <a:prstGeom prst="rect">
            <a:avLst/>
          </a:prstGeom>
          <a:noFill/>
          <a:ln/>
        </p:spPr>
        <p:txBody>
          <a:bodyPr wrap="none" lIns="0" tIns="0" rIns="0" bIns="0" rtlCol="0" anchor="ctr"/>
          <a:lstStyle/>
          <a:p>
            <a:pPr algn="l" indent="0" marL="0">
              <a:buNone/>
            </a:pPr>
            <a:r>
              <a:rPr lang="en-US" sz="1950" b="1" dirty="0">
                <a:solidFill>
                  <a:srgbClr val="E4DFD4"/>
                </a:solidFill>
                <a:latin typeface="Noto Serif KR" pitchFamily="34" charset="0"/>
                <a:ea typeface="Noto Serif KR" pitchFamily="34" charset="-122"/>
                <a:cs typeface="Noto Serif KR" pitchFamily="34" charset="-120"/>
              </a:rPr>
              <a:t>차탈회위크 발굴 현장, 튀르키예 코니아</a:t>
            </a:r>
            <a:endParaRPr lang="en-US" sz="1950" dirty="0"/>
          </a:p>
        </p:txBody>
      </p:sp>
      <p:sp>
        <p:nvSpPr>
          <p:cNvPr id="9" name="Text 4"/>
          <p:cNvSpPr txBox="1"/>
          <p:nvPr/>
        </p:nvSpPr>
        <p:spPr>
          <a:xfrm>
            <a:off x="12135002" y="9217152"/>
            <a:ext cx="5829300" cy="600761"/>
          </a:xfrm>
          <a:prstGeom prst="rect">
            <a:avLst/>
          </a:prstGeom>
          <a:noFill/>
          <a:ln/>
        </p:spPr>
        <p:txBody>
          <a:bodyPr wrap="square" lIns="0" tIns="0" rIns="0" bIns="0" rtlCol="0" anchor="ctr"/>
          <a:lstStyle/>
          <a:p>
            <a:pPr algn="l" indent="0" marL="0">
              <a:lnSpc>
                <a:spcPts val="2363"/>
              </a:lnSpc>
              <a:buNone/>
            </a:pPr>
            <a:r>
              <a:rPr lang="en-US" sz="1575" dirty="0">
                <a:solidFill>
                  <a:srgbClr val="A79E8C"/>
                </a:solidFill>
                <a:latin typeface="Noto Sans KR" pitchFamily="34" charset="0"/>
                <a:ea typeface="Noto Sans KR" pitchFamily="34" charset="-122"/>
                <a:cs typeface="Noto Sans KR" pitchFamily="34" charset="-120"/>
              </a:rPr>
              <a:t>약 9,000년간 사람이 살았던 신석기 정착지. 이언 호더가 주도한 장기 발굴 프로젝트의 현장.</a:t>
            </a:r>
            <a:endParaRPr lang="en-US" sz="1575" dirty="0"/>
          </a:p>
        </p:txBody>
      </p:sp>
      <p:sp>
        <p:nvSpPr>
          <p:cNvPr id="10" name="Text 5"/>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미술과 창작 교육에서 생성형 AI 활용 교수·학습 과정안</a:t>
            </a:r>
            <a:endParaRPr lang="en-US" sz="1800" dirty="0"/>
          </a:p>
        </p:txBody>
      </p:sp>
      <p:sp>
        <p:nvSpPr>
          <p:cNvPr id="11" name="Text 6"/>
          <p:cNvSpPr txBox="1"/>
          <p:nvPr/>
        </p:nvSpPr>
        <p:spPr>
          <a:xfrm>
            <a:off x="1143000" y="1619402"/>
            <a:ext cx="9525305" cy="324612"/>
          </a:xfrm>
          <a:prstGeom prst="rect">
            <a:avLst/>
          </a:prstGeom>
          <a:noFill/>
          <a:ln/>
        </p:spPr>
        <p:txBody>
          <a:bodyPr wrap="none" lIns="0" tIns="0" rIns="0" bIns="0" rtlCol="0" anchor="ctr"/>
          <a:lstStyle/>
          <a:p>
            <a:pPr algn="l" indent="0" marL="0">
              <a:buNone/>
            </a:pPr>
            <a:r>
              <a:rPr lang="en-US" sz="1725" spc="518" kern="0" dirty="0">
                <a:solidFill>
                  <a:srgbClr val="9C2A1F"/>
                </a:solidFill>
                <a:latin typeface="IBM Plex Mono" pitchFamily="34" charset="0"/>
                <a:ea typeface="IBM Plex Mono" pitchFamily="34" charset="-122"/>
                <a:cs typeface="IBM Plex Mono" pitchFamily="34" charset="-120"/>
              </a:rPr>
              <a:t>제 4 차시 · 120분 · 설계</a:t>
            </a:r>
            <a:endParaRPr lang="en-US" sz="1725" dirty="0"/>
          </a:p>
        </p:txBody>
      </p:sp>
      <p:sp>
        <p:nvSpPr>
          <p:cNvPr id="12" name="Text 7"/>
          <p:cNvSpPr txBox="1"/>
          <p:nvPr/>
        </p:nvSpPr>
        <p:spPr>
          <a:xfrm>
            <a:off x="1143000" y="2133295"/>
            <a:ext cx="10096805" cy="2124151"/>
          </a:xfrm>
          <a:prstGeom prst="rect">
            <a:avLst/>
          </a:prstGeom>
          <a:noFill/>
          <a:ln/>
        </p:spPr>
        <p:txBody>
          <a:bodyPr wrap="square" lIns="0" tIns="0" rIns="0" bIns="0" rtlCol="0" anchor="t"/>
          <a:lstStyle/>
          <a:p>
            <a:pPr algn="l" indent="0" marL="0">
              <a:lnSpc>
                <a:spcPct val="116000"/>
              </a:lnSpc>
              <a:buNone/>
            </a:pPr>
            <a:r>
              <a:rPr lang="en-US" sz="7200" b="1" spc="-144" kern="0" dirty="0">
                <a:solidFill>
                  <a:srgbClr val="17150F"/>
                </a:solidFill>
                <a:latin typeface="Noto Serif KR" pitchFamily="34" charset="0"/>
                <a:ea typeface="Noto Serif KR" pitchFamily="34" charset="-122"/>
                <a:cs typeface="Noto Serif KR" pitchFamily="34" charset="-120"/>
              </a:rPr>
              <a:t>유물은 어떻게</a:t>
            </a:r>
            <a:pPr algn="l" indent="0" marL="0">
              <a:lnSpc>
                <a:spcPct val="116000"/>
              </a:lnSpc>
              <a:buNone/>
            </a:pPr>
            <a:endParaRPr lang="en-US" sz="7200" dirty="0"/>
          </a:p>
          <a:p>
            <a:pPr algn="l" indent="0" marL="0">
              <a:lnSpc>
                <a:spcPct val="116000"/>
              </a:lnSpc>
              <a:buNone/>
            </a:pPr>
            <a:r>
              <a:rPr lang="en-US" sz="7200" b="1" spc="-144" kern="0" dirty="0">
                <a:solidFill>
                  <a:srgbClr val="17150F"/>
                </a:solidFill>
                <a:latin typeface="Noto Serif KR" pitchFamily="34" charset="0"/>
                <a:ea typeface="Noto Serif KR" pitchFamily="34" charset="-122"/>
                <a:cs typeface="Noto Serif KR" pitchFamily="34" charset="-120"/>
              </a:rPr>
              <a:t>만들어지는가</a:t>
            </a:r>
            <a:endParaRPr lang="en-US" sz="7200" dirty="0"/>
          </a:p>
        </p:txBody>
      </p:sp>
      <p:sp>
        <p:nvSpPr>
          <p:cNvPr id="13" name="Text 8"/>
          <p:cNvSpPr txBox="1"/>
          <p:nvPr/>
        </p:nvSpPr>
        <p:spPr>
          <a:xfrm>
            <a:off x="1143000" y="4934102"/>
            <a:ext cx="9620402" cy="1619402"/>
          </a:xfrm>
          <a:prstGeom prst="rect">
            <a:avLst/>
          </a:prstGeom>
          <a:noFill/>
          <a:ln/>
        </p:spPr>
        <p:txBody>
          <a:bodyPr wrap="square" lIns="0" tIns="0" rIns="0" bIns="0" rtlCol="0" anchor="ctr"/>
          <a:lstStyle/>
          <a:p>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유물은 발견되는 것이 아니라 </a:t>
            </a:r>
            <a:pPr algn="l" indent="0" marL="0">
              <a:lnSpc>
                <a:spcPts val="4233"/>
              </a:lnSpc>
              <a:buNone/>
            </a:pPr>
            <a:r>
              <a:rPr lang="en-US" sz="2550" b="1" dirty="0">
                <a:solidFill>
                  <a:srgbClr val="17150F"/>
                </a:solidFill>
                <a:latin typeface="Noto Serif KR" pitchFamily="34" charset="0"/>
                <a:ea typeface="Noto Serif KR" pitchFamily="34" charset="-122"/>
                <a:cs typeface="Noto Serif KR" pitchFamily="34" charset="-120"/>
              </a:rPr>
              <a:t>읽히는 것</a:t>
            </a:r>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이다. 마모의 위치, 균열의 방향, 수리의 흔적이 과거의 행위를 지시한다. 이 차시에서 여러분은 그 읽기의 문법을 익히고, </a:t>
            </a:r>
            <a:pPr algn="l" indent="0" marL="0">
              <a:lnSpc>
                <a:spcPts val="4233"/>
              </a:lnSpc>
              <a:buNone/>
            </a:pPr>
            <a:r>
              <a:rPr lang="en-US" sz="2550" b="1" dirty="0">
                <a:solidFill>
                  <a:srgbClr val="17150F"/>
                </a:solidFill>
                <a:latin typeface="Noto Serif KR" pitchFamily="34" charset="0"/>
                <a:ea typeface="Noto Serif KR" pitchFamily="34" charset="-122"/>
                <a:cs typeface="Noto Serif KR" pitchFamily="34" charset="-120"/>
              </a:rPr>
              <a:t>자기 유물을 종이 위에서 설계</a:t>
            </a:r>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한다.</a:t>
            </a:r>
            <a:endParaRPr lang="en-US" sz="2550" dirty="0"/>
          </a:p>
        </p:txBody>
      </p:sp>
      <p:sp>
        <p:nvSpPr>
          <p:cNvPr id="14" name="Shape 9"/>
          <p:cNvSpPr/>
          <p:nvPr/>
        </p:nvSpPr>
        <p:spPr>
          <a:xfrm>
            <a:off x="1143000" y="7258507"/>
            <a:ext cx="9620402" cy="1686154"/>
          </a:xfrm>
          <a:prstGeom prst="rect">
            <a:avLst/>
          </a:prstGeom>
          <a:solidFill>
            <a:srgbClr val="FFFFFF">
              <a:alpha val="42000"/>
            </a:srgbClr>
          </a:solidFill>
          <a:ln w="12700">
            <a:solidFill>
              <a:srgbClr val="BEB6A5"/>
            </a:solidFill>
            <a:prstDash val="solid"/>
          </a:ln>
        </p:spPr>
      </p:sp>
      <p:sp>
        <p:nvSpPr>
          <p:cNvPr id="15" name="Text 10"/>
          <p:cNvSpPr txBox="1"/>
          <p:nvPr/>
        </p:nvSpPr>
        <p:spPr>
          <a:xfrm>
            <a:off x="1399946" y="75245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단원</a:t>
            </a:r>
            <a:endParaRPr lang="en-US" sz="1650" dirty="0"/>
          </a:p>
        </p:txBody>
      </p:sp>
      <p:sp>
        <p:nvSpPr>
          <p:cNvPr id="16" name="Text 11"/>
          <p:cNvSpPr txBox="1"/>
          <p:nvPr/>
        </p:nvSpPr>
        <p:spPr>
          <a:xfrm>
            <a:off x="3000146" y="7477049"/>
            <a:ext cx="68205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실재한 적 없는 유물 이미지로 구성한 허구의 아카이브 전시</a:t>
            </a:r>
            <a:endParaRPr lang="en-US" sz="1875" dirty="0"/>
          </a:p>
        </p:txBody>
      </p:sp>
      <p:sp>
        <p:nvSpPr>
          <p:cNvPr id="17" name="Text 12"/>
          <p:cNvSpPr txBox="1"/>
          <p:nvPr/>
        </p:nvSpPr>
        <p:spPr>
          <a:xfrm>
            <a:off x="1399946" y="7968082"/>
            <a:ext cx="145481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 · 과목</a:t>
            </a:r>
            <a:endParaRPr lang="en-US" sz="1650" dirty="0"/>
          </a:p>
        </p:txBody>
      </p:sp>
      <p:sp>
        <p:nvSpPr>
          <p:cNvPr id="18" name="Text 13"/>
          <p:cNvSpPr txBox="1"/>
          <p:nvPr/>
        </p:nvSpPr>
        <p:spPr>
          <a:xfrm>
            <a:off x="3000146" y="7919618"/>
            <a:ext cx="48774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고등학교 1학년 · 미술 (8차시 중 4차시)</a:t>
            </a:r>
            <a:endParaRPr lang="en-US" sz="1875" dirty="0"/>
          </a:p>
        </p:txBody>
      </p:sp>
      <p:sp>
        <p:nvSpPr>
          <p:cNvPr id="19" name="Text 14"/>
          <p:cNvSpPr txBox="1"/>
          <p:nvPr/>
        </p:nvSpPr>
        <p:spPr>
          <a:xfrm>
            <a:off x="1399946" y="8410651"/>
            <a:ext cx="153710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본 차시 성격</a:t>
            </a:r>
            <a:endParaRPr lang="en-US" sz="1650" dirty="0"/>
          </a:p>
        </p:txBody>
      </p:sp>
      <p:sp>
        <p:nvSpPr>
          <p:cNvPr id="20" name="Text 15"/>
          <p:cNvSpPr txBox="1"/>
          <p:nvPr/>
        </p:nvSpPr>
        <p:spPr>
          <a:xfrm>
            <a:off x="3000146" y="8363102"/>
            <a:ext cx="81345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설계 — 손으로 그리고 쓴다. 이 차시에도 생성형 AI를 사용하지 않는다</a:t>
            </a:r>
            <a:endParaRPr lang="en-US" sz="1875" dirty="0"/>
          </a:p>
        </p:txBody>
      </p:sp>
      <p:sp>
        <p:nvSpPr>
          <p:cNvPr id="21" name="Text 16"/>
          <p:cNvSpPr txBox="1"/>
          <p:nvPr/>
        </p:nvSpPr>
        <p:spPr>
          <a:xfrm>
            <a:off x="1143000" y="9581998"/>
            <a:ext cx="962040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08 · 여러분용 수업 자료</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5a6964de565ac7af059141652be3bf5a.png">    </p:cNvPr>
          <p:cNvPicPr>
            <a:picLocks noChangeAspect="1"/>
          </p:cNvPicPr>
          <p:nvPr/>
        </p:nvPicPr>
        <p:blipFill>
          <a:blip r:embed="rId2"/>
          <a:stretch/>
        </p:blipFill>
        <p:spPr>
          <a:xfrm>
            <a:off x="1299192" y="2686507"/>
            <a:ext cx="7498421" cy="9144"/>
          </a:xfrm>
          <a:prstGeom prst="rect">
            <a:avLst/>
          </a:prstGeom>
        </p:spPr>
      </p:pic>
      <p:pic>
        <p:nvPicPr>
          <p:cNvPr id="4" name="Image 2" descr="gen-dedup-5a6964de565ac7af059141652be3bf5a.png">    </p:cNvPr>
          <p:cNvPicPr>
            <a:picLocks noChangeAspect="1"/>
          </p:cNvPicPr>
          <p:nvPr/>
        </p:nvPicPr>
        <p:blipFill>
          <a:blip r:embed="rId3"/>
          <a:stretch/>
        </p:blipFill>
        <p:spPr>
          <a:xfrm>
            <a:off x="1299192" y="6743700"/>
            <a:ext cx="7498421" cy="9144"/>
          </a:xfrm>
          <a:prstGeom prst="rect">
            <a:avLst/>
          </a:prstGeom>
        </p:spPr>
      </p:pic>
      <p:sp>
        <p:nvSpPr>
          <p:cNvPr id="5"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차시 개요 · 학습 목표</a:t>
            </a:r>
            <a:endParaRPr lang="en-US" sz="1800" dirty="0"/>
          </a:p>
        </p:txBody>
      </p:sp>
      <p:sp>
        <p:nvSpPr>
          <p:cNvPr id="6"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차시 개요</a:t>
            </a:r>
            <a:endParaRPr lang="en-US" sz="1650" dirty="0"/>
          </a:p>
        </p:txBody>
      </p:sp>
      <p:sp>
        <p:nvSpPr>
          <p:cNvPr id="7" name="Text 2"/>
          <p:cNvSpPr txBox="1"/>
          <p:nvPr/>
        </p:nvSpPr>
        <p:spPr>
          <a:xfrm>
            <a:off x="1143000" y="1466698"/>
            <a:ext cx="10478110"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물질문화·사용흔·박물관학</a:t>
            </a:r>
            <a:endParaRPr lang="en-US" sz="3750" dirty="0"/>
          </a:p>
        </p:txBody>
      </p:sp>
      <p:sp>
        <p:nvSpPr>
          <p:cNvPr id="8" name="Text 3"/>
          <p:cNvSpPr txBox="1"/>
          <p:nvPr/>
        </p:nvSpPr>
        <p:spPr>
          <a:xfrm>
            <a:off x="1143000" y="2343607"/>
            <a:ext cx="7810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학습 목표</a:t>
            </a:r>
            <a:endParaRPr lang="en-US" sz="1725" dirty="0"/>
          </a:p>
        </p:txBody>
      </p:sp>
      <p:sp>
        <p:nvSpPr>
          <p:cNvPr id="9" name="Text 4"/>
          <p:cNvSpPr txBox="1"/>
          <p:nvPr/>
        </p:nvSpPr>
        <p:spPr>
          <a:xfrm>
            <a:off x="1143000" y="2915107"/>
            <a:ext cx="7810805" cy="297180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950" dirty="0">
                <a:solidFill>
                  <a:srgbClr val="3A362C"/>
                </a:solidFill>
                <a:latin typeface="Noto Serif KR" pitchFamily="34" charset="0"/>
                <a:ea typeface="Noto Serif KR" pitchFamily="34" charset="-122"/>
                <a:cs typeface="Noto Serif KR" pitchFamily="34" charset="-120"/>
              </a:rPr>
              <a:t>사물의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사용 흔적</a:t>
            </a:r>
            <a:pPr algn="l" indent="0" marL="0">
              <a:buNone/>
            </a:pPr>
            <a:r>
              <a:rPr lang="en-US" sz="1950" dirty="0">
                <a:solidFill>
                  <a:srgbClr val="3A362C"/>
                </a:solidFill>
                <a:latin typeface="Noto Serif KR" pitchFamily="34" charset="0"/>
                <a:ea typeface="Noto Serif KR" pitchFamily="34" charset="-122"/>
                <a:cs typeface="Noto Serif KR" pitchFamily="34" charset="-120"/>
              </a:rPr>
              <a:t>이 과거의 행위를 어떻게 지시하는지 설명할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950" dirty="0">
                <a:solidFill>
                  <a:srgbClr val="3A362C"/>
                </a:solidFill>
                <a:latin typeface="Noto Serif KR" pitchFamily="34" charset="0"/>
                <a:ea typeface="Noto Serif KR" pitchFamily="34" charset="-122"/>
                <a:cs typeface="Noto Serif KR" pitchFamily="34" charset="-120"/>
              </a:rPr>
              <a:t>박물관이 사물을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명명·분류·전시</a:t>
            </a:r>
            <a:pPr algn="l" indent="0" marL="0">
              <a:buNone/>
            </a:pPr>
            <a:r>
              <a:rPr lang="en-US" sz="1950" dirty="0">
                <a:solidFill>
                  <a:srgbClr val="3A362C"/>
                </a:solidFill>
                <a:latin typeface="Noto Serif KR" pitchFamily="34" charset="0"/>
                <a:ea typeface="Noto Serif KR" pitchFamily="34" charset="-122"/>
                <a:cs typeface="Noto Serif KR" pitchFamily="34" charset="-120"/>
              </a:rPr>
              <a:t>하는 관례를 이해하고 그 서식을 활용할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950" dirty="0">
                <a:solidFill>
                  <a:srgbClr val="3A362C"/>
                </a:solidFill>
                <a:latin typeface="Noto Serif KR" pitchFamily="34" charset="0"/>
                <a:ea typeface="Noto Serif KR" pitchFamily="34" charset="-122"/>
                <a:cs typeface="Noto Serif KR" pitchFamily="34" charset="-120"/>
              </a:rPr>
              <a:t>자신이 관찰한 사안에서 출발해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논리적으로 성립하는 사물</a:t>
            </a:r>
            <a:pPr algn="l" indent="0" marL="0">
              <a:buNone/>
            </a:pPr>
            <a:r>
              <a:rPr lang="en-US" sz="1950" dirty="0">
                <a:solidFill>
                  <a:srgbClr val="3A362C"/>
                </a:solidFill>
                <a:latin typeface="Noto Serif KR" pitchFamily="34" charset="0"/>
                <a:ea typeface="Noto Serif KR" pitchFamily="34" charset="-122"/>
                <a:cs typeface="Noto Serif KR" pitchFamily="34" charset="-120"/>
              </a:rPr>
              <a:t>을 설계하고 근거를 기록할 수 있다.</a:t>
            </a:r>
            <a:endParaRPr lang="en-US" sz="1200" dirty="0"/>
          </a:p>
        </p:txBody>
      </p:sp>
      <p:sp>
        <p:nvSpPr>
          <p:cNvPr id="10" name="Text 5"/>
          <p:cNvSpPr txBox="1"/>
          <p:nvPr/>
        </p:nvSpPr>
        <p:spPr>
          <a:xfrm>
            <a:off x="1143000" y="6400800"/>
            <a:ext cx="7810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본 차시 핵심 질문</a:t>
            </a:r>
            <a:endParaRPr lang="en-US" sz="1725" dirty="0"/>
          </a:p>
        </p:txBody>
      </p:sp>
      <p:sp>
        <p:nvSpPr>
          <p:cNvPr id="11" name="Text 6"/>
          <p:cNvSpPr txBox="1"/>
          <p:nvPr/>
        </p:nvSpPr>
        <p:spPr>
          <a:xfrm>
            <a:off x="1410005" y="7067398"/>
            <a:ext cx="7543800" cy="952805"/>
          </a:xfrm>
          <a:prstGeom prst="rect">
            <a:avLst/>
          </a:prstGeom>
          <a:noFill/>
          <a:ln/>
        </p:spPr>
        <p:txBody>
          <a:bodyPr wrap="square" lIns="0" tIns="0" rIns="0" bIns="0" rtlCol="0" anchor="ctr"/>
          <a:lstStyle/>
          <a:p>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이 사물이 실제로 존재했다면, 어떤 흔적이 반드시 남아 있어야 하는가.</a:t>
            </a:r>
            <a:endParaRPr lang="en-US" sz="2400" dirty="0"/>
          </a:p>
        </p:txBody>
      </p:sp>
      <p:sp>
        <p:nvSpPr>
          <p:cNvPr id="12" name="Text 7"/>
          <p:cNvSpPr txBox="1"/>
          <p:nvPr/>
        </p:nvSpPr>
        <p:spPr>
          <a:xfrm>
            <a:off x="1143000" y="8305495"/>
            <a:ext cx="7810805"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이 질문이 5차시 프롬프트의 문장이 되고, 6차시 점검의 기준이 된다.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설계가 부실하면 이미지도 부실하다.</a:t>
            </a:r>
            <a:endParaRPr lang="en-US" sz="1950" dirty="0"/>
          </a:p>
        </p:txBody>
      </p:sp>
      <p:sp>
        <p:nvSpPr>
          <p:cNvPr id="21" name="Text 14"/>
          <p:cNvSpPr txBox="1"/>
          <p:nvPr/>
        </p:nvSpPr>
        <p:spPr>
          <a:xfrm>
            <a:off x="11572646" y="2638044"/>
            <a:ext cx="56199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학습지 4, 연필·지우개·자, 3차시 학습지 1·4면</a:t>
            </a:r>
            <a:endParaRPr lang="en-US" sz="18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수업 운영 · 120분 시간 배분</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운영표</a:t>
            </a:r>
            <a:endParaRPr lang="en-US" sz="1650" dirty="0"/>
          </a:p>
        </p:txBody>
      </p:sp>
      <p:sp>
        <p:nvSpPr>
          <p:cNvPr id="5" name="Text 2"/>
          <p:cNvSpPr txBox="1"/>
          <p:nvPr/>
        </p:nvSpPr>
        <p:spPr>
          <a:xfrm>
            <a:off x="1143000" y="1447495"/>
            <a:ext cx="11430000" cy="486461"/>
          </a:xfrm>
          <a:prstGeom prst="rect">
            <a:avLst/>
          </a:prstGeom>
          <a:noFill/>
          <a:ln/>
        </p:spPr>
        <p:txBody>
          <a:bodyPr wrap="none" lIns="0" tIns="0" rIns="0" bIns="0" rtlCol="0" anchor="ctr"/>
          <a:lstStyle/>
          <a:p>
            <a:pPr algn="l" indent="0" marL="0">
              <a:buNone/>
            </a:pPr>
            <a:r>
              <a:rPr lang="en-US" sz="2850" b="1" spc="-29" kern="0" dirty="0">
                <a:solidFill>
                  <a:srgbClr val="17150F"/>
                </a:solidFill>
                <a:latin typeface="Noto Serif KR" pitchFamily="34" charset="0"/>
                <a:ea typeface="Noto Serif KR" pitchFamily="34" charset="-122"/>
                <a:cs typeface="Noto Serif KR" pitchFamily="34" charset="-120"/>
              </a:rPr>
              <a:t>읽는 법을 배우고, 쓰는 법을 익힌다</a:t>
            </a:r>
            <a:endParaRPr lang="en-US" sz="2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 y="2247595"/>
          <a:ext cx="16002000" cy="7086600"/>
        </p:xfrm>
        <a:graphic>
          <a:graphicData uri="http://schemas.openxmlformats.org/drawingml/2006/table">
            <a:tbl>
              <a:tblPr/>
              <a:tblGrid>
                <a:gridCol w="1429207"/>
                <a:gridCol w="2190902"/>
                <a:gridCol w="5333695"/>
                <a:gridCol w="7048195"/>
              </a:tblGrid>
              <a:tr h="787400">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시간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단계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수업 내용</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여러분이 하는 일</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00–10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도입</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3차시 회상 → 교실 사물 하나를 들고 “이것은 몇 년 뒤 무엇으로 읽힐까” 발문</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모둠별 사안 공유(3차시 과제)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10–30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1</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물질문화</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호더의 해석고고학 — 사물에 의미를 되돌린 전환, 얽힘 개념</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4 ① — 사물의 생애 단계 적기</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30–55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2</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사용흔 분석</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쉬퍼의 행위연쇄 → 마모·광택·잔존물·수리의 네 지표 실습 해설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1 — 실제 사물의 흔적 읽기</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55–70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3</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쓰레기 고고학</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래스지의 투손 쓰레기 프로젝트 — 진술과 실제의 차이</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4 ② — 내 하루의 폐기물 목록</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70–85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4</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박물관학</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베넷의 전시복합체 · 명명 관례 · 박물관화의 이득과 손실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2 — 명명 규칙으로 이름 짓기</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85–95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5</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인류세 유물</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파글렌 「최후의 사진들」, 핵폐기물 표지 설계 — 미래 수신자 문제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구두 응답</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95–115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6</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설계 실습</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설계 카드 8항목 안내, 순회 지도, 성립 여부 점검</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유물 설계 카드 작성 + 흔적 스케치</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74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115–120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정리</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5차시 예고 및 AI 사용 범위 사전 안내</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카드 제출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9430207"/>
            <a:ext cx="16002000" cy="1057046"/>
          </a:xfrm>
          <a:prstGeom prst="rect">
            <a:avLst/>
          </a:prstGeom>
          <a:solidFill>
            <a:srgbClr val="9C2A1F">
              <a:alpha val="6000"/>
            </a:srgbClr>
          </a:solidFill>
          <a:ln w="12700">
            <a:solidFill>
              <a:srgbClr val="9C2A1F"/>
            </a:solidFill>
            <a:prstDash val="solid"/>
          </a:ln>
        </p:spPr>
      </p:sp>
      <p:sp>
        <p:nvSpPr>
          <p:cNvPr id="8" name="Text 4"/>
          <p:cNvSpPr txBox="1"/>
          <p:nvPr/>
        </p:nvSpPr>
        <p:spPr>
          <a:xfrm>
            <a:off x="1419149" y="9572854"/>
            <a:ext cx="15449702"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운영 유의</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전개 6이 이 차시의 핵심이다. 앞의 이론은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설계 카드를 채우기 위한 도구</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로만 제시하고, 각 절 끝에서 “이것이 카드의 어느 칸에 쓰이는가”를 반드시 지목한다. 카드가 완성되지 않으면 5차시 생성 작업이 불가능하다.</a:t>
            </a:r>
            <a:endParaRPr lang="en-US" sz="17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ae399c60c7ffac3da7a6aca6603525.png">    </p:cNvPr>
          <p:cNvPicPr>
            <a:picLocks noChangeAspect="1"/>
          </p:cNvPicPr>
          <p:nvPr/>
        </p:nvPicPr>
        <p:blipFill>
          <a:blip r:embed="rId2"/>
          <a:stretch/>
        </p:blipFill>
        <p:spPr>
          <a:xfrm>
            <a:off x="1462991" y="6724498"/>
            <a:ext cx="15362018" cy="9144"/>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도입 · 00–05분 · 3차시 회상</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도입</a:t>
            </a:r>
            <a:endParaRPr lang="en-US" sz="1650" dirty="0"/>
          </a:p>
        </p:txBody>
      </p:sp>
      <p:sp>
        <p:nvSpPr>
          <p:cNvPr id="6" name="Text 2"/>
          <p:cNvSpPr txBox="1"/>
          <p:nvPr/>
        </p:nvSpPr>
        <p:spPr>
          <a:xfrm>
            <a:off x="1143000" y="1505102"/>
            <a:ext cx="12382805"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지금까지 확정된 세 가지 규칙</a:t>
            </a:r>
            <a:endParaRPr lang="en-US" sz="3750" dirty="0"/>
          </a:p>
        </p:txBody>
      </p:sp>
      <p:sp>
        <p:nvSpPr>
          <p:cNvPr id="7" name="Shape 3"/>
          <p:cNvSpPr/>
          <p:nvPr/>
        </p:nvSpPr>
        <p:spPr>
          <a:xfrm>
            <a:off x="1143000" y="2495398"/>
            <a:ext cx="4953305" cy="3467405"/>
          </a:xfrm>
          <a:prstGeom prst="rect">
            <a:avLst/>
          </a:prstGeom>
          <a:solidFill>
            <a:srgbClr val="FFFFFF">
              <a:alpha val="36000"/>
            </a:srgbClr>
          </a:solidFill>
          <a:ln w="12700">
            <a:solidFill>
              <a:srgbClr val="BEB6A5"/>
            </a:solidFill>
            <a:prstDash val="solid"/>
          </a:ln>
        </p:spPr>
      </p:sp>
      <p:sp>
        <p:nvSpPr>
          <p:cNvPr id="8" name="Text 4"/>
          <p:cNvSpPr txBox="1"/>
          <p:nvPr/>
        </p:nvSpPr>
        <p:spPr>
          <a:xfrm>
            <a:off x="1438351"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규칙 ① — 형식</a:t>
            </a:r>
            <a:endParaRPr lang="en-US" sz="1575" dirty="0"/>
          </a:p>
        </p:txBody>
      </p:sp>
      <p:sp>
        <p:nvSpPr>
          <p:cNvPr id="9" name="Text 5"/>
          <p:cNvSpPr txBox="1"/>
          <p:nvPr/>
        </p:nvSpPr>
        <p:spPr>
          <a:xfrm>
            <a:off x="1438351" y="3209544"/>
            <a:ext cx="4362602" cy="886054"/>
          </a:xfrm>
          <a:prstGeom prst="rect">
            <a:avLst/>
          </a:prstGeom>
          <a:noFill/>
          <a:ln/>
        </p:spPr>
        <p:txBody>
          <a:bodyPr wrap="square" lIns="0" tIns="0" rIns="0" bIns="0" rtlCol="0" anchor="ctr"/>
          <a:lstStyle/>
          <a:p>
            <a:pPr algn="l" indent="0" marL="0">
              <a:lnSpc>
                <a:spcPts val="3488"/>
              </a:lnSpc>
              <a:buNone/>
            </a:pPr>
            <a:r>
              <a:rPr lang="en-US" sz="2325" b="1" dirty="0">
                <a:solidFill>
                  <a:srgbClr val="17150F"/>
                </a:solidFill>
                <a:latin typeface="Noto Serif KR" pitchFamily="34" charset="0"/>
                <a:ea typeface="Noto Serif KR" pitchFamily="34" charset="-122"/>
                <a:cs typeface="Noto Serif KR" pitchFamily="34" charset="-120"/>
              </a:rPr>
              <a:t>아카이브의 서식을 빌리고 허구임을 밝힌다</a:t>
            </a:r>
            <a:endParaRPr lang="en-US" sz="2325" dirty="0"/>
          </a:p>
        </p:txBody>
      </p:sp>
      <p:pic>
        <p:nvPicPr>
          <p:cNvPr id="10" name="Image 2" descr="gen-dedup-c7a4a275c58de975e74b352e841477a3.png">    </p:cNvPr>
          <p:cNvPicPr>
            <a:picLocks noChangeAspect="1"/>
          </p:cNvPicPr>
          <p:nvPr/>
        </p:nvPicPr>
        <p:blipFill>
          <a:blip r:embed="rId3"/>
          <a:stretch/>
        </p:blipFill>
        <p:spPr>
          <a:xfrm>
            <a:off x="1525590" y="4286707"/>
            <a:ext cx="4188125" cy="9144"/>
          </a:xfrm>
          <a:prstGeom prst="rect">
            <a:avLst/>
          </a:prstGeom>
        </p:spPr>
      </p:pic>
      <p:sp>
        <p:nvSpPr>
          <p:cNvPr id="11" name="Text 6"/>
          <p:cNvSpPr txBox="1"/>
          <p:nvPr/>
        </p:nvSpPr>
        <p:spPr>
          <a:xfrm>
            <a:off x="1438351" y="4486046"/>
            <a:ext cx="43626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2차시 결론 — 유물번호·명제표·출처 기록이 신뢰를 만든다. 우리는 그 장치를 쓰되 마지막 줄에서 스스로 해제한다.</a:t>
            </a:r>
            <a:endParaRPr lang="en-US" sz="1800" dirty="0"/>
          </a:p>
        </p:txBody>
      </p:sp>
      <p:sp>
        <p:nvSpPr>
          <p:cNvPr id="12" name="Shape 7"/>
          <p:cNvSpPr/>
          <p:nvPr/>
        </p:nvSpPr>
        <p:spPr>
          <a:xfrm>
            <a:off x="6667805" y="2495398"/>
            <a:ext cx="4953305" cy="3066898"/>
          </a:xfrm>
          <a:prstGeom prst="rect">
            <a:avLst/>
          </a:prstGeom>
          <a:solidFill>
            <a:srgbClr val="FFFFFF">
              <a:alpha val="36000"/>
            </a:srgbClr>
          </a:solidFill>
          <a:ln w="12700">
            <a:solidFill>
              <a:srgbClr val="BEB6A5"/>
            </a:solidFill>
            <a:prstDash val="solid"/>
          </a:ln>
        </p:spPr>
      </p:sp>
      <p:sp>
        <p:nvSpPr>
          <p:cNvPr id="13" name="Text 8"/>
          <p:cNvSpPr txBox="1"/>
          <p:nvPr/>
        </p:nvSpPr>
        <p:spPr>
          <a:xfrm>
            <a:off x="6963156"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규칙 ② — 대상</a:t>
            </a:r>
            <a:endParaRPr lang="en-US" sz="1575" dirty="0"/>
          </a:p>
        </p:txBody>
      </p:sp>
      <p:sp>
        <p:nvSpPr>
          <p:cNvPr id="14" name="Text 9"/>
          <p:cNvSpPr txBox="1"/>
          <p:nvPr/>
        </p:nvSpPr>
        <p:spPr>
          <a:xfrm>
            <a:off x="6963156" y="3209544"/>
            <a:ext cx="4362602" cy="886054"/>
          </a:xfrm>
          <a:prstGeom prst="rect">
            <a:avLst/>
          </a:prstGeom>
          <a:noFill/>
          <a:ln/>
        </p:spPr>
        <p:txBody>
          <a:bodyPr wrap="square" lIns="0" tIns="0" rIns="0" bIns="0" rtlCol="0" anchor="ctr"/>
          <a:lstStyle/>
          <a:p>
            <a:pPr algn="l" indent="0" marL="0">
              <a:lnSpc>
                <a:spcPts val="3488"/>
              </a:lnSpc>
              <a:buNone/>
            </a:pPr>
            <a:r>
              <a:rPr lang="en-US" sz="2325" b="1" dirty="0">
                <a:solidFill>
                  <a:srgbClr val="17150F"/>
                </a:solidFill>
                <a:latin typeface="Noto Serif KR" pitchFamily="34" charset="0"/>
                <a:ea typeface="Noto Serif KR" pitchFamily="34" charset="-122"/>
                <a:cs typeface="Noto Serif KR" pitchFamily="34" charset="-120"/>
              </a:rPr>
              <a:t>사람을 만들지 않고 사람이 남긴 것을 만든다</a:t>
            </a:r>
            <a:endParaRPr lang="en-US" sz="2325" dirty="0"/>
          </a:p>
        </p:txBody>
      </p:sp>
      <p:pic>
        <p:nvPicPr>
          <p:cNvPr id="15" name="Image 3" descr="gen-dedup-c7a4a275c58de975e74b352e841477a3.png">    </p:cNvPr>
          <p:cNvPicPr>
            <a:picLocks noChangeAspect="1"/>
          </p:cNvPicPr>
          <p:nvPr/>
        </p:nvPicPr>
        <p:blipFill>
          <a:blip r:embed="rId4"/>
          <a:stretch/>
        </p:blipFill>
        <p:spPr>
          <a:xfrm>
            <a:off x="7050395" y="4286707"/>
            <a:ext cx="4188125" cy="9144"/>
          </a:xfrm>
          <a:prstGeom prst="rect">
            <a:avLst/>
          </a:prstGeom>
        </p:spPr>
      </p:pic>
      <p:sp>
        <p:nvSpPr>
          <p:cNvPr id="16" name="Text 10"/>
          <p:cNvSpPr txBox="1"/>
          <p:nvPr/>
        </p:nvSpPr>
        <p:spPr>
          <a:xfrm>
            <a:off x="6963156" y="4486046"/>
            <a:ext cx="43626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3차시 결론 — 자·살세도·포렌식 아키텍처. 부재를 정확하게 놓을수록 존재가 커진다.</a:t>
            </a:r>
            <a:endParaRPr lang="en-US" sz="1800" dirty="0"/>
          </a:p>
        </p:txBody>
      </p:sp>
      <p:sp>
        <p:nvSpPr>
          <p:cNvPr id="17" name="Shape 11"/>
          <p:cNvSpPr/>
          <p:nvPr/>
        </p:nvSpPr>
        <p:spPr>
          <a:xfrm>
            <a:off x="12191695" y="2495398"/>
            <a:ext cx="4953305" cy="2628900"/>
          </a:xfrm>
          <a:prstGeom prst="rect">
            <a:avLst/>
          </a:prstGeom>
          <a:solidFill>
            <a:srgbClr val="FFFFFF">
              <a:alpha val="36000"/>
            </a:srgbClr>
          </a:solidFill>
          <a:ln w="12700">
            <a:solidFill>
              <a:srgbClr val="BEB6A5"/>
            </a:solidFill>
            <a:prstDash val="solid"/>
          </a:ln>
        </p:spPr>
      </p:sp>
      <p:sp>
        <p:nvSpPr>
          <p:cNvPr id="18" name="Text 12"/>
          <p:cNvSpPr txBox="1"/>
          <p:nvPr/>
        </p:nvSpPr>
        <p:spPr>
          <a:xfrm>
            <a:off x="12487046"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규칙 ③ — 범위</a:t>
            </a:r>
            <a:endParaRPr lang="en-US" sz="1575" dirty="0"/>
          </a:p>
        </p:txBody>
      </p:sp>
      <p:sp>
        <p:nvSpPr>
          <p:cNvPr id="19" name="Text 13"/>
          <p:cNvSpPr txBox="1"/>
          <p:nvPr/>
        </p:nvSpPr>
        <p:spPr>
          <a:xfrm>
            <a:off x="12487046" y="3209544"/>
            <a:ext cx="4362602" cy="448056"/>
          </a:xfrm>
          <a:prstGeom prst="rect">
            <a:avLst/>
          </a:prstGeom>
          <a:noFill/>
          <a:ln/>
        </p:spPr>
        <p:txBody>
          <a:bodyPr wrap="none" lIns="0" tIns="0" rIns="0" bIns="0" rtlCol="0" anchor="ctr"/>
          <a:lstStyle/>
          <a:p>
            <a:pPr algn="l" indent="0" marL="0">
              <a:buNone/>
            </a:pPr>
            <a:r>
              <a:rPr lang="en-US" sz="2325" b="1" dirty="0">
                <a:solidFill>
                  <a:srgbClr val="17150F"/>
                </a:solidFill>
                <a:latin typeface="Noto Serif KR" pitchFamily="34" charset="0"/>
                <a:ea typeface="Noto Serif KR" pitchFamily="34" charset="-122"/>
                <a:cs typeface="Noto Serif KR" pitchFamily="34" charset="-120"/>
              </a:rPr>
              <a:t>직접 관찰한 것에서만 출발한다</a:t>
            </a:r>
            <a:endParaRPr lang="en-US" sz="2325" dirty="0"/>
          </a:p>
        </p:txBody>
      </p:sp>
      <p:pic>
        <p:nvPicPr>
          <p:cNvPr id="20" name="Image 4" descr="gen-dedup-c7a4a275c58de975e74b352e841477a3.png">    </p:cNvPr>
          <p:cNvPicPr>
            <a:picLocks noChangeAspect="1"/>
          </p:cNvPicPr>
          <p:nvPr/>
        </p:nvPicPr>
        <p:blipFill>
          <a:blip r:embed="rId5"/>
          <a:stretch/>
        </p:blipFill>
        <p:spPr>
          <a:xfrm>
            <a:off x="12574285" y="3843223"/>
            <a:ext cx="4188125" cy="9144"/>
          </a:xfrm>
          <a:prstGeom prst="rect">
            <a:avLst/>
          </a:prstGeom>
        </p:spPr>
      </p:pic>
      <p:sp>
        <p:nvSpPr>
          <p:cNvPr id="21" name="Text 14"/>
          <p:cNvSpPr txBox="1"/>
          <p:nvPr/>
        </p:nvSpPr>
        <p:spPr>
          <a:xfrm>
            <a:off x="12487046" y="4043477"/>
            <a:ext cx="43626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3차시 결론 — 케스터의 기준. 관찰하지 않은 타인의 고통을 소재로 쓰지 않는다.</a:t>
            </a:r>
            <a:endParaRPr lang="en-US" sz="1800" dirty="0"/>
          </a:p>
        </p:txBody>
      </p:sp>
      <p:sp>
        <p:nvSpPr>
          <p:cNvPr id="22" name="Text 15"/>
          <p:cNvSpPr txBox="1"/>
          <p:nvPr/>
        </p:nvSpPr>
        <p:spPr>
          <a:xfrm>
            <a:off x="1143000" y="7067398"/>
            <a:ext cx="16002000" cy="324612"/>
          </a:xfrm>
          <a:prstGeom prst="rect">
            <a:avLst/>
          </a:prstGeom>
          <a:noFill/>
          <a:ln/>
        </p:spPr>
        <p:txBody>
          <a:bodyPr wrap="none" lIns="0" tIns="0" rIns="0" bIns="0" rtlCol="0" anchor="ctr"/>
          <a:lstStyle/>
          <a:p>
            <a:pPr algn="l" indent="0" marL="0">
              <a:buNone/>
            </a:pPr>
            <a:r>
              <a:rPr lang="en-US" sz="1725" spc="587" kern="0" dirty="0">
                <a:solidFill>
                  <a:srgbClr val="6B6456"/>
                </a:solidFill>
                <a:latin typeface="Noto Sans KR" pitchFamily="34" charset="0"/>
                <a:ea typeface="Noto Sans KR" pitchFamily="34" charset="-122"/>
                <a:cs typeface="Noto Sans KR" pitchFamily="34" charset="-120"/>
              </a:rPr>
              <a:t>이제 남은 문제 — 기술의 문제</a:t>
            </a:r>
            <a:endParaRPr lang="en-US" sz="1725" dirty="0"/>
          </a:p>
        </p:txBody>
      </p:sp>
      <p:sp>
        <p:nvSpPr>
          <p:cNvPr id="23" name="Text 16"/>
          <p:cNvSpPr txBox="1"/>
          <p:nvPr/>
        </p:nvSpPr>
        <p:spPr>
          <a:xfrm>
            <a:off x="1410005" y="7677302"/>
            <a:ext cx="15735910" cy="571500"/>
          </a:xfrm>
          <a:prstGeom prst="rect">
            <a:avLst/>
          </a:prstGeom>
          <a:noFill/>
          <a:ln/>
        </p:spPr>
        <p:txBody>
          <a:bodyPr wrap="none" lIns="0" tIns="0" rIns="0" bIns="0" rtlCol="0" anchor="ctr"/>
          <a:lstStyle/>
          <a:p>
            <a:pPr algn="l" indent="0" marL="0">
              <a:buNone/>
            </a:pPr>
            <a:r>
              <a:rPr lang="en-US" sz="3000" b="1" dirty="0">
                <a:solidFill>
                  <a:srgbClr val="17150F"/>
                </a:solidFill>
                <a:latin typeface="Noto Serif KR" pitchFamily="34" charset="0"/>
                <a:ea typeface="Noto Serif KR" pitchFamily="34" charset="-122"/>
                <a:cs typeface="Noto Serif KR" pitchFamily="34" charset="-120"/>
              </a:rPr>
              <a:t>사물의 흔적을 설계하려면, 먼저 </a:t>
            </a:r>
            <a:pPr algn="l" indent="0" marL="0">
              <a:buNone/>
            </a:pPr>
            <a:r>
              <a:rPr lang="en-US" sz="3000" b="1" dirty="0">
                <a:solidFill>
                  <a:srgbClr val="9C2A1F"/>
                </a:solidFill>
                <a:latin typeface="Noto Serif KR" pitchFamily="34" charset="0"/>
                <a:ea typeface="Noto Serif KR" pitchFamily="34" charset="-122"/>
                <a:cs typeface="Noto Serif KR" pitchFamily="34" charset="-120"/>
              </a:rPr>
              <a:t>흔적이 어떻게 생기는지</a:t>
            </a:r>
            <a:pPr algn="l" indent="0" marL="0">
              <a:buNone/>
            </a:pPr>
            <a:r>
              <a:rPr lang="en-US" sz="3000" b="1" dirty="0">
                <a:solidFill>
                  <a:srgbClr val="17150F"/>
                </a:solidFill>
                <a:latin typeface="Noto Serif KR" pitchFamily="34" charset="0"/>
                <a:ea typeface="Noto Serif KR" pitchFamily="34" charset="-122"/>
                <a:cs typeface="Noto Serif KR" pitchFamily="34" charset="-120"/>
              </a:rPr>
              <a:t>를 알아야 한다.</a:t>
            </a:r>
            <a:endParaRPr lang="en-US" sz="3000" dirty="0"/>
          </a:p>
        </p:txBody>
      </p:sp>
      <p:sp>
        <p:nvSpPr>
          <p:cNvPr id="24" name="Text 17"/>
          <p:cNvSpPr txBox="1"/>
          <p:nvPr/>
        </p:nvSpPr>
        <p:spPr>
          <a:xfrm>
            <a:off x="1143000" y="8915400"/>
            <a:ext cx="16002000"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오늘 배우는 것은 미술사가 아니라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고고학과 박물관학의 방법</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이다. 마모는 왜 한쪽에만 생기는가, 수리 흔적은 무엇을 증명하는가, 박물관은 사물의 이름을 어떤 순서로 붙이는가. 이 지식이 없으면 여러분의 유물은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그럴듯해지지 않는다</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a:t>
            </a:r>
            <a:endParaRPr lang="en-US" sz="1950" dirty="0"/>
          </a:p>
        </p:txBody>
      </p:sp>
      <p:sp>
        <p:nvSpPr>
          <p:cNvPr id="25" name="Text 18"/>
          <p:cNvSpPr txBox="1"/>
          <p:nvPr/>
        </p:nvSpPr>
        <p:spPr>
          <a:xfrm>
            <a:off x="1143000" y="9810598"/>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도입 — 3차시 회상</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0477195" y="0"/>
            <a:ext cx="7810805" cy="10287000"/>
          </a:xfrm>
          <a:prstGeom prst="rect">
            <a:avLst/>
          </a:prstGeom>
          <a:solidFill>
            <a:srgbClr val="C9C3B6">
              <a:alpha val="32000"/>
            </a:srgbClr>
          </a:solidFill>
          <a:ln w="12700">
            <a:solidFill>
              <a:srgbClr val="FFFFFF">
                <a:alpha val="0"/>
              </a:srgbClr>
            </a:solidFill>
            <a:prstDash val="solid"/>
          </a:ln>
        </p:spPr>
      </p:sp>
      <p:pic>
        <p:nvPicPr>
          <p:cNvPr id="3" name="Image 0" descr="gen-dedup-db6b01820731c4d100ced49f3f7c6e50.jpg">    </p:cNvPr>
          <p:cNvPicPr>
            <a:picLocks noChangeAspect="1"/>
          </p:cNvPicPr>
          <p:nvPr/>
        </p:nvPicPr>
        <p:blipFill>
          <a:blip r:embed="rId1">
            <a:alphaModFix amt="88000"/>
          </a:blip>
          <a:stretch>
            <a:fillRect/>
          </a:stretch>
        </p:blipFill>
        <p:spPr>
          <a:xfrm>
            <a:off x="10477195" y="0"/>
            <a:ext cx="7810805" cy="10287401"/>
          </a:xfrm>
          <a:prstGeom prst="rect">
            <a:avLst/>
          </a:prstGeom>
        </p:spPr>
      </p:pic>
      <p:pic>
        <p:nvPicPr>
          <p:cNvPr id="4" name="Image 1" descr="gen-dedup-6187a04fc195973f1de74ddea1c93881.png">    </p:cNvPr>
          <p:cNvPicPr>
            <a:picLocks noChangeAspect="1"/>
          </p:cNvPicPr>
          <p:nvPr/>
        </p:nvPicPr>
        <p:blipFill>
          <a:blip r:embed="rId2"/>
          <a:stretch/>
        </p:blipFill>
        <p:spPr>
          <a:xfrm>
            <a:off x="10477351" y="0"/>
            <a:ext cx="7810493" cy="10287000"/>
          </a:xfrm>
          <a:prstGeom prst="rect">
            <a:avLst/>
          </a:prstGeom>
        </p:spPr>
      </p:pic>
      <p:pic>
        <p:nvPicPr>
          <p:cNvPr id="5" name="Image 2" descr="gen-dedup-2041c53fac86095fc9a3284b1f8d8821.png">    </p:cNvPr>
          <p:cNvPicPr>
            <a:picLocks noChangeAspect="1"/>
          </p:cNvPicPr>
          <p:nvPr/>
        </p:nvPicPr>
        <p:blipFill>
          <a:blip r:embed="rId3"/>
          <a:stretch/>
        </p:blipFill>
        <p:spPr>
          <a:xfrm>
            <a:off x="1325852" y="1238098"/>
            <a:ext cx="8778296" cy="9144"/>
          </a:xfrm>
          <a:prstGeom prst="rect">
            <a:avLst/>
          </a:prstGeom>
        </p:spPr>
      </p:pic>
      <p:pic>
        <p:nvPicPr>
          <p:cNvPr id="6" name="Image 3" descr="gen-dedup-060c963b6028becb1b609ed65e77aa9f.png">    </p:cNvPr>
          <p:cNvPicPr>
            <a:picLocks noChangeAspect="1"/>
          </p:cNvPicPr>
          <p:nvPr/>
        </p:nvPicPr>
        <p:blipFill>
          <a:blip r:embed="rId4"/>
          <a:stretch/>
        </p:blipFill>
        <p:spPr>
          <a:xfrm>
            <a:off x="1143000" y="6019647"/>
            <a:ext cx="1257300" cy="38100"/>
          </a:xfrm>
          <a:prstGeom prst="rect">
            <a:avLst/>
          </a:prstGeom>
        </p:spPr>
      </p:pic>
      <p:sp>
        <p:nvSpPr>
          <p:cNvPr id="7" name="Text 1"/>
          <p:cNvSpPr txBox="1"/>
          <p:nvPr/>
        </p:nvSpPr>
        <p:spPr>
          <a:xfrm>
            <a:off x="1143000" y="800100"/>
            <a:ext cx="9144000"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도입 발문 · 05–10분</a:t>
            </a:r>
            <a:endParaRPr lang="en-US" sz="1800" dirty="0"/>
          </a:p>
        </p:txBody>
      </p:sp>
      <p:sp>
        <p:nvSpPr>
          <p:cNvPr id="8" name="Text 2"/>
          <p:cNvSpPr txBox="1"/>
          <p:nvPr/>
        </p:nvSpPr>
        <p:spPr>
          <a:xfrm>
            <a:off x="1143000" y="1904695"/>
            <a:ext cx="9525305" cy="324612"/>
          </a:xfrm>
          <a:prstGeom prst="rect">
            <a:avLst/>
          </a:prstGeom>
          <a:noFill/>
          <a:ln/>
        </p:spPr>
        <p:txBody>
          <a:bodyPr wrap="none" lIns="0" tIns="0" rIns="0" bIns="0" rtlCol="0" anchor="ctr"/>
          <a:lstStyle/>
          <a:p>
            <a:pPr algn="l" indent="0" marL="0">
              <a:buNone/>
            </a:pPr>
            <a:r>
              <a:rPr lang="en-US" sz="1725" spc="483" kern="0" dirty="0">
                <a:solidFill>
                  <a:srgbClr val="C0533F"/>
                </a:solidFill>
                <a:latin typeface="IBM Plex Mono" pitchFamily="34" charset="0"/>
                <a:ea typeface="IBM Plex Mono" pitchFamily="34" charset="-122"/>
                <a:cs typeface="IBM Plex Mono" pitchFamily="34" charset="-120"/>
              </a:rPr>
              <a:t>시연 — 교실 사물 하나를 실제로 들고 진행</a:t>
            </a:r>
            <a:endParaRPr lang="en-US" sz="1725" dirty="0"/>
          </a:p>
        </p:txBody>
      </p:sp>
      <p:sp>
        <p:nvSpPr>
          <p:cNvPr id="9" name="Text 3"/>
          <p:cNvSpPr txBox="1"/>
          <p:nvPr/>
        </p:nvSpPr>
        <p:spPr>
          <a:xfrm>
            <a:off x="1143000" y="2495398"/>
            <a:ext cx="9144000" cy="2248510"/>
          </a:xfrm>
          <a:prstGeom prst="rect">
            <a:avLst/>
          </a:prstGeom>
          <a:noFill/>
          <a:ln/>
        </p:spPr>
        <p:txBody>
          <a:bodyPr wrap="square" lIns="0" tIns="0" rIns="0" bIns="0" rtlCol="0" anchor="ctr"/>
          <a:lstStyle/>
          <a:p>
            <a:pPr algn="l" indent="0" marL="0">
              <a:lnSpc>
                <a:spcPts val="5880"/>
              </a:lnSpc>
              <a:buNone/>
            </a:pPr>
            <a:r>
              <a:rPr lang="en-US" sz="4200" b="1" spc="-84" kern="0" dirty="0">
                <a:solidFill>
                  <a:srgbClr val="E4DFD4"/>
                </a:solidFill>
                <a:latin typeface="Noto Serif KR" pitchFamily="34" charset="0"/>
                <a:ea typeface="Noto Serif KR" pitchFamily="34" charset="-122"/>
                <a:cs typeface="Noto Serif KR" pitchFamily="34" charset="-120"/>
              </a:rPr>
              <a:t>이 교실 문의 손잡이를 300년 뒤에 누가 발굴합니다. 그 사람은 이 손잡이를 보고 무엇을 알아낼 수 있습니까.</a:t>
            </a:r>
            <a:endParaRPr lang="en-US" sz="4200" dirty="0"/>
          </a:p>
        </p:txBody>
      </p:sp>
      <p:sp>
        <p:nvSpPr>
          <p:cNvPr id="10" name="Text 4"/>
          <p:cNvSpPr txBox="1"/>
          <p:nvPr/>
        </p:nvSpPr>
        <p:spPr>
          <a:xfrm>
            <a:off x="1143000" y="6439205"/>
            <a:ext cx="89538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유도할 응답 — 흔적에서 행위로</a:t>
            </a:r>
            <a:endParaRPr lang="en-US" sz="1650" dirty="0"/>
          </a:p>
        </p:txBody>
      </p:sp>
      <p:sp>
        <p:nvSpPr>
          <p:cNvPr id="11" name="Text 5"/>
          <p:cNvSpPr txBox="1"/>
          <p:nvPr/>
        </p:nvSpPr>
        <p:spPr>
          <a:xfrm>
            <a:off x="1143000" y="6858000"/>
            <a:ext cx="8953805" cy="2046427"/>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1</a:t>
            </a:r>
            <a:pPr algn="l" indent="0" marL="0">
              <a:buNone/>
            </a:pPr>
            <a:r>
              <a:rPr lang="en-US" sz="1950" dirty="0">
                <a:solidFill>
                  <a:srgbClr val="A79E8C"/>
                </a:solidFill>
                <a:latin typeface="Noto Serif KR" pitchFamily="34" charset="0"/>
                <a:ea typeface="Noto Serif KR" pitchFamily="34" charset="-122"/>
                <a:cs typeface="Noto Serif KR" pitchFamily="34" charset="-120"/>
              </a:rPr>
              <a:t>닳은 </a:t>
            </a:r>
            <a:pPr algn="l" indent="0" marL="0">
              <a:buNone/>
            </a:pPr>
            <a:r>
              <a:rPr lang="en-US" sz="1950" dirty="0">
                <a:solidFill>
                  <a:srgbClr val="FFFFFF"/>
                </a:solidFill>
                <a:latin typeface="Noto Serif KR" pitchFamily="34" charset="0"/>
                <a:ea typeface="Noto Serif KR" pitchFamily="34" charset="-122"/>
                <a:cs typeface="Noto Serif KR" pitchFamily="34" charset="-120"/>
              </a:rPr>
              <a:t>높이</a:t>
            </a:r>
            <a:pPr algn="l" indent="0" marL="0">
              <a:buNone/>
            </a:pPr>
            <a:r>
              <a:rPr lang="en-US" sz="1950" dirty="0">
                <a:solidFill>
                  <a:srgbClr val="A79E8C"/>
                </a:solidFill>
                <a:latin typeface="Noto Serif KR" pitchFamily="34" charset="0"/>
                <a:ea typeface="Noto Serif KR" pitchFamily="34" charset="-122"/>
                <a:cs typeface="Noto Serif KR" pitchFamily="34" charset="-120"/>
              </a:rPr>
              <a:t> → 이 사람들의 평균 키</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2</a:t>
            </a:r>
            <a:pPr algn="l" indent="0" marL="0">
              <a:buNone/>
            </a:pPr>
            <a:r>
              <a:rPr lang="en-US" sz="1950" dirty="0">
                <a:solidFill>
                  <a:srgbClr val="A79E8C"/>
                </a:solidFill>
                <a:latin typeface="Noto Serif KR" pitchFamily="34" charset="0"/>
                <a:ea typeface="Noto Serif KR" pitchFamily="34" charset="-122"/>
                <a:cs typeface="Noto Serif KR" pitchFamily="34" charset="-120"/>
              </a:rPr>
              <a:t>닳은 </a:t>
            </a:r>
            <a:pPr algn="l" indent="0" marL="0">
              <a:buNone/>
            </a:pPr>
            <a:r>
              <a:rPr lang="en-US" sz="1950" dirty="0">
                <a:solidFill>
                  <a:srgbClr val="FFFFFF"/>
                </a:solidFill>
                <a:latin typeface="Noto Serif KR" pitchFamily="34" charset="0"/>
                <a:ea typeface="Noto Serif KR" pitchFamily="34" charset="-122"/>
                <a:cs typeface="Noto Serif KR" pitchFamily="34" charset="-120"/>
              </a:rPr>
              <a:t>방향</a:t>
            </a:r>
            <a:pPr algn="l" indent="0" marL="0">
              <a:buNone/>
            </a:pPr>
            <a:r>
              <a:rPr lang="en-US" sz="1950" dirty="0">
                <a:solidFill>
                  <a:srgbClr val="A79E8C"/>
                </a:solidFill>
                <a:latin typeface="Noto Serif KR" pitchFamily="34" charset="0"/>
                <a:ea typeface="Noto Serif KR" pitchFamily="34" charset="-122"/>
                <a:cs typeface="Noto Serif KR" pitchFamily="34" charset="-120"/>
              </a:rPr>
              <a:t> → 밀었는가 당겼는가, 오른손인가 왼손인가</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3</a:t>
            </a:r>
            <a:pPr algn="l" indent="0" marL="0">
              <a:buNone/>
            </a:pPr>
            <a:r>
              <a:rPr lang="en-US" sz="1950" dirty="0">
                <a:solidFill>
                  <a:srgbClr val="A79E8C"/>
                </a:solidFill>
                <a:latin typeface="Noto Serif KR" pitchFamily="34" charset="0"/>
                <a:ea typeface="Noto Serif KR" pitchFamily="34" charset="-122"/>
                <a:cs typeface="Noto Serif KR" pitchFamily="34" charset="-120"/>
              </a:rPr>
              <a:t>닳은 </a:t>
            </a:r>
            <a:pPr algn="l" indent="0" marL="0">
              <a:buNone/>
            </a:pPr>
            <a:r>
              <a:rPr lang="en-US" sz="1950" dirty="0">
                <a:solidFill>
                  <a:srgbClr val="FFFFFF"/>
                </a:solidFill>
                <a:latin typeface="Noto Serif KR" pitchFamily="34" charset="0"/>
                <a:ea typeface="Noto Serif KR" pitchFamily="34" charset="-122"/>
                <a:cs typeface="Noto Serif KR" pitchFamily="34" charset="-120"/>
              </a:rPr>
              <a:t>정도</a:t>
            </a:r>
            <a:pPr algn="l" indent="0" marL="0">
              <a:buNone/>
            </a:pPr>
            <a:r>
              <a:rPr lang="en-US" sz="1950" dirty="0">
                <a:solidFill>
                  <a:srgbClr val="A79E8C"/>
                </a:solidFill>
                <a:latin typeface="Noto Serif KR" pitchFamily="34" charset="0"/>
                <a:ea typeface="Noto Serif KR" pitchFamily="34" charset="-122"/>
                <a:cs typeface="Noto Serif KR" pitchFamily="34" charset="-120"/>
              </a:rPr>
              <a:t> → 하루 몇 번, 몇 년 동안</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4</a:t>
            </a:r>
            <a:pPr algn="l" indent="0" marL="0">
              <a:buNone/>
            </a:pPr>
            <a:r>
              <a:rPr lang="en-US" sz="1950" dirty="0">
                <a:solidFill>
                  <a:srgbClr val="A79E8C"/>
                </a:solidFill>
                <a:latin typeface="Noto Serif KR" pitchFamily="34" charset="0"/>
                <a:ea typeface="Noto Serif KR" pitchFamily="34" charset="-122"/>
                <a:cs typeface="Noto Serif KR" pitchFamily="34" charset="-120"/>
              </a:rPr>
              <a:t>수리 </a:t>
            </a:r>
            <a:pPr algn="l" indent="0" marL="0">
              <a:buNone/>
            </a:pPr>
            <a:r>
              <a:rPr lang="en-US" sz="1950" dirty="0">
                <a:solidFill>
                  <a:srgbClr val="FFFFFF"/>
                </a:solidFill>
                <a:latin typeface="Noto Serif KR" pitchFamily="34" charset="0"/>
                <a:ea typeface="Noto Serif KR" pitchFamily="34" charset="-122"/>
                <a:cs typeface="Noto Serif KR" pitchFamily="34" charset="-120"/>
              </a:rPr>
              <a:t>흔적</a:t>
            </a:r>
            <a:pPr algn="l" indent="0" marL="0">
              <a:buNone/>
            </a:pPr>
            <a:r>
              <a:rPr lang="en-US" sz="1950" dirty="0">
                <a:solidFill>
                  <a:srgbClr val="A79E8C"/>
                </a:solidFill>
                <a:latin typeface="Noto Serif KR" pitchFamily="34" charset="0"/>
                <a:ea typeface="Noto Serif KR" pitchFamily="34" charset="-122"/>
                <a:cs typeface="Noto Serif KR" pitchFamily="34" charset="-120"/>
              </a:rPr>
              <a:t> → 고쳐 쓸 만큼 중요했다는 사실</a:t>
            </a:r>
            <a:endParaRPr lang="en-US" sz="1200" dirty="0"/>
          </a:p>
        </p:txBody>
      </p:sp>
      <p:sp>
        <p:nvSpPr>
          <p:cNvPr id="12" name="Shape 6"/>
          <p:cNvSpPr/>
          <p:nvPr/>
        </p:nvSpPr>
        <p:spPr>
          <a:xfrm>
            <a:off x="11239805" y="8572500"/>
            <a:ext cx="6096305" cy="1019556"/>
          </a:xfrm>
          <a:prstGeom prst="rect">
            <a:avLst/>
          </a:prstGeom>
          <a:solidFill>
            <a:srgbClr val="1A1915">
              <a:alpha val="82000"/>
            </a:srgbClr>
          </a:solidFill>
          <a:ln w="12700">
            <a:solidFill>
              <a:srgbClr val="FFFFFF">
                <a:alpha val="0"/>
              </a:srgbClr>
            </a:solidFill>
            <a:prstDash val="solid"/>
          </a:ln>
        </p:spPr>
      </p:sp>
      <p:sp>
        <p:nvSpPr>
          <p:cNvPr id="13" name="Text 7"/>
          <p:cNvSpPr txBox="1"/>
          <p:nvPr/>
        </p:nvSpPr>
        <p:spPr>
          <a:xfrm>
            <a:off x="11468405" y="8762695"/>
            <a:ext cx="5639105" cy="638251"/>
          </a:xfrm>
          <a:prstGeom prst="rect">
            <a:avLst/>
          </a:prstGeom>
          <a:noFill/>
          <a:ln/>
        </p:spPr>
        <p:txBody>
          <a:bodyPr wrap="square" lIns="0" tIns="0" rIns="0" bIns="0" rtlCol="0" anchor="ctr"/>
          <a:lstStyle/>
          <a:p>
            <a:pPr algn="l" indent="0" marL="0">
              <a:lnSpc>
                <a:spcPts val="2441"/>
              </a:lnSpc>
              <a:buNone/>
            </a:pPr>
            <a:r>
              <a:rPr lang="en-US" sz="1575" dirty="0">
                <a:solidFill>
                  <a:srgbClr val="C0533F"/>
                </a:solidFill>
                <a:latin typeface="IBM Plex Mono" pitchFamily="34" charset="0"/>
                <a:ea typeface="IBM Plex Mono" pitchFamily="34" charset="-122"/>
                <a:cs typeface="IBM Plex Mono" pitchFamily="34" charset="-120"/>
              </a:rPr>
              <a:t>PLATE 4—02</a:t>
            </a:r>
            <a:pPr algn="l" indent="0" marL="0">
              <a:lnSpc>
                <a:spcPts val="2441"/>
              </a:lnSpc>
              <a:buNone/>
            </a:pPr>
            <a:r>
              <a:rPr lang="en-US" sz="1575" dirty="0">
                <a:solidFill>
                  <a:srgbClr val="A79E8C"/>
                </a:solidFill>
                <a:latin typeface="Noto Sans KR" pitchFamily="34" charset="0"/>
                <a:ea typeface="Noto Sans KR" pitchFamily="34" charset="-122"/>
                <a:cs typeface="Noto Sans KR" pitchFamily="34" charset="-120"/>
              </a:rPr>
              <a:t> 석기 표면의 사용흔을 현미경으로 관찰한 이미지. 마찰 방향과 광택의 분포가 도구의 사용 방식을 지시한다.</a:t>
            </a:r>
            <a:endParaRPr lang="en-US" sz="1575" dirty="0"/>
          </a:p>
        </p:txBody>
      </p:sp>
      <p:sp>
        <p:nvSpPr>
          <p:cNvPr id="14" name="Text 8"/>
          <p:cNvSpPr txBox="1"/>
          <p:nvPr/>
        </p:nvSpPr>
        <p:spPr>
          <a:xfrm>
            <a:off x="1143000" y="9696298"/>
            <a:ext cx="9144000"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도입 발문</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3b3c96779db4f5c04b7b334f0d3f51d7.jpg">    </p:cNvPr>
          <p:cNvPicPr>
            <a:picLocks noChangeAspect="1"/>
          </p:cNvPicPr>
          <p:nvPr/>
        </p:nvPicPr>
        <p:blipFill>
          <a:blip r:embed="rId1">
            <a:alphaModFix amt="88000"/>
          </a:blip>
          <a:stretch>
            <a:fillRect/>
          </a:stretch>
        </p:blipFill>
        <p:spPr>
          <a:xfrm>
            <a:off x="11239805" y="0"/>
            <a:ext cx="7048195" cy="102883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1 · 10–30분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01</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사물은 의미를</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가지고 있다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1980년대 고고학에 큰 전환이 일어났다. 사물을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기능과 통계로만 다루던 방식</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에서, 사물이 담고 있는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의미와 사회적 관계</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를 함께 읽는 방식으로 넘어간 것이다. 우리의 유물 설계는 후자의 관점에 서 있다.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전개 1 — 물질문화 연구</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2628900"/>
            <a:ext cx="9418234" cy="9144"/>
          </a:xfrm>
          <a:prstGeom prst="rect">
            <a:avLst/>
          </a:prstGeom>
        </p:spPr>
      </p:pic>
      <p:pic>
        <p:nvPicPr>
          <p:cNvPr id="4" name="Image 2" descr="gen-dedup-2beab2428416582ac2b3c9f1cd7e7f8b.png">    </p:cNvPr>
          <p:cNvPicPr>
            <a:picLocks noChangeAspect="1"/>
          </p:cNvPicPr>
          <p:nvPr/>
        </p:nvPicPr>
        <p:blipFill>
          <a:blip r:embed="rId3"/>
          <a:stretch/>
        </p:blipFill>
        <p:spPr>
          <a:xfrm>
            <a:off x="1182317" y="5600700"/>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이언 호더 『과거 읽기』(1986)</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①</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유물은 데이터인가, 텍스트인가</a:t>
            </a:r>
            <a:endParaRPr lang="en-US" sz="3450" dirty="0"/>
          </a:p>
        </p:txBody>
      </p:sp>
      <p:sp>
        <p:nvSpPr>
          <p:cNvPr id="8" name="Shape 3"/>
          <p:cNvSpPr/>
          <p:nvPr/>
        </p:nvSpPr>
        <p:spPr>
          <a:xfrm>
            <a:off x="11620195" y="1466698"/>
            <a:ext cx="5524805" cy="3638398"/>
          </a:xfrm>
          <a:prstGeom prst="rect">
            <a:avLst/>
          </a:prstGeom>
          <a:solidFill>
            <a:srgbClr val="FFFFFF">
              <a:alpha val="42000"/>
            </a:srgbClr>
          </a:solidFill>
          <a:ln w="12700">
            <a:solidFill>
              <a:srgbClr val="BEB6A5"/>
            </a:solidFill>
            <a:prstDash val="solid"/>
          </a:ln>
        </p:spPr>
      </p:sp>
      <p:sp>
        <p:nvSpPr>
          <p:cNvPr id="9"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0" name="Text 5"/>
          <p:cNvSpPr txBox="1"/>
          <p:nvPr/>
        </p:nvSpPr>
        <p:spPr>
          <a:xfrm>
            <a:off x="13478256" y="1686154"/>
            <a:ext cx="40297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이언 호더 Ian Hodder (1948– )</a:t>
            </a:r>
            <a:endParaRPr lang="en-US" sz="1875" dirty="0"/>
          </a:p>
        </p:txBody>
      </p:sp>
      <p:sp>
        <p:nvSpPr>
          <p:cNvPr id="11" name="Text 6"/>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2" name="Text 7"/>
          <p:cNvSpPr txBox="1"/>
          <p:nvPr/>
        </p:nvSpPr>
        <p:spPr>
          <a:xfrm>
            <a:off x="13478256" y="2128723"/>
            <a:ext cx="245973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Reading the Past:</a:t>
            </a:r>
            <a:endParaRPr lang="en-US" sz="1875" dirty="0"/>
          </a:p>
        </p:txBody>
      </p:sp>
      <p:sp>
        <p:nvSpPr>
          <p:cNvPr id="13" name="Text 8"/>
          <p:cNvSpPr txBox="1"/>
          <p:nvPr/>
        </p:nvSpPr>
        <p:spPr>
          <a:xfrm>
            <a:off x="13478256" y="2486254"/>
            <a:ext cx="2695651"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Current Approaches to Interpretation in Archaeology</a:t>
            </a:r>
            <a:endParaRPr lang="en-US" sz="1875" dirty="0"/>
          </a:p>
        </p:txBody>
      </p:sp>
      <p:sp>
        <p:nvSpPr>
          <p:cNvPr id="14" name="Text 9"/>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초판</a:t>
            </a:r>
            <a:endParaRPr lang="en-US" sz="1650" dirty="0"/>
          </a:p>
        </p:txBody>
      </p:sp>
      <p:sp>
        <p:nvSpPr>
          <p:cNvPr id="15" name="Text 10"/>
          <p:cNvSpPr txBox="1"/>
          <p:nvPr/>
        </p:nvSpPr>
        <p:spPr>
          <a:xfrm>
            <a:off x="13478256" y="3642970"/>
            <a:ext cx="245973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1986 / 개정판 2003</a:t>
            </a:r>
            <a:endParaRPr lang="en-US" sz="1875" dirty="0"/>
          </a:p>
        </p:txBody>
      </p:sp>
      <p:sp>
        <p:nvSpPr>
          <p:cNvPr id="16" name="Text 11"/>
          <p:cNvSpPr txBox="1"/>
          <p:nvPr/>
        </p:nvSpPr>
        <p:spPr>
          <a:xfrm>
            <a:off x="11878056" y="41340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소속</a:t>
            </a:r>
            <a:endParaRPr lang="en-US" sz="1650" dirty="0"/>
          </a:p>
        </p:txBody>
      </p:sp>
      <p:sp>
        <p:nvSpPr>
          <p:cNvPr id="17" name="Text 12"/>
          <p:cNvSpPr txBox="1"/>
          <p:nvPr/>
        </p:nvSpPr>
        <p:spPr>
          <a:xfrm>
            <a:off x="13478256" y="4086454"/>
            <a:ext cx="1619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스탠퍼드대학교</a:t>
            </a:r>
            <a:endParaRPr lang="en-US" sz="1875" dirty="0"/>
          </a:p>
        </p:txBody>
      </p:sp>
      <p:sp>
        <p:nvSpPr>
          <p:cNvPr id="18" name="Text 13"/>
          <p:cNvSpPr txBox="1"/>
          <p:nvPr/>
        </p:nvSpPr>
        <p:spPr>
          <a:xfrm>
            <a:off x="11878056" y="457657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주요 현장</a:t>
            </a:r>
            <a:endParaRPr lang="en-US" sz="1650" dirty="0"/>
          </a:p>
        </p:txBody>
      </p:sp>
      <p:sp>
        <p:nvSpPr>
          <p:cNvPr id="19" name="Text 14"/>
          <p:cNvSpPr txBox="1"/>
          <p:nvPr/>
        </p:nvSpPr>
        <p:spPr>
          <a:xfrm>
            <a:off x="13478256" y="4529023"/>
            <a:ext cx="37344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차탈회위크(튀르키예) 장기 발굴</a:t>
            </a:r>
            <a:endParaRPr lang="en-US" sz="1875" dirty="0"/>
          </a:p>
        </p:txBody>
      </p:sp>
      <p:sp>
        <p:nvSpPr>
          <p:cNvPr id="20" name="Text 15"/>
          <p:cNvSpPr txBox="1"/>
          <p:nvPr/>
        </p:nvSpPr>
        <p:spPr>
          <a:xfrm>
            <a:off x="1143000" y="2286000"/>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핵심 주장</a:t>
            </a:r>
            <a:endParaRPr lang="en-US" sz="1650" dirty="0"/>
          </a:p>
        </p:txBody>
      </p:sp>
      <p:sp>
        <p:nvSpPr>
          <p:cNvPr id="21" name="Text 16"/>
          <p:cNvSpPr txBox="1"/>
          <p:nvPr/>
        </p:nvSpPr>
        <p:spPr>
          <a:xfrm>
            <a:off x="1143000" y="2895905"/>
            <a:ext cx="9811512" cy="1257300"/>
          </a:xfrm>
          <a:prstGeom prst="rect">
            <a:avLst/>
          </a:prstGeom>
          <a:noFill/>
          <a:ln/>
        </p:spPr>
        <p:txBody>
          <a:bodyPr wrap="square" lIns="0" tIns="0" rIns="0" bIns="0" rtlCol="0" anchor="ctr"/>
          <a:lstStyle/>
          <a:p>
            <a:pPr algn="l" indent="0" marL="0">
              <a:lnSpc>
                <a:spcPts val="3281"/>
              </a:lnSpc>
              <a:buNone/>
            </a:pPr>
            <a:r>
              <a:rPr lang="en-US" sz="2025" i="1" dirty="0">
                <a:solidFill>
                  <a:srgbClr val="17150F"/>
                </a:solidFill>
                <a:latin typeface="Noto Serif KR" pitchFamily="34" charset="0"/>
                <a:ea typeface="Noto Serif KR" pitchFamily="34" charset="-122"/>
                <a:cs typeface="Noto Serif KR" pitchFamily="34" charset="-120"/>
              </a:rPr>
              <a:t>“Ian Hodder, a leading figure in the new movement, argues that in explaining the behaviour of past societies a concern with meaning must be joined to the study…”</a:t>
            </a:r>
            <a:endParaRPr lang="en-US" sz="2025" dirty="0"/>
          </a:p>
        </p:txBody>
      </p:sp>
      <p:sp>
        <p:nvSpPr>
          <p:cNvPr id="22" name="Text 17"/>
          <p:cNvSpPr txBox="1"/>
          <p:nvPr/>
        </p:nvSpPr>
        <p:spPr>
          <a:xfrm>
            <a:off x="1143000" y="4297680"/>
            <a:ext cx="9811512"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호더는 과거 사회의 행동을 설명하려면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의미(meaning)에 대한 관심이 연구에 반드시 결합되어야 한다</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고 주장한다.</a:t>
            </a:r>
            <a:endParaRPr lang="en-US" sz="2100" dirty="0"/>
          </a:p>
        </p:txBody>
      </p:sp>
      <p:sp>
        <p:nvSpPr>
          <p:cNvPr id="23" name="Text 18"/>
          <p:cNvSpPr txBox="1"/>
          <p:nvPr/>
        </p:nvSpPr>
        <p:spPr>
          <a:xfrm>
            <a:off x="1143000" y="5329123"/>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Ian Hodder,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Reading the Past</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(1986) 서지 소개문 · 출처: PhilPapers 서지, 저자 공식 사이트 ian-hodder.com</a:t>
            </a:r>
            <a:endParaRPr lang="en-US" sz="1650" dirty="0"/>
          </a:p>
        </p:txBody>
      </p:sp>
      <p:sp>
        <p:nvSpPr>
          <p:cNvPr id="24" name="Text 19"/>
          <p:cNvSpPr txBox="1"/>
          <p:nvPr/>
        </p:nvSpPr>
        <p:spPr>
          <a:xfrm>
            <a:off x="1143000" y="590519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‘읽기(reading)’라는 말이 선택된 이유</a:t>
            </a:r>
            <a:endParaRPr lang="en-US" sz="1650" dirty="0"/>
          </a:p>
        </p:txBody>
      </p:sp>
      <p:sp>
        <p:nvSpPr>
          <p:cNvPr id="25" name="Text 20"/>
          <p:cNvSpPr txBox="1"/>
          <p:nvPr/>
        </p:nvSpPr>
        <p:spPr>
          <a:xfrm>
            <a:off x="1143000" y="6305702"/>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제목이 ‘측정하기’나 ‘분석하기’가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읽기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 유물을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텍스트처럼</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다룬다는 선언이다. 텍스트는 측정되지 않고 해석된다. 그리고 해석에는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읽는 사람의 위치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가 개입한다 — 이 점을 숨기지 않는 것이 호더의 입장이다.</a:t>
            </a:r>
            <a:endParaRPr lang="en-US" sz="1875" dirty="0"/>
          </a:p>
        </p:txBody>
      </p:sp>
      <p:sp>
        <p:nvSpPr>
          <p:cNvPr id="26" name="Shape 21"/>
          <p:cNvSpPr/>
          <p:nvPr/>
        </p:nvSpPr>
        <p:spPr>
          <a:xfrm>
            <a:off x="11620195" y="4438498"/>
            <a:ext cx="5524805" cy="3362249"/>
          </a:xfrm>
          <a:prstGeom prst="rect">
            <a:avLst/>
          </a:prstGeom>
          <a:solidFill>
            <a:srgbClr val="FFFFFF">
              <a:alpha val="36000"/>
            </a:srgbClr>
          </a:solidFill>
          <a:ln w="12700">
            <a:solidFill>
              <a:srgbClr val="BEB6A5"/>
            </a:solidFill>
            <a:prstDash val="solid"/>
          </a:ln>
        </p:spPr>
      </p:sp>
      <p:sp>
        <p:nvSpPr>
          <p:cNvPr id="27" name="Text 22"/>
          <p:cNvSpPr txBox="1"/>
          <p:nvPr/>
        </p:nvSpPr>
        <p:spPr>
          <a:xfrm>
            <a:off x="11896344" y="4677156"/>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우리 단원과의 연결</a:t>
            </a:r>
            <a:endParaRPr lang="en-US" sz="1575" dirty="0"/>
          </a:p>
        </p:txBody>
      </p:sp>
      <p:pic>
        <p:nvPicPr>
          <p:cNvPr id="28" name="Image 3" descr="gen-dedup-27ae280773eedb088e0c817c49142db0.png">    </p:cNvPr>
          <p:cNvPicPr>
            <a:picLocks noChangeAspect="1"/>
          </p:cNvPicPr>
          <p:nvPr/>
        </p:nvPicPr>
        <p:blipFill>
          <a:blip r:embed="rId4"/>
          <a:stretch/>
        </p:blipFill>
        <p:spPr>
          <a:xfrm>
            <a:off x="11996054" y="5095951"/>
            <a:ext cx="4773087" cy="9144"/>
          </a:xfrm>
          <a:prstGeom prst="rect">
            <a:avLst/>
          </a:prstGeom>
        </p:spPr>
      </p:pic>
      <p:sp>
        <p:nvSpPr>
          <p:cNvPr id="29" name="Text 23"/>
          <p:cNvSpPr txBox="1"/>
          <p:nvPr/>
        </p:nvSpPr>
        <p:spPr>
          <a:xfrm>
            <a:off x="11896344" y="5257800"/>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우리가 만드는 유물은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읽히기 위해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설계된다. 따라서 설계할 때 물어야 할 것은 “예쁜가”가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“읽을 단서가 충분한가”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a:t>
            </a:r>
            <a:endParaRPr lang="en-US" sz="1800" dirty="0"/>
          </a:p>
        </p:txBody>
      </p:sp>
      <p:pic>
        <p:nvPicPr>
          <p:cNvPr id="30" name="Image 4" descr="gen-dedup-23822cb4f3c5edd0692bae0502c88a4a.png">    </p:cNvPr>
          <p:cNvPicPr>
            <a:picLocks noChangeAspect="1"/>
          </p:cNvPicPr>
          <p:nvPr/>
        </p:nvPicPr>
        <p:blipFill>
          <a:blip r:embed="rId5"/>
          <a:stretch/>
        </p:blipFill>
        <p:spPr>
          <a:xfrm>
            <a:off x="11996054" y="6603797"/>
            <a:ext cx="4773087" cy="9144"/>
          </a:xfrm>
          <a:prstGeom prst="rect">
            <a:avLst/>
          </a:prstGeom>
        </p:spPr>
      </p:pic>
      <p:sp>
        <p:nvSpPr>
          <p:cNvPr id="31" name="Text 24"/>
          <p:cNvSpPr txBox="1"/>
          <p:nvPr/>
        </p:nvSpPr>
        <p:spPr>
          <a:xfrm>
            <a:off x="11896344" y="6765646"/>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단서의 목록 — 재질, 형태, 마모의 위치, 결손, 수리, 부착물, 크기와 손의 관계.</a:t>
            </a:r>
            <a:endParaRPr lang="en-US" sz="1800" dirty="0"/>
          </a:p>
        </p:txBody>
      </p:sp>
      <p:sp>
        <p:nvSpPr>
          <p:cNvPr id="32" name="Shape 25"/>
          <p:cNvSpPr/>
          <p:nvPr/>
        </p:nvSpPr>
        <p:spPr>
          <a:xfrm>
            <a:off x="1143000" y="8076895"/>
            <a:ext cx="9810598" cy="1266444"/>
          </a:xfrm>
          <a:prstGeom prst="rect">
            <a:avLst/>
          </a:prstGeom>
          <a:solidFill>
            <a:srgbClr val="9C2A1F">
              <a:alpha val="6000"/>
            </a:srgbClr>
          </a:solidFill>
          <a:ln w="12700">
            <a:solidFill>
              <a:srgbClr val="9C2A1F"/>
            </a:solidFill>
            <a:prstDash val="solid"/>
          </a:ln>
        </p:spPr>
      </p:sp>
      <p:sp>
        <p:nvSpPr>
          <p:cNvPr id="33" name="Text 26"/>
          <p:cNvSpPr txBox="1"/>
          <p:nvPr/>
        </p:nvSpPr>
        <p:spPr>
          <a:xfrm>
            <a:off x="1419149" y="8296351"/>
            <a:ext cx="9258300"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설계 카드 연결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이 절의 내용은 학습지 4 ①번 칸(사물의 생애 단계)과 설계 카드의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‘재질·기법’ 항목</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에 쓰인다.</a:t>
            </a:r>
            <a:endParaRPr lang="en-US" sz="1875" dirty="0"/>
          </a:p>
        </p:txBody>
      </p:sp>
      <p:sp>
        <p:nvSpPr>
          <p:cNvPr id="34" name="Text 27"/>
          <p:cNvSpPr txBox="1"/>
          <p:nvPr/>
        </p:nvSpPr>
        <p:spPr>
          <a:xfrm>
            <a:off x="11887200" y="7582205"/>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단서가 하나뿐인 사물과 다섯 개인 사물 중 어느 것이 더 많은 이야기를 만듭니까.</a:t>
            </a:r>
            <a:endParaRPr lang="en-US" sz="2025" dirty="0"/>
          </a:p>
        </p:txBody>
      </p:sp>
      <p:sp>
        <p:nvSpPr>
          <p:cNvPr id="35" name="Text 28"/>
          <p:cNvSpPr txBox="1"/>
          <p:nvPr/>
        </p:nvSpPr>
        <p:spPr>
          <a:xfrm>
            <a:off x="1143000" y="9258300"/>
            <a:ext cx="98115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답 — 다섯 개다. 그러나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서로 모순되지 않아야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한다. 모순된 단서는 관람자가 즉시 알아챈다. 6차시 점검의 첫 항목이 이것이다.</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7181698"/>
            <a:ext cx="15873740" cy="28346"/>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과정고고학과 후기과정고고학</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②</a:t>
            </a:r>
            <a:endParaRPr lang="en-US" sz="1650" dirty="0"/>
          </a:p>
        </p:txBody>
      </p:sp>
      <p:sp>
        <p:nvSpPr>
          <p:cNvPr id="6"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같은 유물, 두 개의 읽는 법</a:t>
            </a:r>
            <a:endParaRPr lang="en-US" sz="3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2286000"/>
          <a:ext cx="16002000" cy="3001061"/>
        </p:xfrm>
        <a:graphic>
          <a:graphicData uri="http://schemas.openxmlformats.org/drawingml/2006/table">
            <a:tbl>
              <a:tblPr/>
              <a:tblGrid>
                <a:gridCol w="2190902"/>
                <a:gridCol w="5715000"/>
                <a:gridCol w="8096098"/>
              </a:tblGrid>
              <a:tr h="500177">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과정고고학 processual · 1960–80년대</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후기과정고고학 post-processual · 1985년 이후</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목표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과거에 대한 </a:t>
                      </a:r>
                      <a:pPr indent="0" marL="0">
                        <a:buNone/>
                      </a:pPr>
                      <a:r>
                        <a:rPr lang="en-US" sz="1725" b="1" dirty="0">
                          <a:solidFill>
                            <a:srgbClr val="17150F"/>
                          </a:solidFill>
                          <a:latin typeface="Noto Serif KR" pitchFamily="34" charset="0"/>
                          <a:ea typeface="Noto Serif KR" pitchFamily="34" charset="-122"/>
                          <a:cs typeface="Noto Serif KR" pitchFamily="34" charset="-120"/>
                        </a:rPr>
                        <a:t>객관적·과학적 지식</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그 객관성의 가능성 자체를 의심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방법</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자연과학의 유추를 통해 인간 행동의 </a:t>
                      </a:r>
                      <a:pPr indent="0" marL="0">
                        <a:buNone/>
                      </a:pPr>
                      <a:r>
                        <a:rPr lang="en-US" sz="1725" b="1" dirty="0">
                          <a:solidFill>
                            <a:srgbClr val="17150F"/>
                          </a:solidFill>
                          <a:latin typeface="Noto Serif KR" pitchFamily="34" charset="0"/>
                          <a:ea typeface="Noto Serif KR" pitchFamily="34" charset="-122"/>
                          <a:cs typeface="Noto Serif KR" pitchFamily="34" charset="-120"/>
                        </a:rPr>
                        <a:t>법칙</a:t>
                      </a:r>
                      <a:pPr indent="0" marL="0">
                        <a:buNone/>
                      </a:pPr>
                      <a:r>
                        <a:rPr lang="en-US" sz="1725" dirty="0">
                          <a:solidFill>
                            <a:srgbClr val="3A362C"/>
                          </a:solidFill>
                          <a:latin typeface="Noto Serif KR" pitchFamily="34" charset="0"/>
                          <a:ea typeface="Noto Serif KR" pitchFamily="34" charset="-122"/>
                          <a:cs typeface="Noto Serif KR" pitchFamily="34" charset="-120"/>
                        </a:rPr>
                        <a:t>을 도출</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의미·이데올로기·주체성(agency)의 재도입</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주요 인물</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루이스 빈퍼드 등 미국 ‘신고고학’</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이언 호더, 마이클 섕크스 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유물을 보는 눈</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기능과 분포의 데이터</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사회적 관계가 새겨진 텍스트</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해석자의 위치</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중립적 관찰자로 전제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해석에 개입하는 존재로 명시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6667805"/>
            <a:ext cx="16002000"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인용: “Processual archaeology aims for objective scientific knowledge of the past, while postprocessual archaeology questions this aim and the conception of society.” · 출처: Shanks &amp; Hodder 관련 정리 자료(Scribd 공개본)</a:t>
            </a:r>
            <a:endParaRPr lang="en-US" sz="1650" dirty="0"/>
          </a:p>
        </p:txBody>
      </p:sp>
      <p:sp>
        <p:nvSpPr>
          <p:cNvPr id="9" name="Text 4"/>
          <p:cNvSpPr txBox="1"/>
          <p:nvPr/>
        </p:nvSpPr>
        <p:spPr>
          <a:xfrm>
            <a:off x="1143000" y="7487107"/>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두 관점을 모두 쓰는 이유</a:t>
            </a:r>
            <a:endParaRPr lang="en-US" sz="1650" dirty="0"/>
          </a:p>
        </p:txBody>
      </p:sp>
      <p:sp>
        <p:nvSpPr>
          <p:cNvPr id="10" name="Text 5"/>
          <p:cNvSpPr txBox="1"/>
          <p:nvPr/>
        </p:nvSpPr>
        <p:spPr>
          <a:xfrm>
            <a:off x="1143000" y="7886700"/>
            <a:ext cx="7810805"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 설계에는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둘 다 필요하다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마모의 물리적 성립(과정고고학의 엄격함)과 그 사물이 놓인 사회적 관계(후기과정고고학의 관심)가 함께 맞아야 유물이 성립한다.</a:t>
            </a:r>
            <a:endParaRPr lang="en-US" sz="1875" dirty="0"/>
          </a:p>
        </p:txBody>
      </p:sp>
      <p:sp>
        <p:nvSpPr>
          <p:cNvPr id="11" name="Shape 6"/>
          <p:cNvSpPr/>
          <p:nvPr/>
        </p:nvSpPr>
        <p:spPr>
          <a:xfrm>
            <a:off x="9620402" y="7487107"/>
            <a:ext cx="7524598" cy="3286354"/>
          </a:xfrm>
          <a:prstGeom prst="rect">
            <a:avLst/>
          </a:prstGeom>
          <a:solidFill>
            <a:srgbClr val="9C2A1F">
              <a:alpha val="6000"/>
            </a:srgbClr>
          </a:solidFill>
          <a:ln w="12700">
            <a:solidFill>
              <a:srgbClr val="9C2A1F"/>
            </a:solidFill>
            <a:prstDash val="solid"/>
          </a:ln>
        </p:spPr>
      </p:sp>
      <p:sp>
        <p:nvSpPr>
          <p:cNvPr id="12" name="Text 7"/>
          <p:cNvSpPr txBox="1"/>
          <p:nvPr/>
        </p:nvSpPr>
        <p:spPr>
          <a:xfrm>
            <a:off x="9896551" y="7705649"/>
            <a:ext cx="69723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설계 카드에 적용</a:t>
            </a:r>
            <a:endParaRPr lang="en-US" sz="1575" dirty="0"/>
          </a:p>
        </p:txBody>
      </p:sp>
      <p:pic>
        <p:nvPicPr>
          <p:cNvPr id="13" name="Image 2" descr="gen-dedup-2a8452eedcda227dc575efe2ff1276a4.png">    </p:cNvPr>
          <p:cNvPicPr>
            <a:picLocks noChangeAspect="1"/>
          </p:cNvPicPr>
          <p:nvPr/>
        </p:nvPicPr>
        <p:blipFill>
          <a:blip r:embed="rId3"/>
          <a:stretch/>
        </p:blipFill>
        <p:spPr>
          <a:xfrm>
            <a:off x="10035976" y="8124444"/>
            <a:ext cx="6693451" cy="9144"/>
          </a:xfrm>
          <a:prstGeom prst="rect">
            <a:avLst/>
          </a:prstGeom>
        </p:spPr>
      </p:pic>
      <p:sp>
        <p:nvSpPr>
          <p:cNvPr id="14" name="Text 8"/>
          <p:cNvSpPr txBox="1"/>
          <p:nvPr/>
        </p:nvSpPr>
        <p:spPr>
          <a:xfrm>
            <a:off x="9896551" y="8225028"/>
            <a:ext cx="6972300"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물리적 층</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 이 재질에 이런 마모가 생기려면 몇 번의 마찰이 필요한가(과정)</a:t>
            </a:r>
            <a:pPr algn="l" indent="0" marL="0">
              <a:lnSpc>
                <a:spcPts val="3132"/>
              </a:lnSpc>
              <a:buNone/>
            </a:pPr>
            <a:endParaRPr lang="en-US" sz="1800" dirty="0"/>
          </a:p>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사회적 층</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 왜 그 사람이 그 일을 반복했는가(후기과정)</a:t>
            </a:r>
            <a:endParaRPr lang="en-US" sz="1800" dirty="0"/>
          </a:p>
        </p:txBody>
      </p:sp>
      <p:pic>
        <p:nvPicPr>
          <p:cNvPr id="15" name="Image 3" descr="gen-dedup-637c060a42ec0991c66bfed9f46f9a93.png">    </p:cNvPr>
          <p:cNvPicPr>
            <a:picLocks noChangeAspect="1"/>
          </p:cNvPicPr>
          <p:nvPr/>
        </p:nvPicPr>
        <p:blipFill>
          <a:blip r:embed="rId4"/>
          <a:stretch/>
        </p:blipFill>
        <p:spPr>
          <a:xfrm>
            <a:off x="10035976" y="9614002"/>
            <a:ext cx="6693451" cy="9144"/>
          </a:xfrm>
          <a:prstGeom prst="rect">
            <a:avLst/>
          </a:prstGeom>
        </p:spPr>
      </p:pic>
      <p:sp>
        <p:nvSpPr>
          <p:cNvPr id="16" name="Text 9"/>
          <p:cNvSpPr txBox="1"/>
          <p:nvPr/>
        </p:nvSpPr>
        <p:spPr>
          <a:xfrm>
            <a:off x="9896551" y="9756648"/>
            <a:ext cx="697230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두 층이 서로를 뒷받침하면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설득력이 생기고</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어긋나면 즉시 티가 난다.</a:t>
            </a:r>
            <a:endParaRPr lang="en-US" sz="1800" dirty="0"/>
          </a:p>
        </p:txBody>
      </p:sp>
      <p:sp>
        <p:nvSpPr>
          <p:cNvPr id="17" name="Text 10"/>
          <p:cNvSpPr txBox="1"/>
          <p:nvPr/>
        </p:nvSpPr>
        <p:spPr>
          <a:xfrm>
            <a:off x="1143000" y="9486900"/>
            <a:ext cx="78108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고1 수준 요약 — “물리적으로 가능한가”와 “사회적으로 그럴 이유가 있는가”를 둘 다 묻는다.</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762195"/>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얽힘 entanglement</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③</a:t>
            </a:r>
            <a:endParaRPr lang="en-US" sz="1650" dirty="0"/>
          </a:p>
        </p:txBody>
      </p:sp>
      <p:sp>
        <p:nvSpPr>
          <p:cNvPr id="6" name="Text 2"/>
          <p:cNvSpPr txBox="1"/>
          <p:nvPr/>
        </p:nvSpPr>
        <p:spPr>
          <a:xfrm>
            <a:off x="1143000" y="1466698"/>
            <a:ext cx="11584534"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사람이 사물을 만들고, 사물이 사람을 붙잡는다</a:t>
            </a:r>
            <a:endParaRPr lang="en-US" sz="3450" dirty="0"/>
          </a:p>
        </p:txBody>
      </p:sp>
      <p:sp>
        <p:nvSpPr>
          <p:cNvPr id="7" name="Shape 3"/>
          <p:cNvSpPr/>
          <p:nvPr/>
        </p:nvSpPr>
        <p:spPr>
          <a:xfrm>
            <a:off x="11620195" y="1466698"/>
            <a:ext cx="5524805" cy="3552444"/>
          </a:xfrm>
          <a:prstGeom prst="rect">
            <a:avLst/>
          </a:prstGeom>
          <a:solidFill>
            <a:srgbClr val="FFFFFF">
              <a:alpha val="42000"/>
            </a:srgbClr>
          </a:solidFill>
          <a:ln w="12700">
            <a:solidFill>
              <a:srgbClr val="BEB6A5"/>
            </a:solidFill>
            <a:prstDash val="solid"/>
          </a:ln>
        </p:spPr>
      </p:sp>
      <p:sp>
        <p:nvSpPr>
          <p:cNvPr id="8"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9" name="Text 5"/>
          <p:cNvSpPr txBox="1"/>
          <p:nvPr/>
        </p:nvSpPr>
        <p:spPr>
          <a:xfrm>
            <a:off x="13478256" y="1686154"/>
            <a:ext cx="3229661" cy="1420063"/>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Entangled: An Archaeology of the Relationships between Humans and Things</a:t>
            </a:r>
            <a:endParaRPr lang="en-US" sz="1875" dirty="0"/>
          </a:p>
        </p:txBody>
      </p:sp>
      <p:sp>
        <p:nvSpPr>
          <p:cNvPr id="10" name="Text 6"/>
          <p:cNvSpPr txBox="1"/>
          <p:nvPr/>
        </p:nvSpPr>
        <p:spPr>
          <a:xfrm>
            <a:off x="11878056" y="3247949"/>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1" name="Text 7"/>
          <p:cNvSpPr txBox="1"/>
          <p:nvPr/>
        </p:nvSpPr>
        <p:spPr>
          <a:xfrm>
            <a:off x="13478256" y="3200400"/>
            <a:ext cx="113751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이언 호더</a:t>
            </a:r>
            <a:endParaRPr lang="en-US" sz="1875" dirty="0"/>
          </a:p>
        </p:txBody>
      </p:sp>
      <p:sp>
        <p:nvSpPr>
          <p:cNvPr id="12" name="Text 8"/>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발행</a:t>
            </a:r>
            <a:endParaRPr lang="en-US" sz="1650" dirty="0"/>
          </a:p>
        </p:txBody>
      </p:sp>
      <p:sp>
        <p:nvSpPr>
          <p:cNvPr id="13" name="Text 9"/>
          <p:cNvSpPr txBox="1"/>
          <p:nvPr/>
        </p:nvSpPr>
        <p:spPr>
          <a:xfrm>
            <a:off x="13478256" y="3642970"/>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2012</a:t>
            </a:r>
            <a:endParaRPr lang="en-US" sz="1875" dirty="0"/>
          </a:p>
        </p:txBody>
      </p:sp>
      <p:sp>
        <p:nvSpPr>
          <p:cNvPr id="14" name="Text 10"/>
          <p:cNvSpPr txBox="1"/>
          <p:nvPr/>
        </p:nvSpPr>
        <p:spPr>
          <a:xfrm>
            <a:off x="11878056" y="413400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사례 현장</a:t>
            </a:r>
            <a:endParaRPr lang="en-US" sz="1650" dirty="0"/>
          </a:p>
        </p:txBody>
      </p:sp>
      <p:sp>
        <p:nvSpPr>
          <p:cNvPr id="15" name="Text 11"/>
          <p:cNvSpPr txBox="1"/>
          <p:nvPr/>
        </p:nvSpPr>
        <p:spPr>
          <a:xfrm>
            <a:off x="13478256" y="4086454"/>
            <a:ext cx="32488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차탈회위크 — 약 9,000년간 지속된 신석기 정착지</a:t>
            </a:r>
            <a:endParaRPr lang="en-US" sz="1875" dirty="0"/>
          </a:p>
        </p:txBody>
      </p:sp>
      <p:sp>
        <p:nvSpPr>
          <p:cNvPr id="16" name="Text 12"/>
          <p:cNvSpPr txBox="1"/>
          <p:nvPr/>
        </p:nvSpPr>
        <p:spPr>
          <a:xfrm>
            <a:off x="1143000" y="2514600"/>
            <a:ext cx="9811512" cy="1905610"/>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호더는 사람과 사물의 관계를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얽힘</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으로 설명한다. 사람이 사물을 만들지만, 만들어진 사물은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사람을 특정한 방식으로 살게 만든다</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 토기를 만들면 흙을 구하러 가야 하고, 불을 관리해야 하고, 깨지면 고쳐야 하고, 그 일을 하는 사람이 따로 필요해진다. 사물 하나가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노동과 관계의 그물</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을 만든다.</a:t>
            </a:r>
            <a:endParaRPr lang="en-US" sz="2100" dirty="0"/>
          </a:p>
        </p:txBody>
      </p:sp>
      <p:sp>
        <p:nvSpPr>
          <p:cNvPr id="17" name="Text 13"/>
          <p:cNvSpPr txBox="1"/>
          <p:nvPr/>
        </p:nvSpPr>
        <p:spPr>
          <a:xfrm>
            <a:off x="1143000" y="506760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얽힘의 연쇄 — 예시로 따라가기</a:t>
            </a:r>
            <a:endParaRPr lang="en-US" sz="16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143000" y="5467198"/>
          <a:ext cx="9811512" cy="3305556"/>
        </p:xfrm>
        <a:graphic>
          <a:graphicData uri="http://schemas.openxmlformats.org/drawingml/2006/table">
            <a:tbl>
              <a:tblPr/>
              <a:tblGrid>
                <a:gridCol w="2000707"/>
                <a:gridCol w="7810805"/>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단계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딸려 오는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사물을 만든다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재료를 구할 장소, 도구, 기술을 아는 사람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사물을 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사용의 규칙, 순서, 우선권 — 누가 먼저 쓰는가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사물이 닳는다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수리하는 사람, 수리 재료, 수리할 시간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사물을 버린다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버릴 장소, 버려도 되는지 정하는 권한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9" name="Shape 14"/>
          <p:cNvSpPr/>
          <p:nvPr/>
        </p:nvSpPr>
        <p:spPr>
          <a:xfrm>
            <a:off x="11620195" y="3810305"/>
            <a:ext cx="5524805" cy="3762756"/>
          </a:xfrm>
          <a:prstGeom prst="rect">
            <a:avLst/>
          </a:prstGeom>
          <a:solidFill>
            <a:srgbClr val="9C2A1F">
              <a:alpha val="6000"/>
            </a:srgbClr>
          </a:solidFill>
          <a:ln w="12700">
            <a:solidFill>
              <a:srgbClr val="9C2A1F"/>
            </a:solidFill>
            <a:prstDash val="solid"/>
          </a:ln>
        </p:spPr>
      </p:sp>
      <p:sp>
        <p:nvSpPr>
          <p:cNvPr id="20" name="Text 15"/>
          <p:cNvSpPr txBox="1"/>
          <p:nvPr/>
        </p:nvSpPr>
        <p:spPr>
          <a:xfrm>
            <a:off x="11896344" y="4048049"/>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설계에 쓰는 방법</a:t>
            </a:r>
            <a:endParaRPr lang="en-US" sz="1575" dirty="0"/>
          </a:p>
        </p:txBody>
      </p:sp>
      <p:pic>
        <p:nvPicPr>
          <p:cNvPr id="21" name="Image 2" descr="gen-dedup-27ae280773eedb088e0c817c49142db0.png">    </p:cNvPr>
          <p:cNvPicPr>
            <a:picLocks noChangeAspect="1"/>
          </p:cNvPicPr>
          <p:nvPr/>
        </p:nvPicPr>
        <p:blipFill>
          <a:blip r:embed="rId3"/>
          <a:stretch/>
        </p:blipFill>
        <p:spPr>
          <a:xfrm>
            <a:off x="11996054" y="4466844"/>
            <a:ext cx="4773087" cy="9144"/>
          </a:xfrm>
          <a:prstGeom prst="rect">
            <a:avLst/>
          </a:prstGeom>
        </p:spPr>
      </p:pic>
      <p:sp>
        <p:nvSpPr>
          <p:cNvPr id="22" name="Text 16"/>
          <p:cNvSpPr txBox="1"/>
          <p:nvPr/>
        </p:nvSpPr>
        <p:spPr>
          <a:xfrm>
            <a:off x="11896344" y="4629607"/>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여러분의 사물 하나를 정하면,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 사물이 딸고 오는 것들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함께 적어야 한다. 그 목록이 사물을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고립된 소품에서 세계의 일부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로 바꾼다.</a:t>
            </a:r>
            <a:endParaRPr lang="en-US" sz="1800" dirty="0"/>
          </a:p>
        </p:txBody>
      </p:sp>
      <p:pic>
        <p:nvPicPr>
          <p:cNvPr id="23" name="Image 3" descr="gen-dedup-23822cb4f3c5edd0692bae0502c88a4a.png">    </p:cNvPr>
          <p:cNvPicPr>
            <a:picLocks noChangeAspect="1"/>
          </p:cNvPicPr>
          <p:nvPr/>
        </p:nvPicPr>
        <p:blipFill>
          <a:blip r:embed="rId4"/>
          <a:stretch/>
        </p:blipFill>
        <p:spPr>
          <a:xfrm>
            <a:off x="11996054" y="5974690"/>
            <a:ext cx="4773087" cy="9144"/>
          </a:xfrm>
          <a:prstGeom prst="rect">
            <a:avLst/>
          </a:prstGeom>
        </p:spPr>
      </p:pic>
      <p:sp>
        <p:nvSpPr>
          <p:cNvPr id="24" name="Text 17"/>
          <p:cNvSpPr txBox="1"/>
          <p:nvPr/>
        </p:nvSpPr>
        <p:spPr>
          <a:xfrm>
            <a:off x="11896344" y="6136538"/>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예 — ‘새벽 대기용 접이의자’를 만들면, 그것을 접어 옮기는 동작, 놓아 두는 자리, 비 올 때 덮는 것까지 함께 설계된다.</a:t>
            </a:r>
            <a:endParaRPr lang="en-US" sz="1800" dirty="0"/>
          </a:p>
        </p:txBody>
      </p:sp>
      <p:sp>
        <p:nvSpPr>
          <p:cNvPr id="25" name="Text 18"/>
          <p:cNvSpPr txBox="1"/>
          <p:nvPr/>
        </p:nvSpPr>
        <p:spPr>
          <a:xfrm>
            <a:off x="11887200" y="6933895"/>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여러분의 사물은 어떤 </a:t>
            </a:r>
            <a:pPr algn="l" indent="0" marL="0">
              <a:lnSpc>
                <a:spcPts val="3159"/>
              </a:lnSpc>
              <a:buNone/>
            </a:pPr>
            <a:r>
              <a:rPr lang="en-US" sz="2025" b="1" dirty="0">
                <a:solidFill>
                  <a:srgbClr val="9C2A1F"/>
                </a:solidFill>
                <a:latin typeface="Noto Serif KR" pitchFamily="34" charset="0"/>
                <a:ea typeface="Noto Serif KR" pitchFamily="34" charset="-122"/>
                <a:cs typeface="Noto Serif KR" pitchFamily="34" charset="-120"/>
              </a:rPr>
              <a:t>다른 사물</a:t>
            </a:r>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을 딸고 옵니까. 하나만 적어 봅시다.</a:t>
            </a:r>
            <a:endParaRPr lang="en-US" sz="2025" dirty="0"/>
          </a:p>
        </p:txBody>
      </p:sp>
      <p:sp>
        <p:nvSpPr>
          <p:cNvPr id="26" name="Shape 19"/>
          <p:cNvSpPr/>
          <p:nvPr/>
        </p:nvSpPr>
        <p:spPr>
          <a:xfrm>
            <a:off x="11620195" y="8324698"/>
            <a:ext cx="5524805" cy="1552651"/>
          </a:xfrm>
          <a:prstGeom prst="rect">
            <a:avLst/>
          </a:prstGeom>
          <a:solidFill>
            <a:srgbClr val="FFFFFF">
              <a:alpha val="36000"/>
            </a:srgbClr>
          </a:solidFill>
          <a:ln w="12700">
            <a:solidFill>
              <a:srgbClr val="BEB6A5"/>
            </a:solidFill>
            <a:prstDash val="solid"/>
          </a:ln>
        </p:spPr>
      </p:sp>
      <p:sp>
        <p:nvSpPr>
          <p:cNvPr id="27" name="Text 20"/>
          <p:cNvSpPr txBox="1"/>
          <p:nvPr/>
        </p:nvSpPr>
        <p:spPr>
          <a:xfrm>
            <a:off x="11878056" y="8524951"/>
            <a:ext cx="5010912"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7차시 전시에서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같은 사안의 사물들을 나란히 놓으면</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이 얽힘이 눈에 보인다. 모둠 배열의 근거로 쓸 수 있다.</a:t>
            </a:r>
            <a:endParaRPr lang="en-US" sz="1725" dirty="0"/>
          </a:p>
        </p:txBody>
      </p:sp>
      <p:sp>
        <p:nvSpPr>
          <p:cNvPr id="28" name="Text 21"/>
          <p:cNvSpPr txBox="1"/>
          <p:nvPr/>
        </p:nvSpPr>
        <p:spPr>
          <a:xfrm>
            <a:off x="1143000" y="9068105"/>
            <a:ext cx="10532974" cy="400507"/>
          </a:xfrm>
          <a:prstGeom prst="rect">
            <a:avLst/>
          </a:prstGeom>
          <a:noFill/>
          <a:ln/>
        </p:spPr>
        <p:txBody>
          <a:bodyPr wrap="none" lIns="0" tIns="0" rIns="0" bIns="0" rtlCol="0" anchor="ctr"/>
          <a:lstStyle/>
          <a:p>
            <a:pPr algn="l" indent="0" marL="0">
              <a:buNone/>
            </a:pPr>
            <a:r>
              <a:rPr lang="en-US" sz="1800" b="1" dirty="0">
                <a:solidFill>
                  <a:srgbClr val="17150F"/>
                </a:solidFill>
                <a:latin typeface="Noto Serif KR" pitchFamily="34" charset="0"/>
                <a:ea typeface="Noto Serif KR" pitchFamily="34" charset="-122"/>
                <a:cs typeface="Noto Serif KR" pitchFamily="34" charset="-120"/>
              </a:rPr>
              <a:t>학습지 4 ①번 칸</a:t>
            </a:r>
            <a:pPr algn="l" indent="0" marL="0">
              <a:buNone/>
            </a:pPr>
            <a:r>
              <a:rPr lang="en-US" sz="1800" dirty="0">
                <a:solidFill>
                  <a:srgbClr val="3A362C"/>
                </a:solidFill>
                <a:latin typeface="Noto Serif KR" pitchFamily="34" charset="0"/>
                <a:ea typeface="Noto Serif KR" pitchFamily="34" charset="-122"/>
                <a:cs typeface="Noto Serif KR" pitchFamily="34" charset="-120"/>
              </a:rPr>
              <a:t>에 위 네 단계를 자기 사물에 맞춰 적는다. 각 단계에 최소 한 항목씩 채운다.</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5753405"/>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0873d685a9ad3055ef313a79b25978e4.jpg">    </p:cNvPr>
          <p:cNvPicPr>
            <a:picLocks noChangeAspect="1"/>
          </p:cNvPicPr>
          <p:nvPr/>
        </p:nvPicPr>
        <p:blipFill>
          <a:blip r:embed="rId3"/>
          <a:stretch/>
        </p:blipFill>
        <p:spPr>
          <a:xfrm>
            <a:off x="1759915" y="1438351"/>
            <a:ext cx="8575854"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발굴 현장의 기록 방식</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4—03</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4—03</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차탈회위크 발굴 현장, 튀르키예 코니아. 약 9,000년 전부터 사람이 살았던 신석기 정착지로, 이언 호더가 주도한 장기 발굴 프로젝트가 진행되었다.</a:t>
            </a:r>
            <a:endParaRPr lang="en-US" sz="1725" dirty="0"/>
          </a:p>
        </p:txBody>
      </p:sp>
      <p:sp>
        <p:nvSpPr>
          <p:cNvPr id="9" name="Text 4"/>
          <p:cNvSpPr txBox="1"/>
          <p:nvPr/>
        </p:nvSpPr>
        <p:spPr>
          <a:xfrm>
            <a:off x="1143000" y="83439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사진에서 눈에 띄는 것은 유물이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격자와 번호표, 층위를 나누는 선</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발굴은 파내는 일이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위치를 기록하는 일</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어느 층, 어느 칸, 어느 깊이에서 나왔는지가 사물의 의미를 결정한다.</a:t>
            </a:r>
            <a:endParaRPr lang="en-US" sz="1875" dirty="0"/>
          </a:p>
        </p:txBody>
      </p:sp>
      <p:sp>
        <p:nvSpPr>
          <p:cNvPr id="10" name="Shape 5"/>
          <p:cNvSpPr/>
          <p:nvPr/>
        </p:nvSpPr>
        <p:spPr>
          <a:xfrm>
            <a:off x="11525098" y="1429207"/>
            <a:ext cx="5619902" cy="3638398"/>
          </a:xfrm>
          <a:prstGeom prst="rect">
            <a:avLst/>
          </a:prstGeom>
          <a:solidFill>
            <a:srgbClr val="FFFFFF">
              <a:alpha val="42000"/>
            </a:srgbClr>
          </a:solidFill>
          <a:ln w="12700">
            <a:solidFill>
              <a:srgbClr val="BEB6A5"/>
            </a:solidFill>
            <a:prstDash val="solid"/>
          </a:ln>
        </p:spPr>
      </p:sp>
      <p:sp>
        <p:nvSpPr>
          <p:cNvPr id="11" name="Text 6"/>
          <p:cNvSpPr txBox="1"/>
          <p:nvPr/>
        </p:nvSpPr>
        <p:spPr>
          <a:xfrm>
            <a:off x="11782044" y="1695298"/>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유적명</a:t>
            </a:r>
            <a:endParaRPr lang="en-US" sz="1650" dirty="0"/>
          </a:p>
        </p:txBody>
      </p:sp>
      <p:sp>
        <p:nvSpPr>
          <p:cNvPr id="12" name="Text 7"/>
          <p:cNvSpPr txBox="1"/>
          <p:nvPr/>
        </p:nvSpPr>
        <p:spPr>
          <a:xfrm>
            <a:off x="13382244" y="1647749"/>
            <a:ext cx="281818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차탈회위크 Çatalhöyük</a:t>
            </a:r>
            <a:endParaRPr lang="en-US" sz="1875" dirty="0"/>
          </a:p>
        </p:txBody>
      </p:sp>
      <p:sp>
        <p:nvSpPr>
          <p:cNvPr id="13" name="Text 8"/>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위치</a:t>
            </a:r>
            <a:endParaRPr lang="en-US" sz="1650" dirty="0"/>
          </a:p>
        </p:txBody>
      </p:sp>
      <p:sp>
        <p:nvSpPr>
          <p:cNvPr id="14" name="Text 9"/>
          <p:cNvSpPr txBox="1"/>
          <p:nvPr/>
        </p:nvSpPr>
        <p:spPr>
          <a:xfrm>
            <a:off x="13382244" y="2090318"/>
            <a:ext cx="227411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튀르키예 코니아 주</a:t>
            </a:r>
            <a:endParaRPr lang="en-US" sz="1875" dirty="0"/>
          </a:p>
        </p:txBody>
      </p:sp>
      <p:sp>
        <p:nvSpPr>
          <p:cNvPr id="15" name="Text 10"/>
          <p:cNvSpPr txBox="1"/>
          <p:nvPr/>
        </p:nvSpPr>
        <p:spPr>
          <a:xfrm>
            <a:off x="11782044" y="25813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시기</a:t>
            </a:r>
            <a:endParaRPr lang="en-US" sz="1650" dirty="0"/>
          </a:p>
        </p:txBody>
      </p:sp>
      <p:sp>
        <p:nvSpPr>
          <p:cNvPr id="16" name="Text 11"/>
          <p:cNvSpPr txBox="1"/>
          <p:nvPr/>
        </p:nvSpPr>
        <p:spPr>
          <a:xfrm>
            <a:off x="13382244" y="2533802"/>
            <a:ext cx="33723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신석기 — 약 9,000년간 거주</a:t>
            </a:r>
            <a:endParaRPr lang="en-US" sz="1875" dirty="0"/>
          </a:p>
        </p:txBody>
      </p:sp>
      <p:sp>
        <p:nvSpPr>
          <p:cNvPr id="17" name="Text 12"/>
          <p:cNvSpPr txBox="1"/>
          <p:nvPr/>
        </p:nvSpPr>
        <p:spPr>
          <a:xfrm>
            <a:off x="11782044" y="302392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발굴 주도</a:t>
            </a:r>
            <a:endParaRPr lang="en-US" sz="1650" dirty="0"/>
          </a:p>
        </p:txBody>
      </p:sp>
      <p:sp>
        <p:nvSpPr>
          <p:cNvPr id="18" name="Text 13"/>
          <p:cNvSpPr txBox="1"/>
          <p:nvPr/>
        </p:nvSpPr>
        <p:spPr>
          <a:xfrm>
            <a:off x="13382244" y="2976372"/>
            <a:ext cx="34006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이언 호더(스탠퍼드대) 장기 프로젝트</a:t>
            </a:r>
            <a:endParaRPr lang="en-US" sz="1875" dirty="0"/>
          </a:p>
        </p:txBody>
      </p:sp>
      <p:sp>
        <p:nvSpPr>
          <p:cNvPr id="19" name="Text 14"/>
          <p:cNvSpPr txBox="1"/>
          <p:nvPr/>
        </p:nvSpPr>
        <p:spPr>
          <a:xfrm>
            <a:off x="11782044" y="382402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특징</a:t>
            </a:r>
            <a:endParaRPr lang="en-US" sz="1650" dirty="0"/>
          </a:p>
        </p:txBody>
      </p:sp>
      <p:sp>
        <p:nvSpPr>
          <p:cNvPr id="20" name="Text 15"/>
          <p:cNvSpPr txBox="1"/>
          <p:nvPr/>
        </p:nvSpPr>
        <p:spPr>
          <a:xfrm>
            <a:off x="13382244" y="3776472"/>
            <a:ext cx="3448202"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주거지가 층층이 쌓여 재건축된 구조. 벽화·매장·일상 도구가 함께 출토</a:t>
            </a:r>
            <a:endParaRPr lang="en-US" sz="1875" dirty="0"/>
          </a:p>
        </p:txBody>
      </p:sp>
      <p:sp>
        <p:nvSpPr>
          <p:cNvPr id="21" name="Text 16"/>
          <p:cNvSpPr txBox="1"/>
          <p:nvPr/>
        </p:nvSpPr>
        <p:spPr>
          <a:xfrm>
            <a:off x="11525098" y="5410505"/>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우리 설계에 옮길 세 가지</a:t>
            </a:r>
            <a:endParaRPr lang="en-US" sz="1725" dirty="0"/>
          </a:p>
        </p:txBody>
      </p:sp>
      <p:sp>
        <p:nvSpPr>
          <p:cNvPr id="22" name="Text 17"/>
          <p:cNvSpPr txBox="1"/>
          <p:nvPr/>
        </p:nvSpPr>
        <p:spPr>
          <a:xfrm>
            <a:off x="11525098" y="6019495"/>
            <a:ext cx="5619902" cy="2298802"/>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출토 지점</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어디에서 발견되었다고 설정할 것인가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층위</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얼마나 깊이 묻혀 있었는가(=시간의 두께)</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동반 출토품</a:t>
            </a:r>
            <a:pPr algn="l" indent="0" marL="0">
              <a:buNone/>
            </a:pPr>
            <a:r>
              <a:rPr lang="en-US" sz="1800" dirty="0">
                <a:solidFill>
                  <a:srgbClr val="3A362C"/>
                </a:solidFill>
                <a:latin typeface="Noto Serif KR" pitchFamily="34" charset="0"/>
                <a:ea typeface="Noto Serif KR" pitchFamily="34" charset="-122"/>
                <a:cs typeface="Noto Serif KR" pitchFamily="34" charset="-120"/>
              </a:rPr>
              <a:t> — 함께 나온 것이 있는가. 있으면 해석이 달라진다</a:t>
            </a:r>
            <a:endParaRPr lang="en-US" sz="1200" dirty="0"/>
          </a:p>
        </p:txBody>
      </p:sp>
      <p:sp>
        <p:nvSpPr>
          <p:cNvPr id="23" name="Shape 18"/>
          <p:cNvSpPr/>
          <p:nvPr/>
        </p:nvSpPr>
        <p:spPr>
          <a:xfrm>
            <a:off x="11525098" y="8305495"/>
            <a:ext cx="5619902" cy="1552651"/>
          </a:xfrm>
          <a:prstGeom prst="rect">
            <a:avLst/>
          </a:prstGeom>
          <a:solidFill>
            <a:srgbClr val="9C2A1F">
              <a:alpha val="6000"/>
            </a:srgbClr>
          </a:solidFill>
          <a:ln w="12700">
            <a:solidFill>
              <a:srgbClr val="9C2A1F"/>
            </a:solidFill>
            <a:prstDash val="solid"/>
          </a:ln>
        </p:spPr>
      </p:sp>
      <p:sp>
        <p:nvSpPr>
          <p:cNvPr id="24" name="Text 19"/>
          <p:cNvSpPr txBox="1"/>
          <p:nvPr/>
        </p:nvSpPr>
        <p:spPr>
          <a:xfrm>
            <a:off x="11782044" y="8505749"/>
            <a:ext cx="5106010" cy="1153058"/>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설계 카드 연결</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세 항목이 카드의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‘수습 경위’ 칸</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에 그대로 들어간다. “어디서 어떻게 발견되었다”가 구체적이면 유물이 성립한다.</a:t>
            </a:r>
            <a:endParaRPr lang="en-US" sz="1725" dirty="0"/>
          </a:p>
        </p:txBody>
      </p:sp>
      <p:sp>
        <p:nvSpPr>
          <p:cNvPr id="25" name="Text 20"/>
          <p:cNvSpPr txBox="1"/>
          <p:nvPr/>
        </p:nvSpPr>
        <p:spPr>
          <a:xfrm>
            <a:off x="1143000" y="9620402"/>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차탈회위크 연구 프로젝트 공식 사이트(catalhoyuk.com), 저자 사이트 ian-hodder.com, Cabinet Magazine 「Neolithic Joy」 인터뷰</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08ff2ca3b8d6cc29c036071fb8f63e3b.jpg">    </p:cNvPr>
          <p:cNvPicPr>
            <a:picLocks noChangeAspect="1"/>
          </p:cNvPicPr>
          <p:nvPr/>
        </p:nvPicPr>
        <p:blipFill>
          <a:blip r:embed="rId1">
            <a:alphaModFix amt="88000"/>
          </a:blip>
          <a:stretch>
            <a:fillRect/>
          </a:stretch>
        </p:blipFill>
        <p:spPr>
          <a:xfrm>
            <a:off x="11239805" y="0"/>
            <a:ext cx="7048500"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2 · 30–55분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02</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닳은 자리가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행위를 기록한다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 절이 이 차시의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기술적 핵심</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이다. 사용흔 분석은 유물에서 행위를 복원하는 방법이며, 우리는 그 절차를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역방향으로</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사용한다 — 행위를 정한 뒤 그에 맞는 흔적을 설계한다.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전개 2 — 사용흔 분석</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496105"/>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마이클 쉬퍼의 행위연쇄 분석</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④</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사물의 생애를 여섯 단계로</a:t>
            </a:r>
            <a:endParaRPr lang="en-US" sz="3450" dirty="0"/>
          </a:p>
        </p:txBody>
      </p:sp>
      <p:sp>
        <p:nvSpPr>
          <p:cNvPr id="7" name="Shape 3"/>
          <p:cNvSpPr/>
          <p:nvPr/>
        </p:nvSpPr>
        <p:spPr>
          <a:xfrm>
            <a:off x="11620195" y="1466698"/>
            <a:ext cx="5524805" cy="4181551"/>
          </a:xfrm>
          <a:prstGeom prst="rect">
            <a:avLst/>
          </a:prstGeom>
          <a:solidFill>
            <a:srgbClr val="FFFFFF">
              <a:alpha val="42000"/>
            </a:srgbClr>
          </a:solidFill>
          <a:ln w="12700">
            <a:solidFill>
              <a:srgbClr val="BEB6A5"/>
            </a:solidFill>
            <a:prstDash val="solid"/>
          </a:ln>
        </p:spPr>
      </p:sp>
      <p:sp>
        <p:nvSpPr>
          <p:cNvPr id="8"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9" name="Text 5"/>
          <p:cNvSpPr txBox="1"/>
          <p:nvPr/>
        </p:nvSpPr>
        <p:spPr>
          <a:xfrm>
            <a:off x="13478256" y="1686154"/>
            <a:ext cx="183885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마이클 B. 쉬퍼</a:t>
            </a:r>
            <a:endParaRPr lang="en-US" sz="1875" dirty="0"/>
          </a:p>
        </p:txBody>
      </p:sp>
      <p:sp>
        <p:nvSpPr>
          <p:cNvPr id="10" name="Text 6"/>
          <p:cNvSpPr txBox="1"/>
          <p:nvPr/>
        </p:nvSpPr>
        <p:spPr>
          <a:xfrm>
            <a:off x="13478256" y="2042770"/>
            <a:ext cx="26865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Michael B. Schiffer</a:t>
            </a:r>
            <a:endParaRPr lang="en-US" sz="1875" dirty="0"/>
          </a:p>
        </p:txBody>
      </p:sp>
      <p:sp>
        <p:nvSpPr>
          <p:cNvPr id="11" name="Text 7"/>
          <p:cNvSpPr txBox="1"/>
          <p:nvPr/>
        </p:nvSpPr>
        <p:spPr>
          <a:xfrm>
            <a:off x="11878056" y="253380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주요 논문</a:t>
            </a:r>
            <a:endParaRPr lang="en-US" sz="1650" dirty="0"/>
          </a:p>
        </p:txBody>
      </p:sp>
      <p:sp>
        <p:nvSpPr>
          <p:cNvPr id="12" name="Text 8"/>
          <p:cNvSpPr txBox="1"/>
          <p:nvPr/>
        </p:nvSpPr>
        <p:spPr>
          <a:xfrm>
            <a:off x="13478256" y="2486254"/>
            <a:ext cx="22768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「Behavioral Chain Analysis」</a:t>
            </a:r>
            <a:endParaRPr lang="en-US" sz="1875" dirty="0"/>
          </a:p>
        </p:txBody>
      </p:sp>
      <p:sp>
        <p:nvSpPr>
          <p:cNvPr id="13" name="Text 9"/>
          <p:cNvSpPr txBox="1"/>
          <p:nvPr/>
        </p:nvSpPr>
        <p:spPr>
          <a:xfrm>
            <a:off x="13478256" y="3200400"/>
            <a:ext cx="2666390" cy="342900"/>
          </a:xfrm>
          <a:prstGeom prst="rect">
            <a:avLst/>
          </a:prstGeom>
          <a:noFill/>
          <a:ln/>
        </p:spPr>
        <p:txBody>
          <a:bodyPr wrap="none" lIns="0" tIns="0" rIns="0" bIns="0" rtlCol="0" anchor="ctr"/>
          <a:lstStyle/>
          <a:p>
            <a:pPr algn="l" indent="0" marL="0">
              <a:buNone/>
            </a:pPr>
            <a:r>
              <a:rPr lang="en-US" sz="1875" i="1" dirty="0">
                <a:solidFill>
                  <a:srgbClr val="17150F"/>
                </a:solidFill>
                <a:latin typeface="Noto Serif KR" pitchFamily="34" charset="0"/>
                <a:ea typeface="Noto Serif KR" pitchFamily="34" charset="-122"/>
                <a:cs typeface="Noto Serif KR" pitchFamily="34" charset="-120"/>
              </a:rPr>
              <a:t>American Antiquity</a:t>
            </a:r>
            <a:endParaRPr lang="en-US" sz="1875" dirty="0"/>
          </a:p>
        </p:txBody>
      </p:sp>
      <p:sp>
        <p:nvSpPr>
          <p:cNvPr id="14" name="Text 10"/>
          <p:cNvSpPr txBox="1"/>
          <p:nvPr/>
        </p:nvSpPr>
        <p:spPr>
          <a:xfrm>
            <a:off x="15815462" y="3200400"/>
            <a:ext cx="80558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 1975</a:t>
            </a:r>
            <a:endParaRPr lang="en-US" sz="1875" dirty="0"/>
          </a:p>
        </p:txBody>
      </p:sp>
      <p:sp>
        <p:nvSpPr>
          <p:cNvPr id="15" name="Text 11"/>
          <p:cNvSpPr txBox="1"/>
          <p:nvPr/>
        </p:nvSpPr>
        <p:spPr>
          <a:xfrm>
            <a:off x="11878056" y="369051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주요 저작</a:t>
            </a:r>
            <a:endParaRPr lang="en-US" sz="1650" dirty="0"/>
          </a:p>
        </p:txBody>
      </p:sp>
      <p:sp>
        <p:nvSpPr>
          <p:cNvPr id="16" name="Text 12"/>
          <p:cNvSpPr txBox="1"/>
          <p:nvPr/>
        </p:nvSpPr>
        <p:spPr>
          <a:xfrm>
            <a:off x="13478256" y="3642970"/>
            <a:ext cx="3372307"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『Formation Processes of the Archaeological Record』(1987)</a:t>
            </a:r>
            <a:endParaRPr lang="en-US" sz="1875" dirty="0"/>
          </a:p>
        </p:txBody>
      </p:sp>
      <p:sp>
        <p:nvSpPr>
          <p:cNvPr id="17" name="Text 13"/>
          <p:cNvSpPr txBox="1"/>
          <p:nvPr/>
        </p:nvSpPr>
        <p:spPr>
          <a:xfrm>
            <a:off x="13478256" y="4714646"/>
            <a:ext cx="31345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『Behavioral Archaeology: First Principles』(2016)</a:t>
            </a:r>
            <a:endParaRPr lang="en-US" sz="1875" dirty="0"/>
          </a:p>
        </p:txBody>
      </p:sp>
      <p:sp>
        <p:nvSpPr>
          <p:cNvPr id="18" name="Text 14"/>
          <p:cNvSpPr txBox="1"/>
          <p:nvPr/>
        </p:nvSpPr>
        <p:spPr>
          <a:xfrm>
            <a:off x="1143000" y="2343607"/>
            <a:ext cx="9811512" cy="771754"/>
          </a:xfrm>
          <a:prstGeom prst="rect">
            <a:avLst/>
          </a:prstGeom>
          <a:noFill/>
          <a:ln/>
        </p:spPr>
        <p:txBody>
          <a:bodyPr wrap="square" lIns="0" tIns="0" rIns="0" bIns="0" rtlCol="0" anchor="ctr"/>
          <a:lstStyle/>
          <a:p>
            <a:pPr algn="l" indent="0" marL="0">
              <a:lnSpc>
                <a:spcPts val="3038"/>
              </a:lnSpc>
              <a:buNone/>
            </a:pPr>
            <a:r>
              <a:rPr lang="en-US" sz="1875" i="1" dirty="0">
                <a:solidFill>
                  <a:srgbClr val="17150F"/>
                </a:solidFill>
                <a:latin typeface="Noto Serif KR" pitchFamily="34" charset="0"/>
                <a:ea typeface="Noto Serif KR" pitchFamily="34" charset="-122"/>
                <a:cs typeface="Noto Serif KR" pitchFamily="34" charset="-120"/>
              </a:rPr>
              <a:t>“The modified approach makes use of behavioral chain analysis — an explicit procedure for hypothesizing past activities and determining…”</a:t>
            </a:r>
            <a:endParaRPr lang="en-US" sz="1875" dirty="0"/>
          </a:p>
        </p:txBody>
      </p:sp>
      <p:sp>
        <p:nvSpPr>
          <p:cNvPr id="19" name="Text 15"/>
          <p:cNvSpPr txBox="1"/>
          <p:nvPr/>
        </p:nvSpPr>
        <p:spPr>
          <a:xfrm>
            <a:off x="1143000" y="3228746"/>
            <a:ext cx="9811512" cy="819302"/>
          </a:xfrm>
          <a:prstGeom prst="rect">
            <a:avLst/>
          </a:prstGeom>
          <a:noFill/>
          <a:ln/>
        </p:spPr>
        <p:txBody>
          <a:bodyPr wrap="square" lIns="0" tIns="0" rIns="0" bIns="0" rtlCol="0" anchor="ctr"/>
          <a:lstStyle/>
          <a:p>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수정된 접근은 </a:t>
            </a:r>
            <a:pPr algn="l" indent="0" marL="0">
              <a:lnSpc>
                <a:spcPts val="3225"/>
              </a:lnSpc>
              <a:buNone/>
            </a:pPr>
            <a:r>
              <a:rPr lang="en-US" sz="1875" b="1" dirty="0">
                <a:solidFill>
                  <a:srgbClr val="3A362C"/>
                </a:solidFill>
                <a:latin typeface="Noto Serif KR" pitchFamily="34" charset="0"/>
                <a:ea typeface="Noto Serif KR" pitchFamily="34" charset="-122"/>
                <a:cs typeface="Noto Serif KR" pitchFamily="34" charset="-120"/>
              </a:rPr>
              <a:t>행위연쇄 분석</a:t>
            </a:r>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을 사용한다. 이는 과거의 활동을 가설로 세우고 확정하기 위한 명시적 절차다.</a:t>
            </a:r>
            <a:endParaRPr lang="en-US" sz="1875" dirty="0"/>
          </a:p>
        </p:txBody>
      </p:sp>
      <p:sp>
        <p:nvSpPr>
          <p:cNvPr id="20" name="Text 16"/>
          <p:cNvSpPr txBox="1"/>
          <p:nvPr/>
        </p:nvSpPr>
        <p:spPr>
          <a:xfrm>
            <a:off x="1143000" y="4143146"/>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Schiffer(1975), 「Behavioral Chain Analysis」 · 출처: JSTOR 서지(29782476)</a:t>
            </a:r>
            <a:endParaRPr lang="en-US" sz="1650" dirty="0"/>
          </a:p>
        </p:txBody>
      </p:sp>
      <p:sp>
        <p:nvSpPr>
          <p:cNvPr id="21" name="Text 17"/>
          <p:cNvSpPr txBox="1"/>
          <p:nvPr/>
        </p:nvSpPr>
        <p:spPr>
          <a:xfrm>
            <a:off x="1143000" y="4800600"/>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행위연쇄의 여섯 단계 — 각 단계가 다른 흔적을 남긴다</a:t>
            </a:r>
            <a:endParaRPr lang="en-US" sz="16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143000" y="5201107"/>
          <a:ext cx="9811512" cy="4648810"/>
        </p:xfrm>
        <a:graphic>
          <a:graphicData uri="http://schemas.openxmlformats.org/drawingml/2006/table">
            <a:tbl>
              <a:tblPr/>
              <a:tblGrid>
                <a:gridCol w="2000707"/>
                <a:gridCol w="7810805"/>
              </a:tblGrid>
              <a:tr h="664116">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단계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남는 흔적</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재료 획득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원산지의 특성, 채취 도구의 자국</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제작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가공 방향, 성형 방식, 마감의 정도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사용</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마모·광택·긁힘</a:t>
                      </a:r>
                      <a:pPr indent="0" marL="0">
                        <a:buNone/>
                      </a:pPr>
                      <a:r>
                        <a:rPr lang="en-US" sz="1875" dirty="0">
                          <a:solidFill>
                            <a:srgbClr val="3A362C"/>
                          </a:solidFill>
                          <a:latin typeface="Noto Serif KR" pitchFamily="34" charset="0"/>
                          <a:ea typeface="Noto Serif KR" pitchFamily="34" charset="-122"/>
                          <a:cs typeface="Noto Serif KR" pitchFamily="34" charset="-120"/>
                        </a:rPr>
                        <a:t> — 가장 중요한 단계</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재사용</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원래 용도와 다른 위치의 마모, </a:t>
                      </a:r>
                      <a:pPr indent="0" marL="0">
                        <a:buNone/>
                      </a:pPr>
                      <a:r>
                        <a:rPr lang="en-US" sz="1875" b="1" dirty="0">
                          <a:solidFill>
                            <a:srgbClr val="17150F"/>
                          </a:solidFill>
                          <a:latin typeface="Noto Serif KR" pitchFamily="34" charset="0"/>
                          <a:ea typeface="Noto Serif KR" pitchFamily="34" charset="-122"/>
                          <a:cs typeface="Noto Serif KR" pitchFamily="34" charset="-120"/>
                        </a:rPr>
                        <a:t>수리 흔적</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⑤ 폐기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파손의 유형, 버려진 위치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⑥ 매몰 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흙의 압력에 의한 변형, 부식, 뿌리 자국</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3" name="Shape 18"/>
          <p:cNvSpPr/>
          <p:nvPr/>
        </p:nvSpPr>
        <p:spPr>
          <a:xfrm>
            <a:off x="11620195" y="3810305"/>
            <a:ext cx="5524805" cy="4476902"/>
          </a:xfrm>
          <a:prstGeom prst="rect">
            <a:avLst/>
          </a:prstGeom>
          <a:solidFill>
            <a:srgbClr val="9C2A1F">
              <a:alpha val="6000"/>
            </a:srgbClr>
          </a:solidFill>
          <a:ln w="12700">
            <a:solidFill>
              <a:srgbClr val="9C2A1F"/>
            </a:solidFill>
            <a:prstDash val="solid"/>
          </a:ln>
        </p:spPr>
      </p:sp>
      <p:sp>
        <p:nvSpPr>
          <p:cNvPr id="24" name="Text 19"/>
          <p:cNvSpPr txBox="1"/>
          <p:nvPr/>
        </p:nvSpPr>
        <p:spPr>
          <a:xfrm>
            <a:off x="11896344" y="4048049"/>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표가 설계의 핵심 도구다</a:t>
            </a:r>
            <a:endParaRPr lang="en-US" sz="1575" dirty="0"/>
          </a:p>
        </p:txBody>
      </p:sp>
      <p:pic>
        <p:nvPicPr>
          <p:cNvPr id="25" name="Image 2" descr="gen-dedup-27ae280773eedb088e0c817c49142db0.png">    </p:cNvPr>
          <p:cNvPicPr>
            <a:picLocks noChangeAspect="1"/>
          </p:cNvPicPr>
          <p:nvPr/>
        </p:nvPicPr>
        <p:blipFill>
          <a:blip r:embed="rId3"/>
          <a:stretch/>
        </p:blipFill>
        <p:spPr>
          <a:xfrm>
            <a:off x="11996054" y="4466844"/>
            <a:ext cx="4773087" cy="9144"/>
          </a:xfrm>
          <a:prstGeom prst="rect">
            <a:avLst/>
          </a:prstGeom>
        </p:spPr>
      </p:pic>
      <p:sp>
        <p:nvSpPr>
          <p:cNvPr id="26" name="Text 20"/>
          <p:cNvSpPr txBox="1"/>
          <p:nvPr/>
        </p:nvSpPr>
        <p:spPr>
          <a:xfrm>
            <a:off x="11896344" y="4629607"/>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여러분이 흔히 하는 실수는 ③ 사용 단계의 흔적만 넣는 것이다. 실제 유물에는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⑥ 매몰 후의 흔적</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도 반드시 있다.</a:t>
            </a:r>
            <a:endParaRPr lang="en-US" sz="1800" dirty="0"/>
          </a:p>
        </p:txBody>
      </p:sp>
      <p:pic>
        <p:nvPicPr>
          <p:cNvPr id="27" name="Image 3" descr="gen-dedup-23822cb4f3c5edd0692bae0502c88a4a.png">    </p:cNvPr>
          <p:cNvPicPr>
            <a:picLocks noChangeAspect="1"/>
          </p:cNvPicPr>
          <p:nvPr/>
        </p:nvPicPr>
        <p:blipFill>
          <a:blip r:embed="rId4"/>
          <a:stretch/>
        </p:blipFill>
        <p:spPr>
          <a:xfrm>
            <a:off x="11996054" y="5974690"/>
            <a:ext cx="4773087" cy="9144"/>
          </a:xfrm>
          <a:prstGeom prst="rect">
            <a:avLst/>
          </a:prstGeom>
        </p:spPr>
      </p:pic>
      <p:sp>
        <p:nvSpPr>
          <p:cNvPr id="28" name="Text 21"/>
          <p:cNvSpPr txBox="1"/>
          <p:nvPr/>
        </p:nvSpPr>
        <p:spPr>
          <a:xfrm>
            <a:off x="11896344" y="6136538"/>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예 — 표면 부식, 흙 얼룩, 한쪽으로 눌린 변형. 이것이 없으면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“방금 만든 물건”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처럼 보인다.</a:t>
            </a:r>
            <a:endParaRPr lang="en-US" sz="1800" dirty="0"/>
          </a:p>
        </p:txBody>
      </p:sp>
      <p:pic>
        <p:nvPicPr>
          <p:cNvPr id="29" name="Image 4" descr="gen-dedup-23822cb4f3c5edd0692bae0502c88a4a.png">    </p:cNvPr>
          <p:cNvPicPr>
            <a:picLocks noChangeAspect="1"/>
          </p:cNvPicPr>
          <p:nvPr/>
        </p:nvPicPr>
        <p:blipFill>
          <a:blip r:embed="rId5"/>
          <a:stretch/>
        </p:blipFill>
        <p:spPr>
          <a:xfrm>
            <a:off x="11996054" y="7084771"/>
            <a:ext cx="4773087" cy="9144"/>
          </a:xfrm>
          <a:prstGeom prst="rect">
            <a:avLst/>
          </a:prstGeom>
        </p:spPr>
      </p:pic>
      <p:sp>
        <p:nvSpPr>
          <p:cNvPr id="30" name="Text 22"/>
          <p:cNvSpPr txBox="1"/>
          <p:nvPr/>
        </p:nvSpPr>
        <p:spPr>
          <a:xfrm>
            <a:off x="11896344" y="7246620"/>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5차시 프롬프트에서 ③과 ⑥을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둘 다 지정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해야 하는 이유다.</a:t>
            </a:r>
            <a:endParaRPr lang="en-US" sz="1800" dirty="0"/>
          </a:p>
        </p:txBody>
      </p:sp>
      <p:sp>
        <p:nvSpPr>
          <p:cNvPr id="31" name="Text 23"/>
          <p:cNvSpPr txBox="1"/>
          <p:nvPr/>
        </p:nvSpPr>
        <p:spPr>
          <a:xfrm>
            <a:off x="11887200" y="7582205"/>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여러분의 사물은 ④ 재사용 단계를 거쳤습니까. 거쳤다면 어떻게 고쳐졌습니까.</a:t>
            </a:r>
            <a:endParaRPr lang="en-US" sz="2025" dirty="0"/>
          </a:p>
        </p:txBody>
      </p:sp>
      <p:sp>
        <p:nvSpPr>
          <p:cNvPr id="32" name="Text 24"/>
          <p:cNvSpPr txBox="1"/>
          <p:nvPr/>
        </p:nvSpPr>
        <p:spPr>
          <a:xfrm>
            <a:off x="11620195" y="9010498"/>
            <a:ext cx="55248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수리 흔적은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 사물이 귀했다는 증거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흔한 물건은 고치지 않고 버린다.</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953305"/>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고고학적 기록의 형성 과정</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⑤</a:t>
            </a:r>
            <a:endParaRPr lang="en-US" sz="1650" dirty="0"/>
          </a:p>
        </p:txBody>
      </p:sp>
      <p:sp>
        <p:nvSpPr>
          <p:cNvPr id="6"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지금 남아 있는 것은</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남겨진 것이 아니라 살아남은 것이다</a:t>
            </a:r>
            <a:endParaRPr lang="en-US" sz="3450" dirty="0"/>
          </a:p>
        </p:txBody>
      </p:sp>
      <p:sp>
        <p:nvSpPr>
          <p:cNvPr id="7" name="Text 3"/>
          <p:cNvSpPr txBox="1"/>
          <p:nvPr/>
        </p:nvSpPr>
        <p:spPr>
          <a:xfrm>
            <a:off x="1143000" y="3047695"/>
            <a:ext cx="9811512" cy="18388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쉬퍼는 고고학적 기록이 그대로 보존된 과거가 아니라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여러 변형 과정을 통과한 결과</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라고 보았다. 그는 이를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n-transforms</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라 부르고, 생성·사용·재사용·퇴적 후 단계에서 각각 다른 변형이 일어난다고 정리했다. 유물을 읽으려면 먼저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어느 흔적이 어느 단계에서 생겼는지 분리</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해야 한다.</a:t>
            </a:r>
            <a:endParaRPr lang="en-US" sz="2025" dirty="0"/>
          </a:p>
        </p:txBody>
      </p:sp>
      <p:sp>
        <p:nvSpPr>
          <p:cNvPr id="8" name="Text 4"/>
          <p:cNvSpPr txBox="1"/>
          <p:nvPr/>
        </p:nvSpPr>
        <p:spPr>
          <a:xfrm>
            <a:off x="1143000" y="5257800"/>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흔적을 세 종류로 분리한다</a:t>
            </a:r>
            <a:endParaRPr lang="en-US" sz="16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143000" y="5658307"/>
          <a:ext cx="9811512" cy="3762756"/>
        </p:xfrm>
        <a:graphic>
          <a:graphicData uri="http://schemas.openxmlformats.org/drawingml/2006/table">
            <a:tbl>
              <a:tblPr/>
              <a:tblGrid>
                <a:gridCol w="2476195"/>
                <a:gridCol w="7334402"/>
              </a:tblGrid>
              <a:tr h="940689">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흔적의 종류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발생 시점과 특징</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사용에 의한 흔적</a:t>
                      </a:r>
                      <a:pPr indent="0" marL="0">
                        <a:buNone/>
                      </a:pPr>
                      <a:endParaRPr lang="en-US" sz="1200" dirty="0"/>
                    </a:p>
                    <a:p>
                      <a:pPr indent="0" marL="0">
                        <a:buNone/>
                      </a:pPr>
                      <a:r>
                        <a:rPr lang="en-US" sz="1575" dirty="0">
                          <a:solidFill>
                            <a:srgbClr val="918A7A"/>
                          </a:solidFill>
                          <a:latin typeface="IBM Plex Mono" pitchFamily="34" charset="0"/>
                          <a:ea typeface="IBM Plex Mono" pitchFamily="34" charset="-122"/>
                          <a:cs typeface="IBM Plex Mono" pitchFamily="34" charset="-120"/>
                        </a:rPr>
                        <a:t>c-use</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사람이 쓰는 동안 생긴다. 손이 닿는 자리, 힘이 걸리는 자리에 </a:t>
                      </a:r>
                      <a:pPr indent="0" marL="0">
                        <a:buNone/>
                      </a:pPr>
                      <a:r>
                        <a:rPr lang="en-US" sz="1875" b="1" dirty="0">
                          <a:solidFill>
                            <a:srgbClr val="17150F"/>
                          </a:solidFill>
                          <a:latin typeface="Noto Serif KR" pitchFamily="34" charset="0"/>
                          <a:ea typeface="Noto Serif KR" pitchFamily="34" charset="-122"/>
                          <a:cs typeface="Noto Serif KR" pitchFamily="34" charset="-120"/>
                        </a:rPr>
                        <a:t>규칙적으로</a:t>
                      </a:r>
                      <a:pPr indent="0" marL="0">
                        <a:buNone/>
                      </a:pPr>
                      <a:r>
                        <a:rPr lang="en-US" sz="1875" dirty="0">
                          <a:solidFill>
                            <a:srgbClr val="3A362C"/>
                          </a:solidFill>
                          <a:latin typeface="Noto Serif KR" pitchFamily="34" charset="0"/>
                          <a:ea typeface="Noto Serif KR" pitchFamily="34" charset="-122"/>
                          <a:cs typeface="Noto Serif KR" pitchFamily="34" charset="-120"/>
                        </a:rPr>
                        <a:t> 나타난다.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퇴적 후 흔적</a:t>
                      </a:r>
                      <a:pPr indent="0" marL="0">
                        <a:buNone/>
                      </a:pPr>
                      <a:endParaRPr lang="en-US" sz="1200" dirty="0"/>
                    </a:p>
                    <a:p>
                      <a:pPr indent="0" marL="0">
                        <a:buNone/>
                      </a:pPr>
                      <a:r>
                        <a:rPr lang="en-US" sz="1575" dirty="0">
                          <a:solidFill>
                            <a:srgbClr val="918A7A"/>
                          </a:solidFill>
                          <a:latin typeface="IBM Plex Mono" pitchFamily="34" charset="0"/>
                          <a:ea typeface="IBM Plex Mono" pitchFamily="34" charset="-122"/>
                          <a:cs typeface="IBM Plex Mono" pitchFamily="34" charset="-120"/>
                        </a:rPr>
                        <a:t>c-depositional</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묻힌 뒤 흙·물·압력에 의해 생긴다. 사용과 무관한 자리에도 </a:t>
                      </a:r>
                      <a:pPr indent="0" marL="0">
                        <a:buNone/>
                      </a:pPr>
                      <a:r>
                        <a:rPr lang="en-US" sz="1875" b="1" dirty="0">
                          <a:solidFill>
                            <a:srgbClr val="17150F"/>
                          </a:solidFill>
                          <a:latin typeface="Noto Serif KR" pitchFamily="34" charset="0"/>
                          <a:ea typeface="Noto Serif KR" pitchFamily="34" charset="-122"/>
                          <a:cs typeface="Noto Serif KR" pitchFamily="34" charset="-120"/>
                        </a:rPr>
                        <a:t>불규칙하게</a:t>
                      </a:r>
                      <a:pPr indent="0" marL="0">
                        <a:buNone/>
                      </a:pPr>
                      <a:r>
                        <a:rPr lang="en-US" sz="1875" dirty="0">
                          <a:solidFill>
                            <a:srgbClr val="3A362C"/>
                          </a:solidFill>
                          <a:latin typeface="Noto Serif KR" pitchFamily="34" charset="0"/>
                          <a:ea typeface="Noto Serif KR" pitchFamily="34" charset="-122"/>
                          <a:cs typeface="Noto Serif KR" pitchFamily="34" charset="-120"/>
                        </a:rPr>
                        <a:t> 나타난다.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자연 변형</a:t>
                      </a:r>
                      <a:pPr indent="0" marL="0">
                        <a:buNone/>
                      </a:pPr>
                      <a:endParaRPr lang="en-US" sz="1200" dirty="0"/>
                    </a:p>
                    <a:p>
                      <a:pPr indent="0" marL="0">
                        <a:buNone/>
                      </a:pPr>
                      <a:r>
                        <a:rPr lang="en-US" sz="1575" dirty="0">
                          <a:solidFill>
                            <a:srgbClr val="918A7A"/>
                          </a:solidFill>
                          <a:latin typeface="IBM Plex Mono" pitchFamily="34" charset="0"/>
                          <a:ea typeface="IBM Plex Mono" pitchFamily="34" charset="-122"/>
                          <a:cs typeface="IBM Plex Mono" pitchFamily="34" charset="-120"/>
                        </a:rPr>
                        <a:t>n-transforms</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부식·풍화·생물 작용. 재질에 따라 남는 정도가 크게 달라진다.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0" name="Shape 5"/>
          <p:cNvSpPr/>
          <p:nvPr/>
        </p:nvSpPr>
        <p:spPr>
          <a:xfrm>
            <a:off x="11620195" y="1466698"/>
            <a:ext cx="5524805" cy="4028846"/>
          </a:xfrm>
          <a:prstGeom prst="rect">
            <a:avLst/>
          </a:prstGeom>
          <a:solidFill>
            <a:srgbClr val="FFFFFF">
              <a:alpha val="42000"/>
            </a:srgbClr>
          </a:solidFill>
          <a:ln w="12700">
            <a:solidFill>
              <a:srgbClr val="BEB6A5"/>
            </a:solidFill>
            <a:prstDash val="solid"/>
          </a:ln>
        </p:spPr>
      </p:sp>
      <p:sp>
        <p:nvSpPr>
          <p:cNvPr id="11" name="Shape 6"/>
          <p:cNvSpPr/>
          <p:nvPr/>
        </p:nvSpPr>
        <p:spPr>
          <a:xfrm>
            <a:off x="11878056" y="4848149"/>
            <a:ext cx="5009998" cy="9144"/>
          </a:xfrm>
          <a:prstGeom prst="rect">
            <a:avLst/>
          </a:prstGeom>
          <a:solidFill>
            <a:srgbClr val="BEB6A5"/>
          </a:solidFill>
          <a:ln w="12700">
            <a:solidFill>
              <a:srgbClr val="BEB6A5">
                <a:alpha val="0"/>
              </a:srgbClr>
            </a:solidFill>
            <a:prstDash val="solid"/>
          </a:ln>
        </p:spPr>
      </p:sp>
      <p:sp>
        <p:nvSpPr>
          <p:cNvPr id="13" name="Text 8"/>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논문</a:t>
            </a:r>
            <a:endParaRPr lang="en-US" sz="1650" dirty="0"/>
          </a:p>
        </p:txBody>
      </p:sp>
      <p:sp>
        <p:nvSpPr>
          <p:cNvPr id="14" name="Text 9"/>
          <p:cNvSpPr txBox="1"/>
          <p:nvPr/>
        </p:nvSpPr>
        <p:spPr>
          <a:xfrm>
            <a:off x="13478256" y="1686154"/>
            <a:ext cx="3248863"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「Toward the Identification of Formation Processes」(1983)</a:t>
            </a:r>
            <a:endParaRPr lang="en-US" sz="1875" dirty="0"/>
          </a:p>
        </p:txBody>
      </p:sp>
      <p:sp>
        <p:nvSpPr>
          <p:cNvPr id="15" name="Text 10"/>
          <p:cNvSpPr txBox="1"/>
          <p:nvPr/>
        </p:nvSpPr>
        <p:spPr>
          <a:xfrm>
            <a:off x="11878056" y="28904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6" name="Text 11"/>
          <p:cNvSpPr txBox="1"/>
          <p:nvPr/>
        </p:nvSpPr>
        <p:spPr>
          <a:xfrm>
            <a:off x="13478256" y="2842870"/>
            <a:ext cx="3372307"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『Formation Processes of the Archaeological Record』(1987)</a:t>
            </a:r>
            <a:endParaRPr lang="en-US" sz="1875" dirty="0"/>
          </a:p>
        </p:txBody>
      </p:sp>
      <p:sp>
        <p:nvSpPr>
          <p:cNvPr id="17" name="Text 12"/>
          <p:cNvSpPr txBox="1"/>
          <p:nvPr/>
        </p:nvSpPr>
        <p:spPr>
          <a:xfrm>
            <a:off x="11878056" y="4048049"/>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핵심 개념</a:t>
            </a:r>
            <a:endParaRPr lang="en-US" sz="1650" dirty="0"/>
          </a:p>
        </p:txBody>
      </p:sp>
      <p:sp>
        <p:nvSpPr>
          <p:cNvPr id="18" name="Text 13"/>
          <p:cNvSpPr txBox="1"/>
          <p:nvPr/>
        </p:nvSpPr>
        <p:spPr>
          <a:xfrm>
            <a:off x="13478256" y="4000500"/>
            <a:ext cx="28483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n-transforms · c-use · c-depositional</a:t>
            </a:r>
            <a:endParaRPr lang="en-US" sz="1875" dirty="0"/>
          </a:p>
        </p:txBody>
      </p:sp>
      <p:sp>
        <p:nvSpPr>
          <p:cNvPr id="20" name="Text 15"/>
          <p:cNvSpPr txBox="1"/>
          <p:nvPr/>
        </p:nvSpPr>
        <p:spPr>
          <a:xfrm>
            <a:off x="11896344" y="4971594"/>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작업에 뒤집어 적용하기</a:t>
            </a:r>
            <a:endParaRPr lang="en-US" sz="1575" dirty="0"/>
          </a:p>
        </p:txBody>
      </p:sp>
      <p:pic>
        <p:nvPicPr>
          <p:cNvPr id="21" name="Image 2" descr="gen-dedup-27ae280773eedb088e0c817c49142db0.png">    </p:cNvPr>
          <p:cNvPicPr>
            <a:picLocks noChangeAspect="1"/>
          </p:cNvPicPr>
          <p:nvPr/>
        </p:nvPicPr>
        <p:blipFill>
          <a:blip r:embed="rId3"/>
          <a:stretch/>
        </p:blipFill>
        <p:spPr>
          <a:xfrm>
            <a:off x="11996054" y="5391304"/>
            <a:ext cx="4773087" cy="9144"/>
          </a:xfrm>
          <a:prstGeom prst="rect">
            <a:avLst/>
          </a:prstGeom>
        </p:spPr>
      </p:pic>
      <p:sp>
        <p:nvSpPr>
          <p:cNvPr id="22" name="Text 16"/>
          <p:cNvSpPr txBox="1"/>
          <p:nvPr/>
        </p:nvSpPr>
        <p:spPr>
          <a:xfrm>
            <a:off x="11896344" y="5553152"/>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고고학자는 흔적에서 행위를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복원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 우리는 반대로 간다 — 먼저 행위를 정하고, 그 행위가 남길 흔적을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역산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a:t>
            </a:r>
            <a:endParaRPr lang="en-US" sz="1800" dirty="0"/>
          </a:p>
        </p:txBody>
      </p:sp>
      <p:pic>
        <p:nvPicPr>
          <p:cNvPr id="23" name="Image 3" descr="gen-dedup-23822cb4f3c5edd0692bae0502c88a4a.png">    </p:cNvPr>
          <p:cNvPicPr>
            <a:picLocks noChangeAspect="1"/>
          </p:cNvPicPr>
          <p:nvPr/>
        </p:nvPicPr>
        <p:blipFill>
          <a:blip r:embed="rId4"/>
          <a:stretch/>
        </p:blipFill>
        <p:spPr>
          <a:xfrm>
            <a:off x="11996054" y="6899149"/>
            <a:ext cx="4773087" cy="9144"/>
          </a:xfrm>
          <a:prstGeom prst="rect">
            <a:avLst/>
          </a:prstGeom>
        </p:spPr>
      </p:pic>
      <p:sp>
        <p:nvSpPr>
          <p:cNvPr id="24" name="Text 17"/>
          <p:cNvSpPr txBox="1"/>
          <p:nvPr/>
        </p:nvSpPr>
        <p:spPr>
          <a:xfrm>
            <a:off x="11896344" y="7060998"/>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그래서 5차시 프롬프트에는 “무엇에 쓰였는가”와 “어떻게 묻혀 있었는가”가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둘 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들어간다.</a:t>
            </a:r>
            <a:endParaRPr lang="en-US" sz="1800" dirty="0"/>
          </a:p>
        </p:txBody>
      </p:sp>
      <p:sp>
        <p:nvSpPr>
          <p:cNvPr id="25" name="Text 18"/>
          <p:cNvSpPr txBox="1"/>
          <p:nvPr/>
        </p:nvSpPr>
        <p:spPr>
          <a:xfrm>
            <a:off x="11887200" y="8296352"/>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여러분이 방금 만든 사물 이미지에는 사용 흔적만 있습니까, 묻힌 흔적도 있습니까.</a:t>
            </a:r>
            <a:endParaRPr lang="en-US" sz="2025" dirty="0"/>
          </a:p>
        </p:txBody>
      </p:sp>
      <p:sp>
        <p:nvSpPr>
          <p:cNvPr id="26" name="Text 19"/>
          <p:cNvSpPr txBox="1"/>
          <p:nvPr/>
        </p:nvSpPr>
        <p:spPr>
          <a:xfrm>
            <a:off x="1143000" y="9620402"/>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Michael B. Schiffer, 「Toward the Identification of Formation Processes」(1983) 원문 PDF</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3933750"/>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bcd04b691ee427a9372976bc0c88a966.jpg">    </p:cNvPr>
          <p:cNvPicPr>
            <a:picLocks noChangeAspect="1"/>
          </p:cNvPicPr>
          <p:nvPr/>
        </p:nvPicPr>
        <p:blipFill>
          <a:blip r:embed="rId3"/>
          <a:stretch/>
        </p:blipFill>
        <p:spPr>
          <a:xfrm>
            <a:off x="2582891" y="1438351"/>
            <a:ext cx="6929900"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현미경으로 본 사용의 흔적</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4—04</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4—04</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석기 표면의 사용흔 검출 이미지. 도구 표면을 고배율로 촬영해 마모와 광택이 생긴 영역을 구분한 분석 자료.</a:t>
            </a:r>
            <a:endParaRPr lang="en-US" sz="1725" dirty="0"/>
          </a:p>
        </p:txBody>
      </p:sp>
      <p:sp>
        <p:nvSpPr>
          <p:cNvPr id="9" name="Text 4"/>
          <p:cNvSpPr txBox="1"/>
          <p:nvPr/>
        </p:nvSpPr>
        <p:spPr>
          <a:xfrm>
            <a:off x="1143000" y="82296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맨눈으로 보면 그냥 돌이다. 그러나 배율을 올리면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닳은 방향</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보인다. 방향이 일정하면 사람이 반복해서 같은 동작을 했다는 뜻이고, 방향이 뒤죽박죽이면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묻힌 뒤에 생긴 손상</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일 가능성이 크다. 흔적의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방향성</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사용과 매몰을 갈라 놓는다.</a:t>
            </a:r>
            <a:endParaRPr lang="en-US" sz="1875" dirty="0"/>
          </a:p>
        </p:txBody>
      </p:sp>
      <p:sp>
        <p:nvSpPr>
          <p:cNvPr id="10" name="Shape 5"/>
          <p:cNvSpPr/>
          <p:nvPr/>
        </p:nvSpPr>
        <p:spPr>
          <a:xfrm>
            <a:off x="11525098" y="1429207"/>
            <a:ext cx="5619902" cy="2686507"/>
          </a:xfrm>
          <a:prstGeom prst="rect">
            <a:avLst/>
          </a:prstGeom>
          <a:solidFill>
            <a:srgbClr val="FFFFFF">
              <a:alpha val="42000"/>
            </a:srgbClr>
          </a:solidFill>
          <a:ln w="12700">
            <a:solidFill>
              <a:srgbClr val="BEB6A5"/>
            </a:solidFill>
            <a:prstDash val="solid"/>
          </a:ln>
        </p:spPr>
      </p:sp>
      <p:sp>
        <p:nvSpPr>
          <p:cNvPr id="11" name="Shape 6"/>
          <p:cNvSpPr/>
          <p:nvPr/>
        </p:nvSpPr>
        <p:spPr>
          <a:xfrm>
            <a:off x="11782044" y="3467405"/>
            <a:ext cx="5105095" cy="9144"/>
          </a:xfrm>
          <a:prstGeom prst="rect">
            <a:avLst/>
          </a:prstGeom>
          <a:solidFill>
            <a:srgbClr val="BEB6A5"/>
          </a:solidFill>
          <a:ln w="12700">
            <a:solidFill>
              <a:srgbClr val="BEB6A5">
                <a:alpha val="0"/>
              </a:srgbClr>
            </a:solidFill>
            <a:prstDash val="solid"/>
          </a:ln>
        </p:spPr>
      </p:sp>
      <p:sp>
        <p:nvSpPr>
          <p:cNvPr id="13" name="Text 8"/>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분석 대상</a:t>
            </a:r>
            <a:endParaRPr lang="en-US" sz="1650" dirty="0"/>
          </a:p>
        </p:txBody>
      </p:sp>
      <p:sp>
        <p:nvSpPr>
          <p:cNvPr id="14" name="Text 9"/>
          <p:cNvSpPr txBox="1"/>
          <p:nvPr/>
        </p:nvSpPr>
        <p:spPr>
          <a:xfrm>
            <a:off x="13382244" y="1647749"/>
            <a:ext cx="25054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석기 표면(chert 등)</a:t>
            </a:r>
            <a:endParaRPr lang="en-US" sz="1875" dirty="0"/>
          </a:p>
        </p:txBody>
      </p:sp>
      <p:sp>
        <p:nvSpPr>
          <p:cNvPr id="15" name="Text 10"/>
          <p:cNvSpPr txBox="1"/>
          <p:nvPr/>
        </p:nvSpPr>
        <p:spPr>
          <a:xfrm>
            <a:off x="11782044" y="21387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관찰 배율</a:t>
            </a:r>
            <a:endParaRPr lang="en-US" sz="1650" dirty="0"/>
          </a:p>
        </p:txBody>
      </p:sp>
      <p:sp>
        <p:nvSpPr>
          <p:cNvPr id="16" name="Text 11"/>
          <p:cNvSpPr txBox="1"/>
          <p:nvPr/>
        </p:nvSpPr>
        <p:spPr>
          <a:xfrm>
            <a:off x="13382244" y="2090318"/>
            <a:ext cx="2279599"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통상 20배 ~ 200배</a:t>
            </a:r>
            <a:endParaRPr lang="en-US" sz="1875" dirty="0"/>
          </a:p>
        </p:txBody>
      </p:sp>
      <p:sp>
        <p:nvSpPr>
          <p:cNvPr id="17" name="Text 12"/>
          <p:cNvSpPr txBox="1"/>
          <p:nvPr/>
        </p:nvSpPr>
        <p:spPr>
          <a:xfrm>
            <a:off x="11782044" y="25813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확인 항목</a:t>
            </a:r>
            <a:endParaRPr lang="en-US" sz="1650" dirty="0"/>
          </a:p>
        </p:txBody>
      </p:sp>
      <p:sp>
        <p:nvSpPr>
          <p:cNvPr id="18" name="Text 13"/>
          <p:cNvSpPr txBox="1"/>
          <p:nvPr/>
        </p:nvSpPr>
        <p:spPr>
          <a:xfrm>
            <a:off x="13382244" y="2533802"/>
            <a:ext cx="42199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마모 방향 · 광택 분포 · 미세 결손</a:t>
            </a:r>
            <a:endParaRPr lang="en-US" sz="1875" dirty="0"/>
          </a:p>
        </p:txBody>
      </p:sp>
      <p:sp>
        <p:nvSpPr>
          <p:cNvPr id="19" name="Text 14"/>
          <p:cNvSpPr txBox="1"/>
          <p:nvPr/>
        </p:nvSpPr>
        <p:spPr>
          <a:xfrm>
            <a:off x="11782044" y="302392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학문 분야</a:t>
            </a:r>
            <a:endParaRPr lang="en-US" sz="1650" dirty="0"/>
          </a:p>
        </p:txBody>
      </p:sp>
      <p:sp>
        <p:nvSpPr>
          <p:cNvPr id="20" name="Text 15"/>
          <p:cNvSpPr txBox="1"/>
          <p:nvPr/>
        </p:nvSpPr>
        <p:spPr>
          <a:xfrm>
            <a:off x="13382244" y="2976372"/>
            <a:ext cx="39721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사용흔 분석 use-wear analysis</a:t>
            </a:r>
            <a:endParaRPr lang="en-US" sz="1875" dirty="0"/>
          </a:p>
        </p:txBody>
      </p:sp>
      <p:sp>
        <p:nvSpPr>
          <p:cNvPr id="21" name="Text 16"/>
          <p:cNvSpPr txBox="1"/>
          <p:nvPr/>
        </p:nvSpPr>
        <p:spPr>
          <a:xfrm>
            <a:off x="11525098" y="3590850"/>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2" name="Text 17"/>
          <p:cNvSpPr txBox="1"/>
          <p:nvPr/>
        </p:nvSpPr>
        <p:spPr>
          <a:xfrm>
            <a:off x="11525098" y="4199840"/>
            <a:ext cx="5619902" cy="233720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밝게 반사되는 영역은 어디입니까. 그곳이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손이나 대상이 닿은 자리</a:t>
            </a:r>
            <a:pPr algn="l" indent="0" marL="0">
              <a:buNone/>
            </a:pPr>
            <a:r>
              <a:rPr lang="en-US" sz="1800" dirty="0">
                <a:solidFill>
                  <a:srgbClr val="3A362C"/>
                </a:solidFill>
                <a:latin typeface="Noto Serif KR" pitchFamily="34" charset="0"/>
                <a:ea typeface="Noto Serif KR" pitchFamily="34" charset="-122"/>
                <a:cs typeface="Noto Serif KR" pitchFamily="34" charset="-120"/>
              </a:rPr>
              <a:t>입니다.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긁힌 선들이 같은 방향입니까, 다른 방향입니까.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도구는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자르는 데</a:t>
            </a:r>
            <a:pPr algn="l" indent="0" marL="0">
              <a:buNone/>
            </a:pPr>
            <a:r>
              <a:rPr lang="en-US" sz="1800" dirty="0">
                <a:solidFill>
                  <a:srgbClr val="3A362C"/>
                </a:solidFill>
                <a:latin typeface="Noto Serif KR" pitchFamily="34" charset="0"/>
                <a:ea typeface="Noto Serif KR" pitchFamily="34" charset="-122"/>
                <a:cs typeface="Noto Serif KR" pitchFamily="34" charset="-120"/>
              </a:rPr>
              <a:t> 썼을까요,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긁는 데</a:t>
            </a:r>
            <a:pPr algn="l" indent="0" marL="0">
              <a:buNone/>
            </a:pPr>
            <a:r>
              <a:rPr lang="en-US" sz="1800" dirty="0">
                <a:solidFill>
                  <a:srgbClr val="3A362C"/>
                </a:solidFill>
                <a:latin typeface="Noto Serif KR" pitchFamily="34" charset="0"/>
                <a:ea typeface="Noto Serif KR" pitchFamily="34" charset="-122"/>
                <a:cs typeface="Noto Serif KR" pitchFamily="34" charset="-120"/>
              </a:rPr>
              <a:t> 썼을까요. 근거는 무엇입니까.</a:t>
            </a:r>
            <a:endParaRPr lang="en-US" sz="1200" dirty="0"/>
          </a:p>
        </p:txBody>
      </p:sp>
      <p:sp>
        <p:nvSpPr>
          <p:cNvPr id="23" name="Shape 18"/>
          <p:cNvSpPr/>
          <p:nvPr/>
        </p:nvSpPr>
        <p:spPr>
          <a:xfrm>
            <a:off x="11525098" y="7400240"/>
            <a:ext cx="5619902" cy="1171346"/>
          </a:xfrm>
          <a:prstGeom prst="rect">
            <a:avLst/>
          </a:prstGeom>
          <a:solidFill>
            <a:srgbClr val="9C2A1F">
              <a:alpha val="6000"/>
            </a:srgbClr>
          </a:solidFill>
          <a:ln w="12700">
            <a:solidFill>
              <a:srgbClr val="9C2A1F"/>
            </a:solidFill>
            <a:prstDash val="solid"/>
          </a:ln>
        </p:spPr>
      </p:sp>
      <p:sp>
        <p:nvSpPr>
          <p:cNvPr id="24" name="Text 19"/>
          <p:cNvSpPr txBox="1"/>
          <p:nvPr/>
        </p:nvSpPr>
        <p:spPr>
          <a:xfrm>
            <a:off x="11782044" y="7600494"/>
            <a:ext cx="5106010"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기억할 것</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유물의 신뢰는 형태의 완성도가 아니라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흔적의 논리적 일관성</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에서 나온다.</a:t>
            </a:r>
            <a:endParaRPr lang="en-US" sz="1725" dirty="0"/>
          </a:p>
        </p:txBody>
      </p:sp>
      <p:sp>
        <p:nvSpPr>
          <p:cNvPr id="25" name="Text 20"/>
          <p:cNvSpPr txBox="1"/>
          <p:nvPr/>
        </p:nvSpPr>
        <p:spPr>
          <a:xfrm>
            <a:off x="1143000" y="9677095"/>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Nature Scientific Reports 「Optimization of use-wear detection and characterization on stone tool surfaces」 수록 도판</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7524598"/>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방법 정리 · 사용흔을 읽는 네 가지 통로</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방법</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닳음 · 광택 · 잔존물 · 수리</a:t>
            </a:r>
            <a:endParaRPr lang="en-US" sz="34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143000" y="2495398"/>
          <a:ext cx="16002000" cy="4153205"/>
        </p:xfrm>
        <a:graphic>
          <a:graphicData uri="http://schemas.openxmlformats.org/drawingml/2006/table">
            <a:tbl>
              <a:tblPr/>
              <a:tblGrid>
                <a:gridCol w="1809598"/>
                <a:gridCol w="4000500"/>
                <a:gridCol w="4095598"/>
                <a:gridCol w="6096305"/>
              </a:tblGrid>
              <a:tr h="83064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통로</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무엇을 보는가</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알아낼 수 있는 것</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우리 설계에서의 지시문 예</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306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① 마모</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wear-stripes</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표면이 닳아 생긴 </a:t>
                      </a:r>
                      <a:pPr indent="0" marL="0">
                        <a:buNone/>
                      </a:pPr>
                      <a:r>
                        <a:rPr lang="en-US" sz="1725" b="1" dirty="0">
                          <a:solidFill>
                            <a:srgbClr val="17150F"/>
                          </a:solidFill>
                          <a:latin typeface="Noto Serif KR" pitchFamily="34" charset="0"/>
                          <a:ea typeface="Noto Serif KR" pitchFamily="34" charset="-122"/>
                          <a:cs typeface="Noto Serif KR" pitchFamily="34" charset="-120"/>
                        </a:rPr>
                        <a:t>방향성 있는 줄</a:t>
                      </a:r>
                      <a:pPr indent="0" marL="0">
                        <a:buNone/>
                      </a:pPr>
                      <a:r>
                        <a:rPr lang="en-US" sz="1725" dirty="0">
                          <a:solidFill>
                            <a:srgbClr val="3A362C"/>
                          </a:solidFill>
                          <a:latin typeface="Noto Serif KR" pitchFamily="34" charset="0"/>
                          <a:ea typeface="Noto Serif KR" pitchFamily="34" charset="-122"/>
                          <a:cs typeface="Noto Serif KR" pitchFamily="34" charset="-120"/>
                        </a:rPr>
                        <a:t>. 도자·유리·석기에서 마찰 방향이 일정하게 남는다.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어떤 동작을 반복했는가. 미는 동작인가, 긁는 동작인가.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“손잡이 아래쪽이 한 방향으로 닳아 있음”</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306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② 광택</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use-polish</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자주 잡은 부분에 생긴 </a:t>
                      </a:r>
                      <a:pPr indent="0" marL="0">
                        <a:buNone/>
                      </a:pPr>
                      <a:r>
                        <a:rPr lang="en-US" sz="1725" b="1" dirty="0">
                          <a:solidFill>
                            <a:srgbClr val="17150F"/>
                          </a:solidFill>
                          <a:latin typeface="Noto Serif KR" pitchFamily="34" charset="0"/>
                          <a:ea typeface="Noto Serif KR" pitchFamily="34" charset="-122"/>
                          <a:cs typeface="Noto Serif KR" pitchFamily="34" charset="-120"/>
                        </a:rPr>
                        <a:t>매끄러운 광택</a:t>
                      </a:r>
                      <a:pPr indent="0" marL="0">
                        <a:buNone/>
                      </a:pPr>
                      <a:r>
                        <a:rPr lang="en-US" sz="1725" dirty="0">
                          <a:solidFill>
                            <a:srgbClr val="3A362C"/>
                          </a:solidFill>
                          <a:latin typeface="Noto Serif KR" pitchFamily="34" charset="0"/>
                          <a:ea typeface="Noto Serif KR" pitchFamily="34" charset="-122"/>
                          <a:cs typeface="Noto Serif KR" pitchFamily="34" charset="-120"/>
                        </a:rPr>
                        <a:t>. 통상 20~200배 현미경으로 관찰한다.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어디를 손으로 쥐었는가. 오래 썼는가.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“오른쪽 테두리만 매끄럽게 광택이 남음”</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306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③ 잔존물</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residues</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표면에 남은 </a:t>
                      </a:r>
                      <a:pPr indent="0" marL="0">
                        <a:buNone/>
                      </a:pPr>
                      <a:r>
                        <a:rPr lang="en-US" sz="1725" b="1" dirty="0">
                          <a:solidFill>
                            <a:srgbClr val="17150F"/>
                          </a:solidFill>
                          <a:latin typeface="Noto Serif KR" pitchFamily="34" charset="0"/>
                          <a:ea typeface="Noto Serif KR" pitchFamily="34" charset="-122"/>
                          <a:cs typeface="Noto Serif KR" pitchFamily="34" charset="-120"/>
                        </a:rPr>
                        <a:t>유기물</a:t>
                      </a:r>
                      <a:pPr indent="0" marL="0">
                        <a:buNone/>
                      </a:pPr>
                      <a:r>
                        <a:rPr lang="en-US" sz="1725" dirty="0">
                          <a:solidFill>
                            <a:srgbClr val="3A362C"/>
                          </a:solidFill>
                          <a:latin typeface="Noto Serif KR" pitchFamily="34" charset="0"/>
                          <a:ea typeface="Noto Serif KR" pitchFamily="34" charset="-122"/>
                          <a:cs typeface="Noto Serif KR" pitchFamily="34" charset="-120"/>
                        </a:rPr>
                        <a:t>. 혈액·식물 잔류·지방 성분을 성분 분석으로 검출한다.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무엇에 닿았는가. 무엇을 담았는가.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“안쪽 벽면에 검은 탄화 자국이 층으로 남음”</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306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④ 수리</a:t>
                      </a:r>
                      <a:pPr indent="0" marL="0">
                        <a:buNone/>
                      </a:pPr>
                      <a:endParaRPr lang="en-US" sz="1200" dirty="0"/>
                    </a:p>
                    <a:p>
                      <a:pPr indent="0" marL="0">
                        <a:buNone/>
                      </a:pPr>
                      <a:r>
                        <a:rPr lang="en-US" sz="1575" dirty="0">
                          <a:solidFill>
                            <a:srgbClr val="6B6456"/>
                          </a:solidFill>
                          <a:latin typeface="Noto Sans KR" pitchFamily="34" charset="0"/>
                          <a:ea typeface="Noto Sans KR" pitchFamily="34" charset="-122"/>
                          <a:cs typeface="Noto Sans KR" pitchFamily="34" charset="-120"/>
                        </a:rPr>
                        <a:t>repair</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깨진 뒤 이어 붙인 </a:t>
                      </a:r>
                      <a:pPr indent="0" marL="0">
                        <a:buNone/>
                      </a:pPr>
                      <a:r>
                        <a:rPr lang="en-US" sz="1725" b="1" dirty="0">
                          <a:solidFill>
                            <a:srgbClr val="17150F"/>
                          </a:solidFill>
                          <a:latin typeface="Noto Serif KR" pitchFamily="34" charset="0"/>
                          <a:ea typeface="Noto Serif KR" pitchFamily="34" charset="-122"/>
                          <a:cs typeface="Noto Serif KR" pitchFamily="34" charset="-120"/>
                        </a:rPr>
                        <a:t>이음선</a:t>
                      </a:r>
                      <a:pPr indent="0" marL="0">
                        <a:buNone/>
                      </a:pPr>
                      <a:r>
                        <a:rPr lang="en-US" sz="1725" dirty="0">
                          <a:solidFill>
                            <a:srgbClr val="3A362C"/>
                          </a:solidFill>
                          <a:latin typeface="Noto Serif KR" pitchFamily="34" charset="0"/>
                          <a:ea typeface="Noto Serif KR" pitchFamily="34" charset="-122"/>
                          <a:cs typeface="Noto Serif KR" pitchFamily="34" charset="-120"/>
                        </a:rPr>
                        <a:t>, 금속 보수, 목재 덧댐.</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고쳐 쓸 만큼 </a:t>
                      </a:r>
                      <a:pPr indent="0" marL="0">
                        <a:buNone/>
                      </a:pPr>
                      <a:r>
                        <a:rPr lang="en-US" sz="1725" b="1" dirty="0">
                          <a:solidFill>
                            <a:srgbClr val="9C2A1F"/>
                          </a:solidFill>
                          <a:latin typeface="Noto Serif KR" pitchFamily="34" charset="0"/>
                          <a:ea typeface="Noto Serif KR" pitchFamily="34" charset="-122"/>
                          <a:cs typeface="Noto Serif KR" pitchFamily="34" charset="-120"/>
                        </a:rPr>
                        <a:t>귀했는가</a:t>
                      </a:r>
                      <a:pPr indent="0" marL="0">
                        <a:buNone/>
                      </a:pPr>
                      <a:r>
                        <a:rPr lang="en-US" sz="1725" dirty="0">
                          <a:solidFill>
                            <a:srgbClr val="3A362C"/>
                          </a:solidFill>
                          <a:latin typeface="Noto Serif KR" pitchFamily="34" charset="0"/>
                          <a:ea typeface="Noto Serif KR" pitchFamily="34" charset="-122"/>
                          <a:cs typeface="Noto Serif KR" pitchFamily="34" charset="-120"/>
                        </a:rPr>
                        <a:t>. 재사용 행위가 있었는가.</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“균열을 금속 꺾쇠 두 개로 고정한 흔적”</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3"/>
          <p:cNvSpPr/>
          <p:nvPr/>
        </p:nvSpPr>
        <p:spPr>
          <a:xfrm>
            <a:off x="1143000" y="7791602"/>
            <a:ext cx="7810805" cy="1819656"/>
          </a:xfrm>
          <a:prstGeom prst="rect">
            <a:avLst/>
          </a:prstGeom>
          <a:solidFill>
            <a:srgbClr val="FFFFFF">
              <a:alpha val="36000"/>
            </a:srgbClr>
          </a:solidFill>
          <a:ln w="12700">
            <a:solidFill>
              <a:srgbClr val="BEB6A5"/>
            </a:solidFill>
            <a:prstDash val="solid"/>
          </a:ln>
        </p:spPr>
      </p:sp>
      <p:sp>
        <p:nvSpPr>
          <p:cNvPr id="9" name="Text 4"/>
          <p:cNvSpPr txBox="1"/>
          <p:nvPr/>
        </p:nvSpPr>
        <p:spPr>
          <a:xfrm>
            <a:off x="1438351" y="80101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네 통로가 서로 맞아야 한다</a:t>
            </a:r>
            <a:endParaRPr lang="en-US" sz="1575" dirty="0"/>
          </a:p>
        </p:txBody>
      </p:sp>
      <p:pic>
        <p:nvPicPr>
          <p:cNvPr id="10" name="Image 2" descr="gen-dedup-8daa7bbad9e138f694b547871d64bad8.png">    </p:cNvPr>
          <p:cNvPicPr>
            <a:picLocks noChangeAspect="1"/>
          </p:cNvPicPr>
          <p:nvPr/>
        </p:nvPicPr>
        <p:blipFill>
          <a:blip r:embed="rId3"/>
          <a:stretch/>
        </p:blipFill>
        <p:spPr>
          <a:xfrm>
            <a:off x="1582731" y="8429854"/>
            <a:ext cx="6931342" cy="9144"/>
          </a:xfrm>
          <a:prstGeom prst="rect">
            <a:avLst/>
          </a:prstGeom>
        </p:spPr>
      </p:pic>
      <p:sp>
        <p:nvSpPr>
          <p:cNvPr id="11" name="Text 5"/>
          <p:cNvSpPr txBox="1"/>
          <p:nvPr/>
        </p:nvSpPr>
        <p:spPr>
          <a:xfrm>
            <a:off x="1438351" y="8591702"/>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“음료를 담는 그릇”이라 정했다면 광택은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테두리와 손잡이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잔존물은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안쪽 벽면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있어야 한다. 광택이 바닥 외면에만 있으면 설명이 무너진다.</a:t>
            </a:r>
            <a:endParaRPr lang="en-US" sz="1800" dirty="0"/>
          </a:p>
        </p:txBody>
      </p:sp>
      <p:sp>
        <p:nvSpPr>
          <p:cNvPr id="12" name="Shape 6"/>
          <p:cNvSpPr/>
          <p:nvPr/>
        </p:nvSpPr>
        <p:spPr>
          <a:xfrm>
            <a:off x="9334195" y="7791602"/>
            <a:ext cx="7810805" cy="1819656"/>
          </a:xfrm>
          <a:prstGeom prst="rect">
            <a:avLst/>
          </a:prstGeom>
          <a:solidFill>
            <a:srgbClr val="9C2A1F">
              <a:alpha val="6000"/>
            </a:srgbClr>
          </a:solidFill>
          <a:ln w="12700">
            <a:solidFill>
              <a:srgbClr val="9C2A1F"/>
            </a:solidFill>
            <a:prstDash val="solid"/>
          </a:ln>
        </p:spPr>
      </p:sp>
      <p:sp>
        <p:nvSpPr>
          <p:cNvPr id="13" name="Text 7"/>
          <p:cNvSpPr txBox="1"/>
          <p:nvPr/>
        </p:nvSpPr>
        <p:spPr>
          <a:xfrm>
            <a:off x="9629546" y="801014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5차시로 넘길 문장 형식</a:t>
            </a:r>
            <a:endParaRPr lang="en-US" sz="1575" dirty="0"/>
          </a:p>
        </p:txBody>
      </p:sp>
      <p:pic>
        <p:nvPicPr>
          <p:cNvPr id="14" name="Image 3" descr="gen-dedup-8daa7bbad9e138f694b547871d64bad8.png">    </p:cNvPr>
          <p:cNvPicPr>
            <a:picLocks noChangeAspect="1"/>
          </p:cNvPicPr>
          <p:nvPr/>
        </p:nvPicPr>
        <p:blipFill>
          <a:blip r:embed="rId4"/>
          <a:stretch/>
        </p:blipFill>
        <p:spPr>
          <a:xfrm>
            <a:off x="9773926" y="8429854"/>
            <a:ext cx="6931342" cy="9144"/>
          </a:xfrm>
          <a:prstGeom prst="rect">
            <a:avLst/>
          </a:prstGeom>
        </p:spPr>
      </p:pic>
      <p:sp>
        <p:nvSpPr>
          <p:cNvPr id="15" name="Text 8"/>
          <p:cNvSpPr txBox="1"/>
          <p:nvPr/>
        </p:nvSpPr>
        <p:spPr>
          <a:xfrm>
            <a:off x="9629546" y="8591702"/>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어느 부위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어떤 방식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닳았다”를 한 문장으로 쓴다. 부위 없이 “오래된 느낌”이라고만 쓰면 이미지는 흔적이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분위기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만 만든다.</a:t>
            </a:r>
            <a:endParaRPr lang="en-US" sz="1800" dirty="0"/>
          </a:p>
        </p:txBody>
      </p:sp>
      <p:sp>
        <p:nvSpPr>
          <p:cNvPr id="16" name="Text 9"/>
          <p:cNvSpPr txBox="1"/>
          <p:nvPr/>
        </p:nvSpPr>
        <p:spPr>
          <a:xfrm>
            <a:off x="1143000" y="9829800"/>
            <a:ext cx="166878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사용흔 분석 방법론 종합 — Michael B. Schiffer 『Behavioral Archaeology: First Principles』(2016), Nature Scientific Reports 사용흔 광택 연구</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496105"/>
            <a:ext cx="9731964" cy="28346"/>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6191402"/>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사용흔이 통설을 뒤집은 연구</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사례 ①</a:t>
            </a:r>
            <a:endParaRPr lang="en-US" sz="1650" dirty="0"/>
          </a:p>
        </p:txBody>
      </p:sp>
      <p:sp>
        <p:nvSpPr>
          <p:cNvPr id="7"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무덤 속 그릇은</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정말 무덤을 위해 만들어졌는가</a:t>
            </a:r>
            <a:endParaRPr lang="en-US" sz="3450" dirty="0"/>
          </a:p>
        </p:txBody>
      </p:sp>
      <p:sp>
        <p:nvSpPr>
          <p:cNvPr id="8" name="Text 3"/>
          <p:cNvSpPr txBox="1"/>
          <p:nvPr/>
        </p:nvSpPr>
        <p:spPr>
          <a:xfrm>
            <a:off x="1143000" y="3105302"/>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밈브레스 지역의 무덤에서는 채색 그릇이 다량 출토된다. 오랫동안 연구자들은 이 그릇들이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장례를 위해 특별히 제작</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된 것이라고 보았다. 부장품이니 새 물건일 것이라는 추정이었다.</a:t>
            </a:r>
            <a:endParaRPr lang="en-US" sz="2025" dirty="0"/>
          </a:p>
        </p:txBody>
      </p:sp>
      <p:sp>
        <p:nvSpPr>
          <p:cNvPr id="9" name="Text 4"/>
          <p:cNvSpPr txBox="1"/>
          <p:nvPr/>
        </p:nvSpPr>
        <p:spPr>
          <a:xfrm>
            <a:off x="1143000" y="4800600"/>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브레이는 이 그릇들의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사용흔을 직접 조사</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했다. 결과는 통설과 달랐다. 상당수 그릇에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이미 사용된 흔적</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 있었다. 즉 부장품 전용으로 새로 만든 것이 아니라,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살아 있는 동안 쓰던 그릇</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을 무덤에 넣은 것이었다.</a:t>
            </a:r>
            <a:endParaRPr lang="en-US" sz="2025" dirty="0"/>
          </a:p>
        </p:txBody>
      </p:sp>
      <p:sp>
        <p:nvSpPr>
          <p:cNvPr id="10" name="Shape 5"/>
          <p:cNvSpPr/>
          <p:nvPr/>
        </p:nvSpPr>
        <p:spPr>
          <a:xfrm>
            <a:off x="1143000" y="6705295"/>
            <a:ext cx="9810598" cy="3161995"/>
          </a:xfrm>
          <a:prstGeom prst="rect">
            <a:avLst/>
          </a:prstGeom>
          <a:solidFill>
            <a:srgbClr val="FFFFFF">
              <a:alpha val="36000"/>
            </a:srgbClr>
          </a:solidFill>
          <a:ln w="12700">
            <a:solidFill>
              <a:srgbClr val="BEB6A5"/>
            </a:solidFill>
            <a:prstDash val="solid"/>
          </a:ln>
        </p:spPr>
      </p:sp>
      <p:sp>
        <p:nvSpPr>
          <p:cNvPr id="11" name="Text 6"/>
          <p:cNvSpPr txBox="1"/>
          <p:nvPr/>
        </p:nvSpPr>
        <p:spPr>
          <a:xfrm>
            <a:off x="1457554" y="696315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연구가 증명한 것 — 방법 하나로 해석이 바뀐다</a:t>
            </a:r>
            <a:endParaRPr lang="en-US" sz="1650" dirty="0"/>
          </a:p>
        </p:txBody>
      </p:sp>
      <p:pic>
        <p:nvPicPr>
          <p:cNvPr id="12" name="Image 3" descr="gen-dedup-7cde0152aae0e987b34280df86a6917f.png">    </p:cNvPr>
          <p:cNvPicPr>
            <a:picLocks noChangeAspect="1"/>
          </p:cNvPicPr>
          <p:nvPr/>
        </p:nvPicPr>
        <p:blipFill>
          <a:blip r:embed="rId4"/>
          <a:stretch/>
        </p:blipFill>
        <p:spPr>
          <a:xfrm>
            <a:off x="1641174" y="7420356"/>
            <a:ext cx="8815165" cy="9144"/>
          </a:xfrm>
          <a:prstGeom prst="rect">
            <a:avLst/>
          </a:prstGeom>
        </p:spPr>
      </p:pic>
      <p:sp>
        <p:nvSpPr>
          <p:cNvPr id="13" name="Text 7"/>
          <p:cNvSpPr txBox="1"/>
          <p:nvPr/>
        </p:nvSpPr>
        <p:spPr>
          <a:xfrm>
            <a:off x="1457554" y="7601407"/>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부장품이라는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맥락</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만 보면 “장례용”이라는 답이 자연스럽다. 그러나 표면의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흔적</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보면 다른 답이 나온다. 맥락은 추정을 낳고, 흔적은 추정을 검증한다.</a:t>
            </a:r>
            <a:endParaRPr lang="en-US" sz="1875" dirty="0"/>
          </a:p>
        </p:txBody>
      </p:sp>
      <p:pic>
        <p:nvPicPr>
          <p:cNvPr id="14" name="Image 4" descr="gen-dedup-30ab6479ac51d488179e17cc12ddf881.png">    </p:cNvPr>
          <p:cNvPicPr>
            <a:picLocks noChangeAspect="1"/>
          </p:cNvPicPr>
          <p:nvPr/>
        </p:nvPicPr>
        <p:blipFill>
          <a:blip r:embed="rId5"/>
          <a:stretch/>
        </p:blipFill>
        <p:spPr>
          <a:xfrm>
            <a:off x="1641174" y="8600846"/>
            <a:ext cx="8815165" cy="9144"/>
          </a:xfrm>
          <a:prstGeom prst="rect">
            <a:avLst/>
          </a:prstGeom>
        </p:spPr>
      </p:pic>
      <p:sp>
        <p:nvSpPr>
          <p:cNvPr id="15" name="Text 8"/>
          <p:cNvSpPr txBox="1"/>
          <p:nvPr/>
        </p:nvSpPr>
        <p:spPr>
          <a:xfrm>
            <a:off x="1457554" y="8781898"/>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 전시에서 관람자가 하게 될 일도 같은 구조다. 명제표는 맥락을 주고, 이미지의 흔적은 그 맥락을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뒷받침하거나 배신한다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a:t>
            </a:r>
            <a:endParaRPr lang="en-US" sz="1875" dirty="0"/>
          </a:p>
        </p:txBody>
      </p:sp>
      <p:sp>
        <p:nvSpPr>
          <p:cNvPr id="16" name="Shape 9"/>
          <p:cNvSpPr/>
          <p:nvPr/>
        </p:nvSpPr>
        <p:spPr>
          <a:xfrm>
            <a:off x="11620195" y="1466698"/>
            <a:ext cx="5524805" cy="3847795"/>
          </a:xfrm>
          <a:prstGeom prst="rect">
            <a:avLst/>
          </a:prstGeom>
          <a:solidFill>
            <a:srgbClr val="FFFFFF">
              <a:alpha val="42000"/>
            </a:srgbClr>
          </a:solidFill>
          <a:ln w="12700">
            <a:solidFill>
              <a:srgbClr val="BEB6A5"/>
            </a:solidFill>
            <a:prstDash val="solid"/>
          </a:ln>
        </p:spPr>
      </p:sp>
      <p:sp>
        <p:nvSpPr>
          <p:cNvPr id="17" name="Shape 10"/>
          <p:cNvSpPr/>
          <p:nvPr/>
        </p:nvSpPr>
        <p:spPr>
          <a:xfrm>
            <a:off x="11878056" y="4662526"/>
            <a:ext cx="5009998" cy="9144"/>
          </a:xfrm>
          <a:prstGeom prst="rect">
            <a:avLst/>
          </a:prstGeom>
          <a:solidFill>
            <a:srgbClr val="BEB6A5"/>
          </a:solidFill>
          <a:ln w="12700">
            <a:solidFill>
              <a:srgbClr val="BEB6A5">
                <a:alpha val="0"/>
              </a:srgbClr>
            </a:solidFill>
            <a:prstDash val="solid"/>
          </a:ln>
        </p:spPr>
      </p:sp>
      <p:sp>
        <p:nvSpPr>
          <p:cNvPr id="18" name="Text 11"/>
          <p:cNvSpPr txBox="1"/>
          <p:nvPr/>
        </p:nvSpPr>
        <p:spPr>
          <a:xfrm>
            <a:off x="11878056" y="4785970"/>
            <a:ext cx="5010912" cy="305410"/>
          </a:xfrm>
          <a:prstGeom prst="rect">
            <a:avLst/>
          </a:prstGeom>
          <a:solidFill>
            <a:srgbClr val="FFFFFF">
              <a:alpha val="0"/>
            </a:srgbClr>
          </a:solidFill>
          <a:ln>
            <a:solidFill>
              <a:srgbClr val="FFFFFF">
                <a:alpha val="0"/>
              </a:srgbClr>
            </a:solidFill>
          </a:ln>
        </p:spPr>
        <p:txBody>
          <a:bodyPr wrap="non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쉬퍼(1983) 논문 내 인용을 통해 확인</a:t>
            </a:r>
            <a:endParaRPr lang="en-US" sz="1650" dirty="0"/>
          </a:p>
        </p:txBody>
      </p:sp>
      <p:sp>
        <p:nvSpPr>
          <p:cNvPr id="19" name="Text 12"/>
          <p:cNvSpPr txBox="1"/>
          <p:nvPr/>
        </p:nvSpPr>
        <p:spPr>
          <a:xfrm>
            <a:off x="11878056" y="1733702"/>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연구자</a:t>
            </a:r>
            <a:endParaRPr lang="en-US" sz="1650" dirty="0"/>
          </a:p>
        </p:txBody>
      </p:sp>
      <p:sp>
        <p:nvSpPr>
          <p:cNvPr id="20" name="Text 13"/>
          <p:cNvSpPr txBox="1"/>
          <p:nvPr/>
        </p:nvSpPr>
        <p:spPr>
          <a:xfrm>
            <a:off x="13478256" y="1686154"/>
            <a:ext cx="145298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브레이 Bray</a:t>
            </a:r>
            <a:endParaRPr lang="en-US" sz="1875" dirty="0"/>
          </a:p>
        </p:txBody>
      </p:sp>
      <p:sp>
        <p:nvSpPr>
          <p:cNvPr id="21" name="Text 14"/>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발표</a:t>
            </a:r>
            <a:endParaRPr lang="en-US" sz="1650" dirty="0"/>
          </a:p>
        </p:txBody>
      </p:sp>
      <p:sp>
        <p:nvSpPr>
          <p:cNvPr id="22" name="Text 15"/>
          <p:cNvSpPr txBox="1"/>
          <p:nvPr/>
        </p:nvSpPr>
        <p:spPr>
          <a:xfrm>
            <a:off x="13478256" y="2128723"/>
            <a:ext cx="83027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1982년</a:t>
            </a:r>
            <a:endParaRPr lang="en-US" sz="1875" dirty="0"/>
          </a:p>
        </p:txBody>
      </p:sp>
      <p:sp>
        <p:nvSpPr>
          <p:cNvPr id="23" name="Text 16"/>
          <p:cNvSpPr txBox="1"/>
          <p:nvPr/>
        </p:nvSpPr>
        <p:spPr>
          <a:xfrm>
            <a:off x="11878056" y="261975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a:t>
            </a:r>
            <a:endParaRPr lang="en-US" sz="1650" dirty="0"/>
          </a:p>
        </p:txBody>
      </p:sp>
      <p:sp>
        <p:nvSpPr>
          <p:cNvPr id="24" name="Text 17"/>
          <p:cNvSpPr txBox="1"/>
          <p:nvPr/>
        </p:nvSpPr>
        <p:spPr>
          <a:xfrm>
            <a:off x="13478256" y="2572207"/>
            <a:ext cx="3124505"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밈브레스 Mimbres 무덤 출토 채색 그릇</a:t>
            </a:r>
            <a:endParaRPr lang="en-US" sz="1875" dirty="0"/>
          </a:p>
        </p:txBody>
      </p:sp>
      <p:sp>
        <p:nvSpPr>
          <p:cNvPr id="25" name="Text 18"/>
          <p:cNvSpPr txBox="1"/>
          <p:nvPr/>
        </p:nvSpPr>
        <p:spPr>
          <a:xfrm>
            <a:off x="11878056" y="341985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방법</a:t>
            </a:r>
            <a:endParaRPr lang="en-US" sz="1650" dirty="0"/>
          </a:p>
        </p:txBody>
      </p:sp>
      <p:sp>
        <p:nvSpPr>
          <p:cNvPr id="26" name="Text 19"/>
          <p:cNvSpPr txBox="1"/>
          <p:nvPr/>
        </p:nvSpPr>
        <p:spPr>
          <a:xfrm>
            <a:off x="13478256" y="3372307"/>
            <a:ext cx="35058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부장 그릇의 사용흔 유무 조사</a:t>
            </a:r>
            <a:endParaRPr lang="en-US" sz="1875" dirty="0"/>
          </a:p>
        </p:txBody>
      </p:sp>
      <p:sp>
        <p:nvSpPr>
          <p:cNvPr id="27" name="Text 20"/>
          <p:cNvSpPr txBox="1"/>
          <p:nvPr/>
        </p:nvSpPr>
        <p:spPr>
          <a:xfrm>
            <a:off x="11878056" y="386242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결론</a:t>
            </a:r>
            <a:endParaRPr lang="en-US" sz="1650" dirty="0"/>
          </a:p>
        </p:txBody>
      </p:sp>
      <p:sp>
        <p:nvSpPr>
          <p:cNvPr id="28" name="Text 21"/>
          <p:cNvSpPr txBox="1"/>
          <p:nvPr/>
        </p:nvSpPr>
        <p:spPr>
          <a:xfrm>
            <a:off x="13478256" y="3814877"/>
            <a:ext cx="32196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부장품 전용 제작이라는 가정을 반박</a:t>
            </a:r>
            <a:endParaRPr lang="en-US" sz="1875" dirty="0"/>
          </a:p>
        </p:txBody>
      </p:sp>
      <p:sp>
        <p:nvSpPr>
          <p:cNvPr id="29" name="Text 22"/>
          <p:cNvSpPr txBox="1"/>
          <p:nvPr/>
        </p:nvSpPr>
        <p:spPr>
          <a:xfrm>
            <a:off x="11620195" y="5848502"/>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설계에 옮길 원칙</a:t>
            </a:r>
            <a:endParaRPr lang="en-US" sz="1650" dirty="0"/>
          </a:p>
        </p:txBody>
      </p:sp>
      <p:sp>
        <p:nvSpPr>
          <p:cNvPr id="30" name="Text 23"/>
          <p:cNvSpPr txBox="1"/>
          <p:nvPr/>
        </p:nvSpPr>
        <p:spPr>
          <a:xfrm>
            <a:off x="11620195" y="6458407"/>
            <a:ext cx="5524805" cy="269656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사물의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최종 위치</a:t>
            </a:r>
            <a:pPr algn="l" indent="0" marL="0">
              <a:buNone/>
            </a:pPr>
            <a:r>
              <a:rPr lang="en-US" sz="1800" dirty="0">
                <a:solidFill>
                  <a:srgbClr val="3A362C"/>
                </a:solidFill>
                <a:latin typeface="Noto Serif KR" pitchFamily="34" charset="0"/>
                <a:ea typeface="Noto Serif KR" pitchFamily="34" charset="-122"/>
                <a:cs typeface="Noto Serif KR" pitchFamily="34" charset="-120"/>
              </a:rPr>
              <a:t>가 그 사물의 원래 용도를 말해 주지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따라서 카드에는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쓰인 용도</a:t>
            </a:r>
            <a:pPr algn="l" indent="0" marL="0">
              <a:buNone/>
            </a:pPr>
            <a:r>
              <a:rPr lang="en-US" sz="1800" dirty="0">
                <a:solidFill>
                  <a:srgbClr val="3A362C"/>
                </a:solidFill>
                <a:latin typeface="Noto Serif KR" pitchFamily="34" charset="0"/>
                <a:ea typeface="Noto Serif KR" pitchFamily="34" charset="-122"/>
                <a:cs typeface="Noto Serif KR" pitchFamily="34" charset="-120"/>
              </a:rPr>
              <a:t>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발견된 상황</a:t>
            </a:r>
            <a:pPr algn="l" indent="0" marL="0">
              <a:buNone/>
            </a:pPr>
            <a:r>
              <a:rPr lang="en-US" sz="1800" dirty="0">
                <a:solidFill>
                  <a:srgbClr val="3A362C"/>
                </a:solidFill>
                <a:latin typeface="Noto Serif KR" pitchFamily="34" charset="0"/>
                <a:ea typeface="Noto Serif KR" pitchFamily="34" charset="-122"/>
                <a:cs typeface="Noto Serif KR" pitchFamily="34" charset="-120"/>
              </a:rPr>
              <a:t>을 따로 적는다.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둘이 어긋나는 순간, 관람자는 스스로 해석을 시작한다.</a:t>
            </a:r>
            <a:endParaRPr lang="en-US" sz="1200" dirty="0"/>
          </a:p>
        </p:txBody>
      </p:sp>
      <p:sp>
        <p:nvSpPr>
          <p:cNvPr id="31" name="Text 24"/>
          <p:cNvSpPr txBox="1"/>
          <p:nvPr/>
        </p:nvSpPr>
        <p:spPr>
          <a:xfrm>
            <a:off x="11620195" y="9391802"/>
            <a:ext cx="5524805" cy="305410"/>
          </a:xfrm>
          <a:prstGeom prst="rect">
            <a:avLst/>
          </a:prstGeom>
          <a:noFill/>
          <a:ln/>
        </p:spPr>
        <p:txBody>
          <a:bodyPr wrap="none" lIns="0" tIns="0" rIns="0" bIns="0" rtlCol="0" anchor="ctr"/>
          <a:lstStyle/>
          <a:p>
            <a:pPr algn="r" indent="0" marL="0">
              <a:buNone/>
            </a:pPr>
            <a:r>
              <a:rPr lang="en-US" sz="1650" spc="66" kern="0" dirty="0">
                <a:solidFill>
                  <a:srgbClr val="918A7A"/>
                </a:solidFill>
                <a:latin typeface="Noto Sans KR" pitchFamily="34" charset="0"/>
                <a:ea typeface="Noto Sans KR" pitchFamily="34" charset="-122"/>
                <a:cs typeface="Noto Sans KR" pitchFamily="34" charset="-120"/>
              </a:rPr>
              <a:t>출처: Schiffer(1983) 논문 내 Bray(1982) 인용</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pic>
        <p:nvPicPr>
          <p:cNvPr id="4" name="Image 2" descr="gen-dedup-5a6964de565ac7af059141652be3bf5a.png">    </p:cNvPr>
          <p:cNvPicPr>
            <a:picLocks noChangeAspect="1"/>
          </p:cNvPicPr>
          <p:nvPr/>
        </p:nvPicPr>
        <p:blipFill>
          <a:blip r:embed="rId3"/>
          <a:stretch/>
        </p:blipFill>
        <p:spPr>
          <a:xfrm>
            <a:off x="9490387" y="4190695"/>
            <a:ext cx="7498421" cy="9144"/>
          </a:xfrm>
          <a:prstGeom prst="rect">
            <a:avLst/>
          </a:prstGeom>
        </p:spPr>
      </p:pic>
      <p:sp>
        <p:nvSpPr>
          <p:cNvPr id="5" name="Text 0"/>
          <p:cNvSpPr txBox="1"/>
          <p:nvPr/>
        </p:nvSpPr>
        <p:spPr>
          <a:xfrm>
            <a:off x="1143000" y="629107"/>
            <a:ext cx="126690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1 · 55–70분 · 짝 활동</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활동 1</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내 필통 속 물건을 고고학자처럼 읽기</a:t>
            </a:r>
            <a:endParaRPr lang="en-US" sz="3450" dirty="0"/>
          </a:p>
        </p:txBody>
      </p:sp>
      <p:sp>
        <p:nvSpPr>
          <p:cNvPr id="8"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자신이 지금 가지고 있는 물건 하나를 고른다. 필기구·지우개·물병·이어폰 무엇이든 좋다. 단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6개월 이상 쓴 것</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이어야 한다. 짝과 물건을 교환하고,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사용흔만 보고</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상대의 사용 습관을 추정해 적는다.</a:t>
            </a:r>
            <a:endParaRPr lang="en-US" sz="2175" dirty="0"/>
          </a:p>
        </p:txBody>
      </p:sp>
      <p:sp>
        <p:nvSpPr>
          <p:cNvPr id="9"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기록지 — 네 칸을 채운다 (8분)</a:t>
            </a:r>
            <a:endParaRPr lang="en-US" sz="16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7810805" cy="2686507"/>
        </p:xfrm>
        <a:graphic>
          <a:graphicData uri="http://schemas.openxmlformats.org/drawingml/2006/table">
            <a:tbl>
              <a:tblPr/>
              <a:tblGrid>
                <a:gridCol w="2095805"/>
                <a:gridCol w="5715000"/>
              </a:tblGrid>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닳은 자리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어디가 어떤 방향으로 닳았습니까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광택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어느 면이 매끄러워졌습니까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잔존물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지워지지 않는 자국·색이 있습니까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16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수리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고치거나 덧붙인 부분이 있습니까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6953098"/>
            <a:ext cx="7810805" cy="1819656"/>
          </a:xfrm>
          <a:prstGeom prst="rect">
            <a:avLst/>
          </a:prstGeom>
          <a:solidFill>
            <a:srgbClr val="FFFFFF">
              <a:alpha val="50000"/>
            </a:srgbClr>
          </a:solidFill>
          <a:ln w="12700">
            <a:solidFill>
              <a:srgbClr val="6B6456"/>
            </a:solidFill>
            <a:prstDash val="solid"/>
          </a:ln>
        </p:spPr>
      </p:sp>
      <p:sp>
        <p:nvSpPr>
          <p:cNvPr id="12" name="Text 6"/>
          <p:cNvSpPr txBox="1"/>
          <p:nvPr/>
        </p:nvSpPr>
        <p:spPr>
          <a:xfrm>
            <a:off x="1419149" y="7172554"/>
            <a:ext cx="7258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추정 문장 — 한 문장으로 쓴다</a:t>
            </a:r>
            <a:endParaRPr lang="en-US" sz="1575" dirty="0"/>
          </a:p>
        </p:txBody>
      </p:sp>
      <p:pic>
        <p:nvPicPr>
          <p:cNvPr id="13" name="Image 3" descr="gen-dedup-d1a0b30443a2f446906327438f0d29c4.png">    </p:cNvPr>
          <p:cNvPicPr>
            <a:picLocks noChangeAspect="1"/>
          </p:cNvPicPr>
          <p:nvPr/>
        </p:nvPicPr>
        <p:blipFill>
          <a:blip r:embed="rId4"/>
          <a:stretch/>
        </p:blipFill>
        <p:spPr>
          <a:xfrm>
            <a:off x="1564698" y="7591349"/>
            <a:ext cx="6967409" cy="9144"/>
          </a:xfrm>
          <a:prstGeom prst="rect">
            <a:avLst/>
          </a:prstGeom>
        </p:spPr>
      </p:pic>
      <p:sp>
        <p:nvSpPr>
          <p:cNvPr id="14" name="Text 7"/>
          <p:cNvSpPr txBox="1"/>
          <p:nvPr/>
        </p:nvSpPr>
        <p:spPr>
          <a:xfrm>
            <a:off x="1419149" y="7753198"/>
            <a:ext cx="7258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사람은 이 물건을 ____ 방식으로 썼을 것이다. 근거는 ____에 ____ 흔적이 있기 때문이다.”</a:t>
            </a:r>
            <a:endParaRPr lang="en-US" sz="1800" dirty="0"/>
          </a:p>
        </p:txBody>
      </p:sp>
      <p:sp>
        <p:nvSpPr>
          <p:cNvPr id="15" name="Text 8"/>
          <p:cNvSpPr txBox="1"/>
          <p:nvPr/>
        </p:nvSpPr>
        <p:spPr>
          <a:xfrm>
            <a:off x="9334195" y="38477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확인 단계 — 정답을 맞히는 활동이 아니다 (5분)</a:t>
            </a:r>
            <a:endParaRPr lang="en-US" sz="1650" dirty="0"/>
          </a:p>
        </p:txBody>
      </p:sp>
      <p:sp>
        <p:nvSpPr>
          <p:cNvPr id="16" name="Text 9"/>
          <p:cNvSpPr txBox="1"/>
          <p:nvPr/>
        </p:nvSpPr>
        <p:spPr>
          <a:xfrm>
            <a:off x="9334195" y="4457700"/>
            <a:ext cx="7810805" cy="1936699"/>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짝에게 추정 문장을 읽어 준다. 짝은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맞다/틀리다</a:t>
            </a:r>
            <a:pPr algn="l" indent="0" marL="0">
              <a:buNone/>
            </a:pPr>
            <a:r>
              <a:rPr lang="en-US" sz="1800" dirty="0">
                <a:solidFill>
                  <a:srgbClr val="3A362C"/>
                </a:solidFill>
                <a:latin typeface="Noto Serif KR" pitchFamily="34" charset="0"/>
                <a:ea typeface="Noto Serif KR" pitchFamily="34" charset="-122"/>
                <a:cs typeface="Noto Serif KR" pitchFamily="34" charset="-120"/>
              </a:rPr>
              <a:t>만 말한다.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틀렸다면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왜 그렇게 보였는지</a:t>
            </a:r>
            <a:pPr algn="l" indent="0" marL="0">
              <a:buNone/>
            </a:pPr>
            <a:r>
              <a:rPr lang="en-US" sz="1800" dirty="0">
                <a:solidFill>
                  <a:srgbClr val="3A362C"/>
                </a:solidFill>
                <a:latin typeface="Noto Serif KR" pitchFamily="34" charset="0"/>
                <a:ea typeface="Noto Serif KR" pitchFamily="34" charset="-122"/>
                <a:cs typeface="Noto Serif KR" pitchFamily="34" charset="-120"/>
              </a:rPr>
              <a:t>를 함께 찾는다. 흔적이 부족했는가, 해석이 앞섰는가.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맞았다면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어느 흔적 하나</a:t>
            </a:r>
            <a:pPr algn="l" indent="0" marL="0">
              <a:buNone/>
            </a:pPr>
            <a:r>
              <a:rPr lang="en-US" sz="1800" dirty="0">
                <a:solidFill>
                  <a:srgbClr val="3A362C"/>
                </a:solidFill>
                <a:latin typeface="Noto Serif KR" pitchFamily="34" charset="0"/>
                <a:ea typeface="Noto Serif KR" pitchFamily="34" charset="-122"/>
                <a:cs typeface="Noto Serif KR" pitchFamily="34" charset="-120"/>
              </a:rPr>
              <a:t>가 결정적이었는지 표시한다.</a:t>
            </a:r>
            <a:endParaRPr lang="en-US" sz="1200" dirty="0"/>
          </a:p>
        </p:txBody>
      </p:sp>
      <p:sp>
        <p:nvSpPr>
          <p:cNvPr id="17" name="Shape 10"/>
          <p:cNvSpPr/>
          <p:nvPr/>
        </p:nvSpPr>
        <p:spPr>
          <a:xfrm>
            <a:off x="9334195" y="6953098"/>
            <a:ext cx="7810805" cy="2257654"/>
          </a:xfrm>
          <a:prstGeom prst="rect">
            <a:avLst/>
          </a:prstGeom>
          <a:solidFill>
            <a:srgbClr val="9C2A1F">
              <a:alpha val="6000"/>
            </a:srgbClr>
          </a:solidFill>
          <a:ln w="12700">
            <a:solidFill>
              <a:srgbClr val="9C2A1F"/>
            </a:solidFill>
            <a:prstDash val="solid"/>
          </a:ln>
        </p:spPr>
      </p:sp>
      <p:sp>
        <p:nvSpPr>
          <p:cNvPr id="18" name="Text 11"/>
          <p:cNvSpPr txBox="1"/>
          <p:nvPr/>
        </p:nvSpPr>
        <p:spPr>
          <a:xfrm>
            <a:off x="9629546" y="71917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활동의 목표</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7610551"/>
            <a:ext cx="6931342" cy="9144"/>
          </a:xfrm>
          <a:prstGeom prst="rect">
            <a:avLst/>
          </a:prstGeom>
        </p:spPr>
      </p:pic>
      <p:sp>
        <p:nvSpPr>
          <p:cNvPr id="20" name="Text 12"/>
          <p:cNvSpPr txBox="1"/>
          <p:nvPr/>
        </p:nvSpPr>
        <p:spPr>
          <a:xfrm>
            <a:off x="9629546" y="7772400"/>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추정이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자주 틀린다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사실을 몸으로 확인하는 것이 목표다. 흔적은 정보를 주지만 결론까지 주지는 않는다. 그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틈</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5차시에서 우리가 만들 유물의 작동 공간이다.</a:t>
            </a:r>
            <a:endParaRPr lang="en-US" sz="1800" dirty="0"/>
          </a:p>
        </p:txBody>
      </p:sp>
      <p:sp>
        <p:nvSpPr>
          <p:cNvPr id="21" name="Text 13"/>
          <p:cNvSpPr txBox="1"/>
          <p:nvPr/>
        </p:nvSpPr>
        <p:spPr>
          <a:xfrm>
            <a:off x="1143000" y="9525305"/>
            <a:ext cx="7810805"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교사 메모 — 물건이 없는 학생에게는 교실 비품(의자 손잡이, 문틀, 책상 모서리)을 지정한다.</a:t>
            </a:r>
            <a:endParaRPr lang="en-US" sz="1725" dirty="0"/>
          </a:p>
        </p:txBody>
      </p:sp>
      <p:sp>
        <p:nvSpPr>
          <p:cNvPr id="22" name="Text 14"/>
          <p:cNvSpPr txBox="1"/>
          <p:nvPr/>
        </p:nvSpPr>
        <p:spPr>
          <a:xfrm>
            <a:off x="9334195" y="9753905"/>
            <a:ext cx="7810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활동 1 — 사물 읽기</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7bcfa87dee39fe8b7656b0e19caeee6d.jpg">    </p:cNvPr>
          <p:cNvPicPr>
            <a:picLocks noChangeAspect="1"/>
          </p:cNvPicPr>
          <p:nvPr/>
        </p:nvPicPr>
        <p:blipFill>
          <a:blip r:embed="rId1">
            <a:alphaModFix amt="88000"/>
          </a:blip>
          <a:stretch>
            <a:fillRect/>
          </a:stretch>
        </p:blipFill>
        <p:spPr>
          <a:xfrm>
            <a:off x="11239805" y="0"/>
            <a:ext cx="7048195" cy="1029471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3 · 70–85분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03</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쓰레기는</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거짓말을 하지 않는다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고고학은 먼 과거만 다루지 않는다. 1973년부터 미국 투손에서는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현대인의 쓰레기통</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을 유적처럼 조사했다. 사람의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말과 사물</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 어긋날 때, 무엇을 믿어야 하는가.</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전개 3 — 쓰레기 고고학</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686300"/>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투손 쓰레기 프로젝트</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⑥</a:t>
            </a:r>
            <a:endParaRPr lang="en-US" sz="1650" dirty="0"/>
          </a:p>
        </p:txBody>
      </p:sp>
      <p:sp>
        <p:nvSpPr>
          <p:cNvPr id="6"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현재를 유적으로 다루면</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무엇이 보이는가</a:t>
            </a:r>
            <a:endParaRPr lang="en-US" sz="3450" dirty="0"/>
          </a:p>
        </p:txBody>
      </p:sp>
      <p:sp>
        <p:nvSpPr>
          <p:cNvPr id="7" name="Text 3"/>
          <p:cNvSpPr txBox="1"/>
          <p:nvPr/>
        </p:nvSpPr>
        <p:spPr>
          <a:xfrm>
            <a:off x="1143000" y="3105302"/>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윌리엄 라스제는 1973년 애리조나 대학에서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투손 지역 주민의 쓰레기</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를 조사하는 프로젝트를 시작했다. 방법은 고고학과 똑같았다 — 내용물을 분류하고, 계량하고, 기록했다. 이후 매립지를 직접 발굴하는 조사로 확장되었다.</a:t>
            </a:r>
            <a:endParaRPr lang="en-US" sz="2025" dirty="0"/>
          </a:p>
        </p:txBody>
      </p:sp>
      <p:sp>
        <p:nvSpPr>
          <p:cNvPr id="8" name="Text 4"/>
          <p:cNvSpPr txBox="1"/>
          <p:nvPr/>
        </p:nvSpPr>
        <p:spPr>
          <a:xfrm>
            <a:off x="1143000" y="499079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그가 확인한 세 가지</a:t>
            </a:r>
            <a:endParaRPr lang="en-US" sz="16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143000" y="5391302"/>
          <a:ext cx="9811512" cy="3010205"/>
        </p:xfrm>
        <a:graphic>
          <a:graphicData uri="http://schemas.openxmlformats.org/drawingml/2006/table">
            <a:tbl>
              <a:tblPr/>
              <a:tblGrid>
                <a:gridCol w="2381098"/>
                <a:gridCol w="7429500"/>
              </a:tblGrid>
              <a:tr h="75255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발견</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말과 사물의 차이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설문에 적은 소비량과 실제 폐기물의 양이 </a:t>
                      </a:r>
                      <a:pPr indent="0" marL="0">
                        <a:buNone/>
                      </a:pPr>
                      <a:r>
                        <a:rPr lang="en-US" sz="1875" b="1" dirty="0">
                          <a:solidFill>
                            <a:srgbClr val="17150F"/>
                          </a:solidFill>
                          <a:latin typeface="Noto Serif KR" pitchFamily="34" charset="0"/>
                          <a:ea typeface="Noto Serif KR" pitchFamily="34" charset="-122"/>
                          <a:cs typeface="Noto Serif KR" pitchFamily="34" charset="-120"/>
                        </a:rPr>
                        <a:t>크게 달랐다</a:t>
                      </a:r>
                      <a:pPr indent="0" marL="0">
                        <a:buNone/>
                      </a:pPr>
                      <a:r>
                        <a:rPr lang="en-US" sz="1875" dirty="0">
                          <a:solidFill>
                            <a:srgbClr val="3A362C"/>
                          </a:solidFill>
                          <a:latin typeface="Noto Serif KR" pitchFamily="34" charset="0"/>
                          <a:ea typeface="Noto Serif KR" pitchFamily="34" charset="-122"/>
                          <a:cs typeface="Noto Serif KR" pitchFamily="34" charset="-120"/>
                        </a:rPr>
                        <a:t>. 예컨대 술 소비는 </a:t>
                      </a:r>
                      <a:pPr indent="0" marL="0">
                        <a:buNone/>
                      </a:pPr>
                      <a:r>
                        <a:rPr lang="en-US" sz="1875" b="1" dirty="0">
                          <a:solidFill>
                            <a:srgbClr val="9C2A1F"/>
                          </a:solidFill>
                          <a:latin typeface="Noto Serif KR" pitchFamily="34" charset="0"/>
                          <a:ea typeface="Noto Serif KR" pitchFamily="34" charset="-122"/>
                          <a:cs typeface="Noto Serif KR" pitchFamily="34" charset="-120"/>
                        </a:rPr>
                        <a:t>적게 신고</a:t>
                      </a:r>
                      <a:pPr indent="0" marL="0">
                        <a:buNone/>
                      </a:pPr>
                      <a:r>
                        <a:rPr lang="en-US" sz="1875" dirty="0">
                          <a:solidFill>
                            <a:srgbClr val="3A362C"/>
                          </a:solidFill>
                          <a:latin typeface="Noto Serif KR" pitchFamily="34" charset="0"/>
                          <a:ea typeface="Noto Serif KR" pitchFamily="34" charset="-122"/>
                          <a:cs typeface="Noto Serif KR" pitchFamily="34" charset="-120"/>
                        </a:rPr>
                        <a:t>되었다.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불황기의 낭비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경제가 어려운 시기에도 값비싼 음식의 폐기량은 줄지 않았다.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종이의 수명</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매립지의 종이류는 </a:t>
                      </a:r>
                      <a:pPr indent="0" marL="0">
                        <a:buNone/>
                      </a:pPr>
                      <a:r>
                        <a:rPr lang="en-US" sz="1875" b="1" dirty="0">
                          <a:solidFill>
                            <a:srgbClr val="17150F"/>
                          </a:solidFill>
                          <a:latin typeface="Noto Serif KR" pitchFamily="34" charset="0"/>
                          <a:ea typeface="Noto Serif KR" pitchFamily="34" charset="-122"/>
                          <a:cs typeface="Noto Serif KR" pitchFamily="34" charset="-120"/>
                        </a:rPr>
                        <a:t>50년이 지나도</a:t>
                      </a:r>
                      <a:pPr indent="0" marL="0">
                        <a:buNone/>
                      </a:pPr>
                      <a:r>
                        <a:rPr lang="en-US" sz="1875" dirty="0">
                          <a:solidFill>
                            <a:srgbClr val="3A362C"/>
                          </a:solidFill>
                          <a:latin typeface="Noto Serif KR" pitchFamily="34" charset="0"/>
                          <a:ea typeface="Noto Serif KR" pitchFamily="34" charset="-122"/>
                          <a:cs typeface="Noto Serif KR" pitchFamily="34" charset="-120"/>
                        </a:rPr>
                        <a:t> 거의 손상 없이 남아 있었다.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3" name="Shape 18"/>
          <p:cNvSpPr/>
          <p:nvPr/>
        </p:nvSpPr>
        <p:spPr>
          <a:xfrm>
            <a:off x="11620195" y="6172200"/>
            <a:ext cx="5524805" cy="2619756"/>
          </a:xfrm>
          <a:prstGeom prst="rect">
            <a:avLst/>
          </a:prstGeom>
          <a:solidFill>
            <a:srgbClr val="9C2A1F">
              <a:alpha val="6000"/>
            </a:srgbClr>
          </a:solidFill>
          <a:ln w="12700">
            <a:solidFill>
              <a:srgbClr val="9C2A1F"/>
            </a:solidFill>
            <a:prstDash val="solid"/>
          </a:ln>
        </p:spPr>
      </p:sp>
      <p:sp>
        <p:nvSpPr>
          <p:cNvPr id="24" name="Text 19"/>
          <p:cNvSpPr txBox="1"/>
          <p:nvPr/>
        </p:nvSpPr>
        <p:spPr>
          <a:xfrm>
            <a:off x="11896344" y="6391656"/>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차시의 논지와 연결되는 지점</a:t>
            </a:r>
            <a:endParaRPr lang="en-US" sz="1575" dirty="0"/>
          </a:p>
        </p:txBody>
      </p:sp>
      <p:pic>
        <p:nvPicPr>
          <p:cNvPr id="25" name="Image 2" descr="gen-dedup-27ae280773eedb088e0c817c49142db0.png">    </p:cNvPr>
          <p:cNvPicPr>
            <a:picLocks noChangeAspect="1"/>
          </p:cNvPicPr>
          <p:nvPr/>
        </p:nvPicPr>
        <p:blipFill>
          <a:blip r:embed="rId3"/>
          <a:stretch/>
        </p:blipFill>
        <p:spPr>
          <a:xfrm>
            <a:off x="11996054" y="6810451"/>
            <a:ext cx="4773087" cy="9144"/>
          </a:xfrm>
          <a:prstGeom prst="rect">
            <a:avLst/>
          </a:prstGeom>
        </p:spPr>
      </p:pic>
      <p:sp>
        <p:nvSpPr>
          <p:cNvPr id="26" name="Text 20"/>
          <p:cNvSpPr txBox="1"/>
          <p:nvPr/>
        </p:nvSpPr>
        <p:spPr>
          <a:xfrm>
            <a:off x="11896344" y="6972300"/>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사람은 자기 행동을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설명할 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편집한다. 그러나 버린 물건은 편집되지 않는다. 그래서 사물은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증언</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된다. 우리가 만들 유물도 같다 —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주장하지 않으면서 알려 준다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t>
            </a:r>
            <a:endParaRPr lang="en-US" sz="1800" dirty="0"/>
          </a:p>
        </p:txBody>
      </p:sp>
      <p:sp>
        <p:nvSpPr>
          <p:cNvPr id="27" name="Text 21"/>
          <p:cNvSpPr txBox="1"/>
          <p:nvPr/>
        </p:nvSpPr>
        <p:spPr>
          <a:xfrm>
            <a:off x="11887200" y="9258300"/>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여러분의 어제 쓰레기통을 누가 조사한다면, 어떤 사실이 드러날까요.</a:t>
            </a:r>
            <a:endParaRPr lang="en-US" sz="2025" dirty="0"/>
          </a:p>
        </p:txBody>
      </p:sp>
      <p:sp>
        <p:nvSpPr>
          <p:cNvPr id="28" name="Text 22"/>
          <p:cNvSpPr txBox="1"/>
          <p:nvPr/>
        </p:nvSpPr>
        <p:spPr>
          <a:xfrm>
            <a:off x="1143000" y="9562795"/>
            <a:ext cx="104973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투손 쓰레기 프로젝트 백과 항목, Archaeology Southwest 기록, 스탠퍼드 Garbology 온라인 자료</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4647896"/>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11fb5f13bca854baded05fa46893903d.jpg">    </p:cNvPr>
          <p:cNvPicPr>
            <a:picLocks noChangeAspect="1"/>
          </p:cNvPicPr>
          <p:nvPr/>
        </p:nvPicPr>
        <p:blipFill>
          <a:blip r:embed="rId3"/>
          <a:stretch/>
        </p:blipFill>
        <p:spPr>
          <a:xfrm>
            <a:off x="1774288" y="1438351"/>
            <a:ext cx="8547107"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분류가 자료를 만든다</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4—05</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4—05</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쓰레기를 항목별로 나누어 늘어놓은 분류 작업 장면. 버려진 물건이 자료로 바뀌는 단계를 보여 준다.</a:t>
            </a:r>
            <a:endParaRPr lang="en-US" sz="1725" dirty="0"/>
          </a:p>
        </p:txBody>
      </p:sp>
      <p:sp>
        <p:nvSpPr>
          <p:cNvPr id="9" name="Text 4"/>
          <p:cNvSpPr txBox="1"/>
          <p:nvPr/>
        </p:nvSpPr>
        <p:spPr>
          <a:xfrm>
            <a:off x="1143000" y="82296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사진에서 물건은 여전히 쓰레기다. 달라진 것은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배열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뿐이다. 항목별로 나누고 같은 간격으로 놓는 순간, 같은 물건이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자료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로 읽힌다. 2차시 디온의 캐비닛과 정확히 같은 동작이며, 우리 전시의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진열 방식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하는 일도 이것이다.</a:t>
            </a:r>
            <a:endParaRPr lang="en-US" sz="1875" dirty="0"/>
          </a:p>
        </p:txBody>
      </p:sp>
      <p:sp>
        <p:nvSpPr>
          <p:cNvPr id="10" name="Shape 5"/>
          <p:cNvSpPr/>
          <p:nvPr/>
        </p:nvSpPr>
        <p:spPr>
          <a:xfrm>
            <a:off x="11525098" y="1429207"/>
            <a:ext cx="5619902" cy="3400654"/>
          </a:xfrm>
          <a:prstGeom prst="rect">
            <a:avLst/>
          </a:prstGeom>
          <a:solidFill>
            <a:srgbClr val="FFFFFF">
              <a:alpha val="42000"/>
            </a:srgbClr>
          </a:solidFill>
          <a:ln w="12700">
            <a:solidFill>
              <a:srgbClr val="BEB6A5"/>
            </a:solidFill>
            <a:prstDash val="solid"/>
          </a:ln>
        </p:spPr>
      </p:sp>
      <p:sp>
        <p:nvSpPr>
          <p:cNvPr id="11" name="Shape 6"/>
          <p:cNvSpPr/>
          <p:nvPr/>
        </p:nvSpPr>
        <p:spPr>
          <a:xfrm>
            <a:off x="11782044" y="4181551"/>
            <a:ext cx="5105095" cy="9144"/>
          </a:xfrm>
          <a:prstGeom prst="rect">
            <a:avLst/>
          </a:prstGeom>
          <a:solidFill>
            <a:srgbClr val="BEB6A5"/>
          </a:solidFill>
          <a:ln w="12700">
            <a:solidFill>
              <a:srgbClr val="BEB6A5">
                <a:alpha val="0"/>
              </a:srgbClr>
            </a:solidFill>
            <a:prstDash val="solid"/>
          </a:ln>
        </p:spPr>
      </p:sp>
      <p:sp>
        <p:nvSpPr>
          <p:cNvPr id="13" name="Text 8"/>
          <p:cNvSpPr txBox="1"/>
          <p:nvPr/>
        </p:nvSpPr>
        <p:spPr>
          <a:xfrm>
            <a:off x="11782044" y="16952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장면</a:t>
            </a:r>
            <a:endParaRPr lang="en-US" sz="1650" dirty="0"/>
          </a:p>
        </p:txBody>
      </p:sp>
      <p:sp>
        <p:nvSpPr>
          <p:cNvPr id="14" name="Text 9"/>
          <p:cNvSpPr txBox="1"/>
          <p:nvPr/>
        </p:nvSpPr>
        <p:spPr>
          <a:xfrm>
            <a:off x="13382244" y="1647749"/>
            <a:ext cx="267096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쓰레기 분류·계량 작업</a:t>
            </a:r>
            <a:endParaRPr lang="en-US" sz="1875" dirty="0"/>
          </a:p>
        </p:txBody>
      </p:sp>
      <p:sp>
        <p:nvSpPr>
          <p:cNvPr id="15" name="Text 10"/>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방법</a:t>
            </a:r>
            <a:endParaRPr lang="en-US" sz="1650" dirty="0"/>
          </a:p>
        </p:txBody>
      </p:sp>
      <p:sp>
        <p:nvSpPr>
          <p:cNvPr id="16" name="Text 11"/>
          <p:cNvSpPr txBox="1"/>
          <p:nvPr/>
        </p:nvSpPr>
        <p:spPr>
          <a:xfrm>
            <a:off x="13382244" y="2090318"/>
            <a:ext cx="32488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항목별 구분 → 계량 → 기록</a:t>
            </a:r>
            <a:endParaRPr lang="en-US" sz="1875" dirty="0"/>
          </a:p>
        </p:txBody>
      </p:sp>
      <p:sp>
        <p:nvSpPr>
          <p:cNvPr id="17" name="Text 12"/>
          <p:cNvSpPr txBox="1"/>
          <p:nvPr/>
        </p:nvSpPr>
        <p:spPr>
          <a:xfrm>
            <a:off x="11782044" y="25813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맥락</a:t>
            </a:r>
            <a:endParaRPr lang="en-US" sz="1650" dirty="0"/>
          </a:p>
        </p:txBody>
      </p:sp>
      <p:sp>
        <p:nvSpPr>
          <p:cNvPr id="18" name="Text 13"/>
          <p:cNvSpPr txBox="1"/>
          <p:nvPr/>
        </p:nvSpPr>
        <p:spPr>
          <a:xfrm>
            <a:off x="13382244" y="2533802"/>
            <a:ext cx="34482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현대 물질문화를 고고학의 절차로 조사</a:t>
            </a:r>
            <a:endParaRPr lang="en-US" sz="1875" dirty="0"/>
          </a:p>
        </p:txBody>
      </p:sp>
      <p:sp>
        <p:nvSpPr>
          <p:cNvPr id="19" name="Text 14"/>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비교</a:t>
            </a:r>
            <a:endParaRPr lang="en-US" sz="1650" dirty="0"/>
          </a:p>
        </p:txBody>
      </p:sp>
      <p:sp>
        <p:nvSpPr>
          <p:cNvPr id="20" name="Text 15"/>
          <p:cNvSpPr txBox="1"/>
          <p:nvPr/>
        </p:nvSpPr>
        <p:spPr>
          <a:xfrm>
            <a:off x="13382244" y="3333902"/>
            <a:ext cx="350581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2차시 마크 디온 「테이트 템스 발굴」</a:t>
            </a:r>
            <a:endParaRPr lang="en-US" sz="1875" dirty="0"/>
          </a:p>
        </p:txBody>
      </p:sp>
      <p:sp>
        <p:nvSpPr>
          <p:cNvPr id="21" name="Text 16"/>
          <p:cNvSpPr txBox="1"/>
          <p:nvPr/>
        </p:nvSpPr>
        <p:spPr>
          <a:xfrm>
            <a:off x="11525098" y="4304996"/>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2" name="Text 17"/>
          <p:cNvSpPr txBox="1"/>
          <p:nvPr/>
        </p:nvSpPr>
        <p:spPr>
          <a:xfrm>
            <a:off x="11525098" y="4914901"/>
            <a:ext cx="5619902" cy="273497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물건들을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봉투에 담아 두었다면</a:t>
            </a:r>
            <a:pPr algn="l" indent="0" marL="0">
              <a:buNone/>
            </a:pPr>
            <a:r>
              <a:rPr lang="en-US" sz="1800" dirty="0">
                <a:solidFill>
                  <a:srgbClr val="3A362C"/>
                </a:solidFill>
                <a:latin typeface="Noto Serif KR" pitchFamily="34" charset="0"/>
                <a:ea typeface="Noto Serif KR" pitchFamily="34" charset="-122"/>
                <a:cs typeface="Noto Serif KR" pitchFamily="34" charset="-120"/>
              </a:rPr>
              <a:t> 무엇으로 보일까요.</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분류 기준을 정한 사람은 누구입니까. 그 기준은 결과에 영향을 줍니까.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여기서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빠진 항목</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있다면 어떤 결론이 사라집니까.</a:t>
            </a:r>
            <a:endParaRPr lang="en-US" sz="1200" dirty="0"/>
          </a:p>
        </p:txBody>
      </p:sp>
      <p:sp>
        <p:nvSpPr>
          <p:cNvPr id="23" name="Shape 18"/>
          <p:cNvSpPr/>
          <p:nvPr/>
        </p:nvSpPr>
        <p:spPr>
          <a:xfrm>
            <a:off x="11525098" y="7791603"/>
            <a:ext cx="5619902" cy="1095451"/>
          </a:xfrm>
          <a:prstGeom prst="rect">
            <a:avLst/>
          </a:prstGeom>
          <a:solidFill>
            <a:srgbClr val="9C2A1F">
              <a:alpha val="6000"/>
            </a:srgbClr>
          </a:solidFill>
          <a:ln w="12700">
            <a:solidFill>
              <a:srgbClr val="9C2A1F"/>
            </a:solidFill>
            <a:prstDash val="solid"/>
          </a:ln>
        </p:spPr>
      </p:sp>
      <p:sp>
        <p:nvSpPr>
          <p:cNvPr id="24" name="Text 19"/>
          <p:cNvSpPr txBox="1"/>
          <p:nvPr/>
        </p:nvSpPr>
        <p:spPr>
          <a:xfrm>
            <a:off x="11782044" y="7971740"/>
            <a:ext cx="5106010" cy="734263"/>
          </a:xfrm>
          <a:prstGeom prst="rect">
            <a:avLst/>
          </a:prstGeom>
          <a:noFill/>
          <a:ln/>
        </p:spPr>
        <p:txBody>
          <a:bodyPr wrap="square" lIns="0" tIns="0" rIns="0" bIns="0" rtlCol="0" anchor="ctr"/>
          <a:lstStyle/>
          <a:p>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6차시 예고</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전시 진열 순서를 정하는 일이 곧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분류 기준을 정하는 일</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이다. 우리도 무엇을 빼는지 기록에 남긴다.</a:t>
            </a:r>
            <a:endParaRPr lang="en-US" sz="1650" dirty="0"/>
          </a:p>
        </p:txBody>
      </p:sp>
      <p:sp>
        <p:nvSpPr>
          <p:cNvPr id="25" name="Text 20"/>
          <p:cNvSpPr txBox="1"/>
          <p:nvPr/>
        </p:nvSpPr>
        <p:spPr>
          <a:xfrm>
            <a:off x="1143000" y="9677095"/>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쓰레기 고고학 교육 자료(garbology) 수록 도판 · 라스제 투손 쓰레기 프로젝트 관련</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현대의 사물을 고고학으로 다루기</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먼 과거가 아니라 지금이 대상일 때</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알프레도 곤살레스루이발은 고고학을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현재의 물질문화</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로 확장했다. 전쟁·재난·기술 폐기물처럼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지금 생산되고 있는 사물</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을 유적처럼 다루는 접근이다. 호더의 얽힘 개념을 현대 사회에 적용한 흐름으로 볼 수 있다.</a:t>
            </a:r>
            <a:endParaRPr lang="en-US" sz="2175" dirty="0"/>
          </a:p>
        </p:txBody>
      </p:sp>
      <p:sp>
        <p:nvSpPr>
          <p:cNvPr id="8"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전개 3에서 확인한 세 문장</a:t>
            </a:r>
            <a:endParaRPr lang="en-US" sz="1650" dirty="0"/>
          </a:p>
        </p:txBody>
      </p:sp>
      <p:sp>
        <p:nvSpPr>
          <p:cNvPr id="9" name="Text 5"/>
          <p:cNvSpPr txBox="1"/>
          <p:nvPr/>
        </p:nvSpPr>
        <p:spPr>
          <a:xfrm>
            <a:off x="1143000" y="4248302"/>
            <a:ext cx="7810805" cy="2043684"/>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사람의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진술</a:t>
            </a:r>
            <a:pPr algn="l" indent="0" marL="0">
              <a:buNone/>
            </a:pPr>
            <a:r>
              <a:rPr lang="en-US" sz="1875" dirty="0">
                <a:solidFill>
                  <a:srgbClr val="3A362C"/>
                </a:solidFill>
                <a:latin typeface="Noto Serif KR" pitchFamily="34" charset="0"/>
                <a:ea typeface="Noto Serif KR" pitchFamily="34" charset="-122"/>
                <a:cs typeface="Noto Serif KR" pitchFamily="34" charset="-120"/>
              </a:rPr>
              <a:t>과 사물의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기록</a:t>
            </a:r>
            <a:pPr algn="l" indent="0" marL="0">
              <a:buNone/>
            </a:pPr>
            <a:r>
              <a:rPr lang="en-US" sz="1875" dirty="0">
                <a:solidFill>
                  <a:srgbClr val="3A362C"/>
                </a:solidFill>
                <a:latin typeface="Noto Serif KR" pitchFamily="34" charset="0"/>
                <a:ea typeface="Noto Serif KR" pitchFamily="34" charset="-122"/>
                <a:cs typeface="Noto Serif KR" pitchFamily="34" charset="-120"/>
              </a:rPr>
              <a:t>은 어긋난다. 어긋남 자체가 자료다.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유적은 오래된 곳이 아니라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사물이 퇴적된 곳</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이다. 어제의 쓰레기통도 유적이다.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분류가 자료를 만든다.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기준을 정한 사람</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 결과에 개입한다.</a:t>
            </a:r>
            <a:endParaRPr lang="en-US" sz="1200" dirty="0"/>
          </a:p>
        </p:txBody>
      </p:sp>
      <p:sp>
        <p:nvSpPr>
          <p:cNvPr id="10" name="Shape 6"/>
          <p:cNvSpPr/>
          <p:nvPr/>
        </p:nvSpPr>
        <p:spPr>
          <a:xfrm>
            <a:off x="9334195" y="3847795"/>
            <a:ext cx="7810805" cy="3200400"/>
          </a:xfrm>
          <a:prstGeom prst="rect">
            <a:avLst/>
          </a:prstGeom>
          <a:solidFill>
            <a:srgbClr val="FFFFFF">
              <a:alpha val="42000"/>
            </a:srgbClr>
          </a:solidFill>
          <a:ln w="12700">
            <a:solidFill>
              <a:srgbClr val="BEB6A5"/>
            </a:solidFill>
            <a:prstDash val="solid"/>
          </a:ln>
        </p:spPr>
      </p:sp>
      <p:sp>
        <p:nvSpPr>
          <p:cNvPr id="11" name="Text 7"/>
          <p:cNvSpPr txBox="1"/>
          <p:nvPr/>
        </p:nvSpPr>
        <p:spPr>
          <a:xfrm>
            <a:off x="9592056" y="4114800"/>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연구자</a:t>
            </a:r>
            <a:endParaRPr lang="en-US" sz="1650" dirty="0"/>
          </a:p>
        </p:txBody>
      </p:sp>
      <p:sp>
        <p:nvSpPr>
          <p:cNvPr id="12" name="Text 8"/>
          <p:cNvSpPr txBox="1"/>
          <p:nvPr/>
        </p:nvSpPr>
        <p:spPr>
          <a:xfrm>
            <a:off x="11192256" y="4067251"/>
            <a:ext cx="28483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알프레도 곤살레스루이발</a:t>
            </a:r>
            <a:endParaRPr lang="en-US" sz="1875" dirty="0"/>
          </a:p>
        </p:txBody>
      </p:sp>
      <p:sp>
        <p:nvSpPr>
          <p:cNvPr id="13" name="Text 9"/>
          <p:cNvSpPr txBox="1"/>
          <p:nvPr/>
        </p:nvSpPr>
        <p:spPr>
          <a:xfrm>
            <a:off x="11192256" y="4424782"/>
            <a:ext cx="34006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Alfredo González-Ruibal</a:t>
            </a:r>
            <a:endParaRPr lang="en-US" sz="1875" dirty="0"/>
          </a:p>
        </p:txBody>
      </p:sp>
      <p:sp>
        <p:nvSpPr>
          <p:cNvPr id="14" name="Text 10"/>
          <p:cNvSpPr txBox="1"/>
          <p:nvPr/>
        </p:nvSpPr>
        <p:spPr>
          <a:xfrm>
            <a:off x="9592056" y="4914900"/>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5" name="Text 11"/>
          <p:cNvSpPr txBox="1"/>
          <p:nvPr/>
        </p:nvSpPr>
        <p:spPr>
          <a:xfrm>
            <a:off x="11192256" y="4867351"/>
            <a:ext cx="54772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『An Archaeology of the Contemporary Past』(Pearson, 2014)</a:t>
            </a:r>
            <a:endParaRPr lang="en-US" sz="1875" dirty="0"/>
          </a:p>
        </p:txBody>
      </p:sp>
      <p:sp>
        <p:nvSpPr>
          <p:cNvPr id="16" name="Text 12"/>
          <p:cNvSpPr txBox="1"/>
          <p:nvPr/>
        </p:nvSpPr>
        <p:spPr>
          <a:xfrm>
            <a:off x="11192256" y="5581498"/>
            <a:ext cx="445770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 「Modern Archaeology」로도 소개됨</a:t>
            </a:r>
            <a:endParaRPr lang="en-US" sz="1875" dirty="0"/>
          </a:p>
        </p:txBody>
      </p:sp>
      <p:sp>
        <p:nvSpPr>
          <p:cNvPr id="17" name="Text 13"/>
          <p:cNvSpPr txBox="1"/>
          <p:nvPr/>
        </p:nvSpPr>
        <p:spPr>
          <a:xfrm>
            <a:off x="9592056" y="607253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 사례</a:t>
            </a:r>
            <a:endParaRPr lang="en-US" sz="1650" dirty="0"/>
          </a:p>
        </p:txBody>
      </p:sp>
      <p:sp>
        <p:nvSpPr>
          <p:cNvPr id="18" name="Text 14"/>
          <p:cNvSpPr txBox="1"/>
          <p:nvPr/>
        </p:nvSpPr>
        <p:spPr>
          <a:xfrm>
            <a:off x="11192256" y="6024982"/>
            <a:ext cx="32772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환경·재난·전쟁·기술 폐기물</a:t>
            </a:r>
            <a:endParaRPr lang="en-US" sz="1875" dirty="0"/>
          </a:p>
        </p:txBody>
      </p:sp>
      <p:sp>
        <p:nvSpPr>
          <p:cNvPr id="19" name="Text 15"/>
          <p:cNvSpPr txBox="1"/>
          <p:nvPr/>
        </p:nvSpPr>
        <p:spPr>
          <a:xfrm>
            <a:off x="9592056" y="651510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이론 연결</a:t>
            </a:r>
            <a:endParaRPr lang="en-US" sz="1650" dirty="0"/>
          </a:p>
        </p:txBody>
      </p:sp>
      <p:sp>
        <p:nvSpPr>
          <p:cNvPr id="20" name="Text 16"/>
          <p:cNvSpPr txBox="1"/>
          <p:nvPr/>
        </p:nvSpPr>
        <p:spPr>
          <a:xfrm>
            <a:off x="11192256" y="6467551"/>
            <a:ext cx="537210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호더의 얽힘entanglement 개념을 현대로 확장</a:t>
            </a:r>
            <a:endParaRPr lang="en-US" sz="1875" dirty="0"/>
          </a:p>
        </p:txBody>
      </p:sp>
      <p:sp>
        <p:nvSpPr>
          <p:cNvPr id="21" name="Shape 17"/>
          <p:cNvSpPr/>
          <p:nvPr/>
        </p:nvSpPr>
        <p:spPr>
          <a:xfrm>
            <a:off x="9334195" y="7200900"/>
            <a:ext cx="7810805" cy="2238451"/>
          </a:xfrm>
          <a:prstGeom prst="rect">
            <a:avLst/>
          </a:prstGeom>
          <a:solidFill>
            <a:srgbClr val="9C2A1F">
              <a:alpha val="6000"/>
            </a:srgbClr>
          </a:solidFill>
          <a:ln w="12700">
            <a:solidFill>
              <a:srgbClr val="9C2A1F"/>
            </a:solidFill>
            <a:prstDash val="solid"/>
          </a:ln>
        </p:spPr>
      </p:sp>
      <p:sp>
        <p:nvSpPr>
          <p:cNvPr id="22" name="Text 18"/>
          <p:cNvSpPr txBox="1"/>
          <p:nvPr/>
        </p:nvSpPr>
        <p:spPr>
          <a:xfrm>
            <a:off x="9629546" y="7420356"/>
            <a:ext cx="72201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5차시로 넘어가는 연결선</a:t>
            </a:r>
            <a:endParaRPr lang="en-US" sz="1650" dirty="0"/>
          </a:p>
        </p:txBody>
      </p:sp>
      <p:pic>
        <p:nvPicPr>
          <p:cNvPr id="23" name="Image 2" descr="gen-dedup-8daa7bbad9e138f694b547871d64bad8.png">    </p:cNvPr>
          <p:cNvPicPr>
            <a:picLocks noChangeAspect="1"/>
          </p:cNvPicPr>
          <p:nvPr/>
        </p:nvPicPr>
        <p:blipFill>
          <a:blip r:embed="rId3"/>
          <a:stretch/>
        </p:blipFill>
        <p:spPr>
          <a:xfrm>
            <a:off x="9773926" y="7858354"/>
            <a:ext cx="6931342" cy="9144"/>
          </a:xfrm>
          <a:prstGeom prst="rect">
            <a:avLst/>
          </a:prstGeom>
        </p:spPr>
      </p:pic>
      <p:sp>
        <p:nvSpPr>
          <p:cNvPr id="24" name="Text 19"/>
          <p:cNvSpPr txBox="1"/>
          <p:nvPr/>
        </p:nvSpPr>
        <p:spPr>
          <a:xfrm>
            <a:off x="9629546" y="8020202"/>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우리가 만들 유물의 설정 연대는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2300년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즉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지금의 사물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미래에 발굴되는 상황을 가정한 구조다. 따라서 재료는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현재 실제로 존재하는 것</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이어야 한다.</a:t>
            </a:r>
            <a:endParaRPr lang="en-US" sz="1800" dirty="0"/>
          </a:p>
        </p:txBody>
      </p:sp>
      <p:sp>
        <p:nvSpPr>
          <p:cNvPr id="25" name="Text 20"/>
          <p:cNvSpPr txBox="1"/>
          <p:nvPr/>
        </p:nvSpPr>
        <p:spPr>
          <a:xfrm>
            <a:off x="1410005" y="7372807"/>
            <a:ext cx="7543800" cy="896112"/>
          </a:xfrm>
          <a:prstGeom prst="rect">
            <a:avLst/>
          </a:prstGeom>
          <a:noFill/>
          <a:ln/>
        </p:spPr>
        <p:txBody>
          <a:bodyPr wrap="square" lIns="0" tIns="0" rIns="0" bIns="0" rtlCol="0" anchor="ctr"/>
          <a:lstStyle/>
          <a:p>
            <a:pPr algn="l" indent="0" marL="0">
              <a:lnSpc>
                <a:spcPts val="3510"/>
              </a:lnSpc>
              <a:buNone/>
            </a:pPr>
            <a:r>
              <a:rPr lang="en-US" sz="2250" b="1" dirty="0">
                <a:solidFill>
                  <a:srgbClr val="17150F"/>
                </a:solidFill>
                <a:latin typeface="Noto Serif KR" pitchFamily="34" charset="0"/>
                <a:ea typeface="Noto Serif KR" pitchFamily="34" charset="-122"/>
                <a:cs typeface="Noto Serif KR" pitchFamily="34" charset="-120"/>
              </a:rPr>
              <a:t>300년 뒤 사람이 오늘의 교실을 발굴한다면, 가장 많이 나올 물건은 무엇일까요.</a:t>
            </a:r>
            <a:endParaRPr lang="en-US" sz="2250" dirty="0"/>
          </a:p>
        </p:txBody>
      </p:sp>
      <p:sp>
        <p:nvSpPr>
          <p:cNvPr id="26" name="Text 21"/>
          <p:cNvSpPr txBox="1"/>
          <p:nvPr/>
        </p:nvSpPr>
        <p:spPr>
          <a:xfrm>
            <a:off x="1143000" y="8915400"/>
            <a:ext cx="7810805"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가장 많이 나오는 것이 그 시대를 대표한다 — 이것이 고고학의 일반적 추론 방식이다. 그러나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가장 많이 남는 것</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가장 중요했던 것</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은 다를 수 있다.</a:t>
            </a:r>
            <a:endParaRPr lang="en-US" sz="1725" dirty="0"/>
          </a:p>
        </p:txBody>
      </p:sp>
      <p:sp>
        <p:nvSpPr>
          <p:cNvPr id="27" name="Text 22"/>
          <p:cNvSpPr txBox="1"/>
          <p:nvPr/>
        </p:nvSpPr>
        <p:spPr>
          <a:xfrm>
            <a:off x="1143000" y="9810598"/>
            <a:ext cx="8413394" cy="277063"/>
          </a:xfrm>
          <a:prstGeom prst="rect">
            <a:avLst/>
          </a:prstGeom>
          <a:noFill/>
          <a:ln/>
        </p:spPr>
        <p:txBody>
          <a:bodyPr wrap="non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출처: González-Ruibal 『An Archaeology of the Contemporary Past』(2014)</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924a57639fc6ae1235566d5101596f3c.jpg">    </p:cNvPr>
          <p:cNvPicPr>
            <a:picLocks noChangeAspect="1"/>
          </p:cNvPicPr>
          <p:nvPr/>
        </p:nvPicPr>
        <p:blipFill>
          <a:blip r:embed="rId1">
            <a:alphaModFix amt="88000"/>
          </a:blip>
          <a:stretch>
            <a:fillRect/>
          </a:stretch>
        </p:blipFill>
        <p:spPr>
          <a:xfrm>
            <a:off x="11239805" y="0"/>
            <a:ext cx="7048500"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4 · 85–100분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04</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이름을 붙이는 일이</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사물을 유물로 만든다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박물관은 사물을 보관하는 창고가 아니다.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진열과 명제표</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를 통해 의미를 만들어 내는 장치다. 2차시의 제도 논의를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우리 손이 직접 쓰는 서식</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으로 옮긴다.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전개 4 — 박물관학과 명명</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438498"/>
            <a:ext cx="9731964" cy="28346"/>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4686301"/>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토니 베넷의 전시적 복합체</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이론 ⑦</a:t>
            </a:r>
            <a:endParaRPr lang="en-US" sz="1650" dirty="0"/>
          </a:p>
        </p:txBody>
      </p:sp>
      <p:sp>
        <p:nvSpPr>
          <p:cNvPr id="7"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박물관은 무엇을 보게 하고</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동시에 무엇을 가르치는가</a:t>
            </a:r>
            <a:endParaRPr lang="en-US" sz="3450" dirty="0"/>
          </a:p>
        </p:txBody>
      </p:sp>
      <p:sp>
        <p:nvSpPr>
          <p:cNvPr id="8" name="Text 3"/>
          <p:cNvSpPr txBox="1"/>
          <p:nvPr/>
        </p:nvSpPr>
        <p:spPr>
          <a:xfrm>
            <a:off x="1143000" y="3047695"/>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토니 베넷은 19세기에 등장한 박물관·박람회·만국박람회를 하나의 장치로 묶어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전시적 복합체</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라 불렀다. 사물을 사적인 소유의 영역에서 꺼내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공적으로 보이는 영역</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으로 옮기는 제도였다는 것이다.</a:t>
            </a:r>
            <a:endParaRPr lang="en-US" sz="2025" dirty="0"/>
          </a:p>
        </p:txBody>
      </p:sp>
      <p:sp>
        <p:nvSpPr>
          <p:cNvPr id="9" name="Text 4"/>
          <p:cNvSpPr txBox="1"/>
          <p:nvPr/>
        </p:nvSpPr>
        <p:spPr>
          <a:xfrm>
            <a:off x="1143000" y="4743907"/>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두 가지 성격이 동시에 있었다</a:t>
            </a:r>
            <a:endParaRPr lang="en-US" sz="16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1143000" y="5143500"/>
          <a:ext cx="9811512" cy="2382012"/>
        </p:xfrm>
        <a:graphic>
          <a:graphicData uri="http://schemas.openxmlformats.org/drawingml/2006/table">
            <a:tbl>
              <a:tblPr/>
              <a:tblGrid>
                <a:gridCol w="2190902"/>
                <a:gridCol w="7619695"/>
              </a:tblGrid>
              <a:tr h="794004">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성격</a:t>
                      </a:r>
                      <a:endParaRPr lang="en-US" sz="1725" dirty="0">
                        <a:latin typeface="Noto Sans KR" charset="0"/>
                        <a:ea typeface="Noto Sans KR" charset="0"/>
                        <a:cs typeface="Noto Sans KR" charset="0"/>
                      </a:endParaRPr>
                    </a:p>
                  </a:txBody>
                  <a:tcPr marL="171907" marR="171907" marT="114300" marB="114300"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작동 방식</a:t>
                      </a:r>
                      <a:endParaRPr lang="en-US" sz="1725" dirty="0">
                        <a:latin typeface="Noto Sans KR" charset="0"/>
                        <a:ea typeface="Noto Sans KR" charset="0"/>
                        <a:cs typeface="Noto Sans KR" charset="0"/>
                      </a:endParaRPr>
                    </a:p>
                  </a:txBody>
                  <a:tcPr marL="171907" marR="171907" marT="114300" marB="114300"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94004">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개방의 측면</a:t>
                      </a:r>
                      <a:endParaRPr lang="en-US" sz="1800" dirty="0">
                        <a:latin typeface="Noto Serif KR" charset="0"/>
                        <a:ea typeface="Noto Serif KR" charset="0"/>
                        <a:cs typeface="Noto Serif KR" charset="0"/>
                      </a:endParaRPr>
                    </a:p>
                  </a:txBody>
                  <a:tcPr marL="171907" marR="171907"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이전에는 왕실·귀족의 수장품이던 사물이 </a:t>
                      </a:r>
                      <a:pPr indent="0" marL="0">
                        <a:buNone/>
                      </a:pPr>
                      <a:r>
                        <a:rPr lang="en-US" sz="1800" b="1" dirty="0">
                          <a:solidFill>
                            <a:srgbClr val="17150F"/>
                          </a:solidFill>
                          <a:latin typeface="Noto Serif KR" pitchFamily="34" charset="0"/>
                          <a:ea typeface="Noto Serif KR" pitchFamily="34" charset="-122"/>
                          <a:cs typeface="Noto Serif KR" pitchFamily="34" charset="-120"/>
                        </a:rPr>
                        <a:t>누구나 볼 수 있는</a:t>
                      </a:r>
                      <a:pPr indent="0" marL="0">
                        <a:buNone/>
                      </a:pPr>
                      <a:r>
                        <a:rPr lang="en-US" sz="1800" dirty="0">
                          <a:solidFill>
                            <a:srgbClr val="3A362C"/>
                          </a:solidFill>
                          <a:latin typeface="Noto Serif KR" pitchFamily="34" charset="0"/>
                          <a:ea typeface="Noto Serif KR" pitchFamily="34" charset="-122"/>
                          <a:cs typeface="Noto Serif KR" pitchFamily="34" charset="-120"/>
                        </a:rPr>
                        <a:t> 대상이 되었다.</a:t>
                      </a:r>
                      <a:endParaRPr lang="en-US" sz="1200" dirty="0"/>
                    </a:p>
                  </a:txBody>
                  <a:tcPr marL="171907" marR="171907"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94004">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규율의 측면</a:t>
                      </a:r>
                      <a:endParaRPr lang="en-US" sz="1800" dirty="0">
                        <a:latin typeface="Noto Serif KR" charset="0"/>
                        <a:ea typeface="Noto Serif KR" charset="0"/>
                        <a:cs typeface="Noto Serif KR" charset="0"/>
                      </a:endParaRPr>
                    </a:p>
                  </a:txBody>
                  <a:tcPr marL="171907" marR="171907"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동시에 관람자는 </a:t>
                      </a:r>
                      <a:pPr indent="0" marL="0">
                        <a:buNone/>
                      </a:pPr>
                      <a:r>
                        <a:rPr lang="en-US" sz="1800" b="1" dirty="0">
                          <a:solidFill>
                            <a:srgbClr val="17150F"/>
                          </a:solidFill>
                          <a:latin typeface="Noto Serif KR" pitchFamily="34" charset="0"/>
                          <a:ea typeface="Noto Serif KR" pitchFamily="34" charset="-122"/>
                          <a:cs typeface="Noto Serif KR" pitchFamily="34" charset="-120"/>
                        </a:rPr>
                        <a:t>보는 법·걷는 법·조용히 있는 법</a:t>
                      </a:r>
                      <a:pPr indent="0" marL="0">
                        <a:buNone/>
                      </a:pPr>
                      <a:r>
                        <a:rPr lang="en-US" sz="1800" dirty="0">
                          <a:solidFill>
                            <a:srgbClr val="3A362C"/>
                          </a:solidFill>
                          <a:latin typeface="Noto Serif KR" pitchFamily="34" charset="0"/>
                          <a:ea typeface="Noto Serif KR" pitchFamily="34" charset="-122"/>
                          <a:cs typeface="Noto Serif KR" pitchFamily="34" charset="-120"/>
                        </a:rPr>
                        <a:t>을 배웠다. 전시는 관람자를 교육하는 장치이기도 했다.</a:t>
                      </a:r>
                      <a:endParaRPr lang="en-US" sz="1200" dirty="0"/>
                    </a:p>
                  </a:txBody>
                  <a:tcPr marL="171907" marR="171907" marT="105156" marB="10515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7524598"/>
            <a:ext cx="9810598" cy="2238451"/>
          </a:xfrm>
          <a:prstGeom prst="rect">
            <a:avLst/>
          </a:prstGeom>
          <a:solidFill>
            <a:srgbClr val="FFFFFF">
              <a:alpha val="36000"/>
            </a:srgbClr>
          </a:solidFill>
          <a:ln w="12700">
            <a:solidFill>
              <a:srgbClr val="BEB6A5"/>
            </a:solidFill>
            <a:prstDash val="solid"/>
          </a:ln>
        </p:spPr>
      </p:sp>
      <p:sp>
        <p:nvSpPr>
          <p:cNvPr id="12" name="Text 6"/>
          <p:cNvSpPr txBox="1"/>
          <p:nvPr/>
        </p:nvSpPr>
        <p:spPr>
          <a:xfrm>
            <a:off x="1438351" y="7744054"/>
            <a:ext cx="9220810"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전시에도 이 두 성격이 동시에 있다</a:t>
            </a:r>
            <a:endParaRPr lang="en-US" sz="1650" dirty="0"/>
          </a:p>
        </p:txBody>
      </p:sp>
      <p:pic>
        <p:nvPicPr>
          <p:cNvPr id="13" name="Image 3" descr="gen-dedup-7cde0152aae0e987b34280df86a6917f.png">    </p:cNvPr>
          <p:cNvPicPr>
            <a:picLocks noChangeAspect="1"/>
          </p:cNvPicPr>
          <p:nvPr/>
        </p:nvPicPr>
        <p:blipFill>
          <a:blip r:embed="rId4"/>
          <a:stretch/>
        </p:blipFill>
        <p:spPr>
          <a:xfrm>
            <a:off x="1622721" y="8182051"/>
            <a:ext cx="8851156" cy="9144"/>
          </a:xfrm>
          <a:prstGeom prst="rect">
            <a:avLst/>
          </a:prstGeom>
        </p:spPr>
      </p:pic>
      <p:sp>
        <p:nvSpPr>
          <p:cNvPr id="14" name="Text 7"/>
          <p:cNvSpPr txBox="1"/>
          <p:nvPr/>
        </p:nvSpPr>
        <p:spPr>
          <a:xfrm>
            <a:off x="1438351" y="8343900"/>
            <a:ext cx="9220810"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우리가 만들 전시는 관람자에게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자유로운 해석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권한다. 그러나 동시에 명제표의 서식·순서·조명이 관람자의 시선을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일정한 방향으로 유도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 둘 다 사실이며, 우리는 그 사실을 감추지 않는다.</a:t>
            </a:r>
            <a:endParaRPr lang="en-US" sz="1800" dirty="0"/>
          </a:p>
        </p:txBody>
      </p:sp>
      <p:sp>
        <p:nvSpPr>
          <p:cNvPr id="15" name="Shape 8"/>
          <p:cNvSpPr/>
          <p:nvPr/>
        </p:nvSpPr>
        <p:spPr>
          <a:xfrm>
            <a:off x="11620195" y="1466698"/>
            <a:ext cx="5524805" cy="3400654"/>
          </a:xfrm>
          <a:prstGeom prst="rect">
            <a:avLst/>
          </a:prstGeom>
          <a:solidFill>
            <a:srgbClr val="FFFFFF">
              <a:alpha val="42000"/>
            </a:srgbClr>
          </a:solidFill>
          <a:ln w="12700">
            <a:solidFill>
              <a:srgbClr val="BEB6A5"/>
            </a:solidFill>
            <a:prstDash val="solid"/>
          </a:ln>
        </p:spPr>
      </p:sp>
      <p:sp>
        <p:nvSpPr>
          <p:cNvPr id="16" name="Shape 9"/>
          <p:cNvSpPr/>
          <p:nvPr/>
        </p:nvSpPr>
        <p:spPr>
          <a:xfrm>
            <a:off x="11878056" y="4219956"/>
            <a:ext cx="5009998" cy="9144"/>
          </a:xfrm>
          <a:prstGeom prst="rect">
            <a:avLst/>
          </a:prstGeom>
          <a:solidFill>
            <a:srgbClr val="BEB6A5"/>
          </a:solidFill>
          <a:ln w="12700">
            <a:solidFill>
              <a:srgbClr val="BEB6A5">
                <a:alpha val="0"/>
              </a:srgbClr>
            </a:solidFill>
            <a:prstDash val="solid"/>
          </a:ln>
        </p:spPr>
      </p:sp>
      <p:sp>
        <p:nvSpPr>
          <p:cNvPr id="18" name="Text 11"/>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9" name="Text 12"/>
          <p:cNvSpPr txBox="1"/>
          <p:nvPr/>
        </p:nvSpPr>
        <p:spPr>
          <a:xfrm>
            <a:off x="13478256" y="1686154"/>
            <a:ext cx="30202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토니 베넷 Tony Bennett</a:t>
            </a:r>
            <a:endParaRPr lang="en-US" sz="1875" dirty="0"/>
          </a:p>
        </p:txBody>
      </p:sp>
      <p:sp>
        <p:nvSpPr>
          <p:cNvPr id="20" name="Text 13"/>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논문</a:t>
            </a:r>
            <a:endParaRPr lang="en-US" sz="1650" dirty="0"/>
          </a:p>
        </p:txBody>
      </p:sp>
      <p:sp>
        <p:nvSpPr>
          <p:cNvPr id="21" name="Text 14"/>
          <p:cNvSpPr txBox="1"/>
          <p:nvPr/>
        </p:nvSpPr>
        <p:spPr>
          <a:xfrm>
            <a:off x="13478256" y="2128723"/>
            <a:ext cx="23911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「The Exhibitionary Complex」</a:t>
            </a:r>
            <a:endParaRPr lang="en-US" sz="1875" dirty="0"/>
          </a:p>
        </p:txBody>
      </p:sp>
      <p:sp>
        <p:nvSpPr>
          <p:cNvPr id="22" name="Text 15"/>
          <p:cNvSpPr txBox="1"/>
          <p:nvPr/>
        </p:nvSpPr>
        <p:spPr>
          <a:xfrm>
            <a:off x="11878056" y="29763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발표</a:t>
            </a:r>
            <a:endParaRPr lang="en-US" sz="1650" dirty="0"/>
          </a:p>
        </p:txBody>
      </p:sp>
      <p:sp>
        <p:nvSpPr>
          <p:cNvPr id="23" name="Text 16"/>
          <p:cNvSpPr txBox="1"/>
          <p:nvPr/>
        </p:nvSpPr>
        <p:spPr>
          <a:xfrm>
            <a:off x="13478256" y="2928823"/>
            <a:ext cx="2078431" cy="342900"/>
          </a:xfrm>
          <a:prstGeom prst="rect">
            <a:avLst/>
          </a:prstGeom>
          <a:noFill/>
          <a:ln/>
        </p:spPr>
        <p:txBody>
          <a:bodyPr wrap="none" lIns="0" tIns="0" rIns="0" bIns="0" rtlCol="0" anchor="ctr"/>
          <a:lstStyle/>
          <a:p>
            <a:pPr algn="l" indent="0" marL="0">
              <a:buNone/>
            </a:pPr>
            <a:r>
              <a:rPr lang="en-US" sz="1875" i="1" dirty="0">
                <a:solidFill>
                  <a:srgbClr val="17150F"/>
                </a:solidFill>
                <a:latin typeface="Noto Serif KR" pitchFamily="34" charset="0"/>
                <a:ea typeface="Noto Serif KR" pitchFamily="34" charset="-122"/>
                <a:cs typeface="Noto Serif KR" pitchFamily="34" charset="-120"/>
              </a:rPr>
              <a:t>New Formations</a:t>
            </a:r>
            <a:endParaRPr lang="en-US" sz="1875" dirty="0"/>
          </a:p>
        </p:txBody>
      </p:sp>
      <p:sp>
        <p:nvSpPr>
          <p:cNvPr id="24" name="Text 17"/>
          <p:cNvSpPr txBox="1"/>
          <p:nvPr/>
        </p:nvSpPr>
        <p:spPr>
          <a:xfrm>
            <a:off x="15420442" y="2928823"/>
            <a:ext cx="162671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No. 4, 1988</a:t>
            </a:r>
            <a:endParaRPr lang="en-US" sz="1875" dirty="0"/>
          </a:p>
        </p:txBody>
      </p:sp>
      <p:sp>
        <p:nvSpPr>
          <p:cNvPr id="25" name="Text 18"/>
          <p:cNvSpPr txBox="1"/>
          <p:nvPr/>
        </p:nvSpPr>
        <p:spPr>
          <a:xfrm>
            <a:off x="11878056" y="3419856"/>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이론 배경</a:t>
            </a:r>
            <a:endParaRPr lang="en-US" sz="1650" dirty="0"/>
          </a:p>
        </p:txBody>
      </p:sp>
      <p:sp>
        <p:nvSpPr>
          <p:cNvPr id="26" name="Text 19"/>
          <p:cNvSpPr txBox="1"/>
          <p:nvPr/>
        </p:nvSpPr>
        <p:spPr>
          <a:xfrm>
            <a:off x="13478256" y="3372307"/>
            <a:ext cx="315285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푸코의 규율discipline 개념을 박물관·박람회로 확장</a:t>
            </a:r>
            <a:endParaRPr lang="en-US" sz="1875" dirty="0"/>
          </a:p>
        </p:txBody>
      </p:sp>
      <p:sp>
        <p:nvSpPr>
          <p:cNvPr id="27" name="Text 20"/>
          <p:cNvSpPr txBox="1"/>
          <p:nvPr/>
        </p:nvSpPr>
        <p:spPr>
          <a:xfrm>
            <a:off x="11620195" y="4343401"/>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전시장에서 관람자가 배우는 것들</a:t>
            </a:r>
            <a:endParaRPr lang="en-US" sz="1650" dirty="0"/>
          </a:p>
        </p:txBody>
      </p:sp>
      <p:sp>
        <p:nvSpPr>
          <p:cNvPr id="28" name="Text 21"/>
          <p:cNvSpPr txBox="1"/>
          <p:nvPr/>
        </p:nvSpPr>
        <p:spPr>
          <a:xfrm>
            <a:off x="11620195" y="4952391"/>
            <a:ext cx="5524805" cy="2050999"/>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dirty="0">
                <a:solidFill>
                  <a:srgbClr val="3A362C"/>
                </a:solidFill>
                <a:latin typeface="Noto Serif KR" pitchFamily="34" charset="0"/>
                <a:ea typeface="Noto Serif KR" pitchFamily="34" charset="-122"/>
                <a:cs typeface="Noto Serif KR" pitchFamily="34" charset="-120"/>
              </a:rPr>
              <a:t>유리 안의 것은 만지지 않는다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귀함</a:t>
            </a:r>
            <a:pPr algn="l" indent="0" marL="0">
              <a:buNone/>
            </a:pPr>
            <a:r>
              <a:rPr lang="en-US" sz="1800" dirty="0">
                <a:solidFill>
                  <a:srgbClr val="3A362C"/>
                </a:solidFill>
                <a:latin typeface="Noto Serif KR" pitchFamily="34" charset="0"/>
                <a:ea typeface="Noto Serif KR" pitchFamily="34" charset="-122"/>
                <a:cs typeface="Noto Serif KR" pitchFamily="34" charset="-120"/>
              </a:rPr>
              <a:t>의 학습</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dirty="0">
                <a:solidFill>
                  <a:srgbClr val="3A362C"/>
                </a:solidFill>
                <a:latin typeface="Noto Serif KR" pitchFamily="34" charset="0"/>
                <a:ea typeface="Noto Serif KR" pitchFamily="34" charset="-122"/>
                <a:cs typeface="Noto Serif KR" pitchFamily="34" charset="-120"/>
              </a:rPr>
              <a:t>명제표를 먼저 읽는다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설명의 권위</a:t>
            </a:r>
            <a:pPr algn="l" indent="0" marL="0">
              <a:buNone/>
            </a:pPr>
            <a:r>
              <a:rPr lang="en-US" sz="1800" dirty="0">
                <a:solidFill>
                  <a:srgbClr val="3A362C"/>
                </a:solidFill>
                <a:latin typeface="Noto Serif KR" pitchFamily="34" charset="0"/>
                <a:ea typeface="Noto Serif KR" pitchFamily="34" charset="-122"/>
                <a:cs typeface="Noto Serif KR" pitchFamily="34" charset="-120"/>
              </a:rPr>
              <a:t> 학습</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dirty="0">
                <a:solidFill>
                  <a:srgbClr val="3A362C"/>
                </a:solidFill>
                <a:latin typeface="Noto Serif KR" pitchFamily="34" charset="0"/>
                <a:ea typeface="Noto Serif KR" pitchFamily="34" charset="-122"/>
                <a:cs typeface="Noto Serif KR" pitchFamily="34" charset="-120"/>
              </a:rPr>
              <a:t>순서대로 걷는다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서사</a:t>
            </a:r>
            <a:pPr algn="l" indent="0" marL="0">
              <a:buNone/>
            </a:pPr>
            <a:r>
              <a:rPr lang="en-US" sz="1800" dirty="0">
                <a:solidFill>
                  <a:srgbClr val="3A362C"/>
                </a:solidFill>
                <a:latin typeface="Noto Serif KR" pitchFamily="34" charset="0"/>
                <a:ea typeface="Noto Serif KR" pitchFamily="34" charset="-122"/>
                <a:cs typeface="Noto Serif KR" pitchFamily="34" charset="-120"/>
              </a:rPr>
              <a:t>의 학습</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dirty="0">
                <a:solidFill>
                  <a:srgbClr val="3A362C"/>
                </a:solidFill>
                <a:latin typeface="Noto Serif KR" pitchFamily="34" charset="0"/>
                <a:ea typeface="Noto Serif KR" pitchFamily="34" charset="-122"/>
                <a:cs typeface="Noto Serif KR" pitchFamily="34" charset="-120"/>
              </a:rPr>
              <a:t>조용히 말한다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태도</a:t>
            </a:r>
            <a:pPr algn="l" indent="0" marL="0">
              <a:buNone/>
            </a:pPr>
            <a:r>
              <a:rPr lang="en-US" sz="1800" dirty="0">
                <a:solidFill>
                  <a:srgbClr val="3A362C"/>
                </a:solidFill>
                <a:latin typeface="Noto Serif KR" pitchFamily="34" charset="0"/>
                <a:ea typeface="Noto Serif KR" pitchFamily="34" charset="-122"/>
                <a:cs typeface="Noto Serif KR" pitchFamily="34" charset="-120"/>
              </a:rPr>
              <a:t>의 학습</a:t>
            </a:r>
            <a:endParaRPr lang="en-US" sz="1200" dirty="0"/>
          </a:p>
        </p:txBody>
      </p:sp>
      <p:sp>
        <p:nvSpPr>
          <p:cNvPr id="29" name="Text 22"/>
          <p:cNvSpPr txBox="1"/>
          <p:nvPr/>
        </p:nvSpPr>
        <p:spPr>
          <a:xfrm>
            <a:off x="11887200" y="7772401"/>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우리 전시가 관람자에게 은근히 가르치게 될 태도는 무엇입니까.</a:t>
            </a:r>
            <a:endParaRPr lang="en-US" sz="2025" dirty="0"/>
          </a:p>
        </p:txBody>
      </p:sp>
      <p:sp>
        <p:nvSpPr>
          <p:cNvPr id="30" name="Text 23"/>
          <p:cNvSpPr txBox="1"/>
          <p:nvPr/>
        </p:nvSpPr>
        <p:spPr>
          <a:xfrm>
            <a:off x="1143000" y="9829800"/>
            <a:ext cx="104973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Tony Bennett, 「The Exhibitionary Complex」,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New Formations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No. 4(1988) 원문</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개념 · 박물관화 musealization</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개념</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보존되는 순간 잃는 것</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한 사물이 박물관에 들어가면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보존·연구·교육</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의 대상이 된다. 그러나 동시에 원래 있던 자리에서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떼어내지고</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쓰이던 기능을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잃는다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이 두 방향을 함께 보는 개념이 박물관화다.</a:t>
            </a:r>
            <a:endParaRPr lang="en-US" sz="2175"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686861"/>
        </p:xfrm>
        <a:graphic>
          <a:graphicData uri="http://schemas.openxmlformats.org/drawingml/2006/table">
            <a:tbl>
              <a:tblPr/>
              <a:tblGrid>
                <a:gridCol w="2476195"/>
                <a:gridCol w="6286500"/>
                <a:gridCol w="7239305"/>
              </a:tblGrid>
              <a:tr h="73737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사물이 겪는 변화</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얻는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잃는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자리를 옮긴다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훼손 위험에서 벗어나 </a:t>
                      </a:r>
                      <a:pPr indent="0" marL="0">
                        <a:buNone/>
                      </a:pPr>
                      <a:r>
                        <a:rPr lang="en-US" sz="1875" b="1" dirty="0">
                          <a:solidFill>
                            <a:srgbClr val="17150F"/>
                          </a:solidFill>
                          <a:latin typeface="Noto Serif KR" pitchFamily="34" charset="0"/>
                          <a:ea typeface="Noto Serif KR" pitchFamily="34" charset="-122"/>
                          <a:cs typeface="Noto Serif KR" pitchFamily="34" charset="-120"/>
                        </a:rPr>
                        <a:t>장기 보존</a:t>
                      </a:r>
                      <a:pPr indent="0" marL="0">
                        <a:buNone/>
                      </a:pPr>
                      <a:r>
                        <a:rPr lang="en-US" sz="1875" dirty="0">
                          <a:solidFill>
                            <a:srgbClr val="3A362C"/>
                          </a:solidFill>
                          <a:latin typeface="Noto Serif KR" pitchFamily="34" charset="0"/>
                          <a:ea typeface="Noto Serif KR" pitchFamily="34" charset="-122"/>
                          <a:cs typeface="Noto Serif KR" pitchFamily="34" charset="-120"/>
                        </a:rPr>
                        <a:t>이 가능해진다.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어디에 어떻게 놓여 있었는지의 </a:t>
                      </a:r>
                      <a:pPr indent="0" marL="0">
                        <a:buNone/>
                      </a:pPr>
                      <a:r>
                        <a:rPr lang="en-US" sz="1875" b="1" dirty="0">
                          <a:solidFill>
                            <a:srgbClr val="9C2A1F"/>
                          </a:solidFill>
                          <a:latin typeface="Noto Serif KR" pitchFamily="34" charset="0"/>
                          <a:ea typeface="Noto Serif KR" pitchFamily="34" charset="-122"/>
                          <a:cs typeface="Noto Serif KR" pitchFamily="34" charset="-120"/>
                        </a:rPr>
                        <a:t>맥락</a:t>
                      </a:r>
                      <a:pPr indent="0" marL="0">
                        <a:buNone/>
                      </a:pPr>
                      <a:r>
                        <a:rPr lang="en-US" sz="1875" dirty="0">
                          <a:solidFill>
                            <a:srgbClr val="3A362C"/>
                          </a:solidFill>
                          <a:latin typeface="Noto Serif KR" pitchFamily="34" charset="0"/>
                          <a:ea typeface="Noto Serif KR" pitchFamily="34" charset="-122"/>
                          <a:cs typeface="Noto Serif KR" pitchFamily="34" charset="-120"/>
                        </a:rPr>
                        <a:t>이 사라진다.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기능이 정지된다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사용에 의한 추가 마모가 멈추고 </a:t>
                      </a:r>
                      <a:pPr indent="0" marL="0">
                        <a:buNone/>
                      </a:pPr>
                      <a:r>
                        <a:rPr lang="en-US" sz="1875" b="1" dirty="0">
                          <a:solidFill>
                            <a:srgbClr val="17150F"/>
                          </a:solidFill>
                          <a:latin typeface="Noto Serif KR" pitchFamily="34" charset="0"/>
                          <a:ea typeface="Noto Serif KR" pitchFamily="34" charset="-122"/>
                          <a:cs typeface="Noto Serif KR" pitchFamily="34" charset="-120"/>
                        </a:rPr>
                        <a:t>현재 상태가 고정</a:t>
                      </a:r>
                      <a:pPr indent="0" marL="0">
                        <a:buNone/>
                      </a:pPr>
                      <a:r>
                        <a:rPr lang="en-US" sz="1875" dirty="0">
                          <a:solidFill>
                            <a:srgbClr val="3A362C"/>
                          </a:solidFill>
                          <a:latin typeface="Noto Serif KR" pitchFamily="34" charset="0"/>
                          <a:ea typeface="Noto Serif KR" pitchFamily="34" charset="-122"/>
                          <a:cs typeface="Noto Serif KR" pitchFamily="34" charset="-120"/>
                        </a:rPr>
                        <a:t>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 사물이 무엇을 하던 물건인지는 </a:t>
                      </a:r>
                      <a:pPr indent="0" marL="0">
                        <a:buNone/>
                      </a:pPr>
                      <a:r>
                        <a:rPr lang="en-US" sz="1875" b="1" dirty="0">
                          <a:solidFill>
                            <a:srgbClr val="9C2A1F"/>
                          </a:solidFill>
                          <a:latin typeface="Noto Serif KR" pitchFamily="34" charset="0"/>
                          <a:ea typeface="Noto Serif KR" pitchFamily="34" charset="-122"/>
                          <a:cs typeface="Noto Serif KR" pitchFamily="34" charset="-120"/>
                        </a:rPr>
                        <a:t>설명에 의존</a:t>
                      </a:r>
                      <a:pPr indent="0" marL="0">
                        <a:buNone/>
                      </a:pPr>
                      <a:r>
                        <a:rPr lang="en-US" sz="1875" dirty="0">
                          <a:solidFill>
                            <a:srgbClr val="3A362C"/>
                          </a:solidFill>
                          <a:latin typeface="Noto Serif KR" pitchFamily="34" charset="0"/>
                          <a:ea typeface="Noto Serif KR" pitchFamily="34" charset="-122"/>
                          <a:cs typeface="Noto Serif KR" pitchFamily="34" charset="-120"/>
                        </a:rPr>
                        <a:t>하게 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이름과 번호가 붙는다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검색·비교·연구가 가능한 </a:t>
                      </a:r>
                      <a:pPr indent="0" marL="0">
                        <a:buNone/>
                      </a:pPr>
                      <a:r>
                        <a:rPr lang="en-US" sz="1875" b="1" dirty="0">
                          <a:solidFill>
                            <a:srgbClr val="17150F"/>
                          </a:solidFill>
                          <a:latin typeface="Noto Serif KR" pitchFamily="34" charset="0"/>
                          <a:ea typeface="Noto Serif KR" pitchFamily="34" charset="-122"/>
                          <a:cs typeface="Noto Serif KR" pitchFamily="34" charset="-120"/>
                        </a:rPr>
                        <a:t>자료</a:t>
                      </a:r>
                      <a:pPr indent="0" marL="0">
                        <a:buNone/>
                      </a:pPr>
                      <a:r>
                        <a:rPr lang="en-US" sz="1875" dirty="0">
                          <a:solidFill>
                            <a:srgbClr val="3A362C"/>
                          </a:solidFill>
                          <a:latin typeface="Noto Serif KR" pitchFamily="34" charset="0"/>
                          <a:ea typeface="Noto Serif KR" pitchFamily="34" charset="-122"/>
                          <a:cs typeface="Noto Serif KR" pitchFamily="34" charset="-120"/>
                        </a:rPr>
                        <a:t>가 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이름이 </a:t>
                      </a:r>
                      <a:pPr indent="0" marL="0">
                        <a:buNone/>
                      </a:pPr>
                      <a:r>
                        <a:rPr lang="en-US" sz="1875" b="1" dirty="0">
                          <a:solidFill>
                            <a:srgbClr val="9C2A1F"/>
                          </a:solidFill>
                          <a:latin typeface="Noto Serif KR" pitchFamily="34" charset="0"/>
                          <a:ea typeface="Noto Serif KR" pitchFamily="34" charset="-122"/>
                          <a:cs typeface="Noto Serif KR" pitchFamily="34" charset="-120"/>
                        </a:rPr>
                        <a:t>해석을 미리 결정</a:t>
                      </a:r>
                      <a:pPr indent="0" marL="0">
                        <a:buNone/>
                      </a:pPr>
                      <a:r>
                        <a:rPr lang="en-US" sz="1875" dirty="0">
                          <a:solidFill>
                            <a:srgbClr val="3A362C"/>
                          </a:solidFill>
                          <a:latin typeface="Noto Serif KR" pitchFamily="34" charset="0"/>
                          <a:ea typeface="Noto Serif KR" pitchFamily="34" charset="-122"/>
                          <a:cs typeface="Noto Serif KR" pitchFamily="34" charset="-120"/>
                        </a:rPr>
                        <a:t>한다. 다른 가능성이 닫힌다.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유리 안에 놓인다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누구나 볼 수 있게 </a:t>
                      </a:r>
                      <a:pPr indent="0" marL="0">
                        <a:buNone/>
                      </a:pPr>
                      <a:r>
                        <a:rPr lang="en-US" sz="1875" b="1" dirty="0">
                          <a:solidFill>
                            <a:srgbClr val="17150F"/>
                          </a:solidFill>
                          <a:latin typeface="Noto Serif KR" pitchFamily="34" charset="0"/>
                          <a:ea typeface="Noto Serif KR" pitchFamily="34" charset="-122"/>
                          <a:cs typeface="Noto Serif KR" pitchFamily="34" charset="-120"/>
                        </a:rPr>
                        <a:t>공개</a:t>
                      </a:r>
                      <a:pPr indent="0" marL="0">
                        <a:buNone/>
                      </a:pPr>
                      <a:r>
                        <a:rPr lang="en-US" sz="1875" dirty="0">
                          <a:solidFill>
                            <a:srgbClr val="3A362C"/>
                          </a:solidFill>
                          <a:latin typeface="Noto Serif KR" pitchFamily="34" charset="0"/>
                          <a:ea typeface="Noto Serif KR" pitchFamily="34" charset="-122"/>
                          <a:cs typeface="Noto Serif KR" pitchFamily="34" charset="-120"/>
                        </a:rPr>
                        <a:t>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만질 수 없어 </a:t>
                      </a:r>
                      <a:pPr indent="0" marL="0">
                        <a:buNone/>
                      </a:pPr>
                      <a:r>
                        <a:rPr lang="en-US" sz="1875" b="1" dirty="0">
                          <a:solidFill>
                            <a:srgbClr val="9C2A1F"/>
                          </a:solidFill>
                          <a:latin typeface="Noto Serif KR" pitchFamily="34" charset="0"/>
                          <a:ea typeface="Noto Serif KR" pitchFamily="34" charset="-122"/>
                          <a:cs typeface="Noto Serif KR" pitchFamily="34" charset="-120"/>
                        </a:rPr>
                        <a:t>감각의 정보</a:t>
                      </a:r>
                      <a:pPr indent="0" marL="0">
                        <a:buNone/>
                      </a:pPr>
                      <a:r>
                        <a:rPr lang="en-US" sz="1875" dirty="0">
                          <a:solidFill>
                            <a:srgbClr val="3A362C"/>
                          </a:solidFill>
                          <a:latin typeface="Noto Serif KR" pitchFamily="34" charset="0"/>
                          <a:ea typeface="Noto Serif KR" pitchFamily="34" charset="-122"/>
                          <a:cs typeface="Noto Serif KR" pitchFamily="34" charset="-120"/>
                        </a:rPr>
                        <a:t>가 사라진다.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7810805"/>
            <a:ext cx="7810805" cy="1981505"/>
          </a:xfrm>
          <a:prstGeom prst="rect">
            <a:avLst/>
          </a:prstGeom>
          <a:solidFill>
            <a:srgbClr val="9C2A1F">
              <a:alpha val="6000"/>
            </a:srgbClr>
          </a:solidFill>
          <a:ln w="12700">
            <a:solidFill>
              <a:srgbClr val="9C2A1F"/>
            </a:solidFill>
            <a:prstDash val="solid"/>
          </a:ln>
        </p:spPr>
      </p:sp>
      <p:sp>
        <p:nvSpPr>
          <p:cNvPr id="10" name="Text 5"/>
          <p:cNvSpPr txBox="1"/>
          <p:nvPr/>
        </p:nvSpPr>
        <p:spPr>
          <a:xfrm>
            <a:off x="1457554" y="8067751"/>
            <a:ext cx="71826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작업이 놓인 위치</a:t>
            </a:r>
            <a:endParaRPr lang="en-US" sz="1650" dirty="0"/>
          </a:p>
        </p:txBody>
      </p:sp>
      <p:pic>
        <p:nvPicPr>
          <p:cNvPr id="11" name="Image 2" descr="gen-dedup-33433c7e5bf5c4879e5a3c64cebe49d9.png">    </p:cNvPr>
          <p:cNvPicPr>
            <a:picLocks noChangeAspect="1"/>
          </p:cNvPicPr>
          <p:nvPr/>
        </p:nvPicPr>
        <p:blipFill>
          <a:blip r:embed="rId3"/>
          <a:stretch/>
        </p:blipFill>
        <p:spPr>
          <a:xfrm>
            <a:off x="1601166" y="8524951"/>
            <a:ext cx="6894474" cy="9144"/>
          </a:xfrm>
          <a:prstGeom prst="rect">
            <a:avLst/>
          </a:prstGeom>
        </p:spPr>
      </p:pic>
      <p:sp>
        <p:nvSpPr>
          <p:cNvPr id="12" name="Text 6"/>
          <p:cNvSpPr txBox="1"/>
          <p:nvPr/>
        </p:nvSpPr>
        <p:spPr>
          <a:xfrm>
            <a:off x="1457554" y="8706002"/>
            <a:ext cx="71826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잃을 맥락이 애초에 없는</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사물을 만든다. 그래서 맥락을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써서 붙여야</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한다. 이 차시가 카드 작성에 집중하는 이유다.</a:t>
            </a:r>
            <a:endParaRPr lang="en-US" sz="1875" dirty="0"/>
          </a:p>
        </p:txBody>
      </p:sp>
      <p:sp>
        <p:nvSpPr>
          <p:cNvPr id="13" name="Shape 7"/>
          <p:cNvSpPr/>
          <p:nvPr/>
        </p:nvSpPr>
        <p:spPr>
          <a:xfrm>
            <a:off x="9334195" y="7810805"/>
            <a:ext cx="7810805" cy="1981505"/>
          </a:xfrm>
          <a:prstGeom prst="rect">
            <a:avLst/>
          </a:prstGeom>
          <a:solidFill>
            <a:srgbClr val="FFFFFF">
              <a:alpha val="36000"/>
            </a:srgbClr>
          </a:solidFill>
          <a:ln w="12700">
            <a:solidFill>
              <a:srgbClr val="BEB6A5"/>
            </a:solidFill>
            <a:prstDash val="solid"/>
          </a:ln>
        </p:spPr>
      </p:sp>
      <p:sp>
        <p:nvSpPr>
          <p:cNvPr id="14" name="Text 8"/>
          <p:cNvSpPr txBox="1"/>
          <p:nvPr/>
        </p:nvSpPr>
        <p:spPr>
          <a:xfrm>
            <a:off x="9648749" y="8067751"/>
            <a:ext cx="71826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그래서 8차시 평가에서 묻는 것</a:t>
            </a:r>
            <a:endParaRPr lang="en-US" sz="1650" dirty="0"/>
          </a:p>
        </p:txBody>
      </p:sp>
      <p:pic>
        <p:nvPicPr>
          <p:cNvPr id="15" name="Image 3" descr="gen-dedup-33433c7e5bf5c4879e5a3c64cebe49d9.png">    </p:cNvPr>
          <p:cNvPicPr>
            <a:picLocks noChangeAspect="1"/>
          </p:cNvPicPr>
          <p:nvPr/>
        </p:nvPicPr>
        <p:blipFill>
          <a:blip r:embed="rId4"/>
          <a:stretch/>
        </p:blipFill>
        <p:spPr>
          <a:xfrm>
            <a:off x="9792361" y="8524951"/>
            <a:ext cx="6894474" cy="9144"/>
          </a:xfrm>
          <a:prstGeom prst="rect">
            <a:avLst/>
          </a:prstGeom>
        </p:spPr>
      </p:pic>
      <p:sp>
        <p:nvSpPr>
          <p:cNvPr id="16" name="Text 9"/>
          <p:cNvSpPr txBox="1"/>
          <p:nvPr/>
        </p:nvSpPr>
        <p:spPr>
          <a:xfrm>
            <a:off x="9648749" y="8706002"/>
            <a:ext cx="71826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이름을 붙이면서 무엇을 닫았는가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명명은 선택이고, 선택에는 배제가 따른다. 그 배제를 의식하고 있었는지를 확인한다.</a:t>
            </a:r>
            <a:endParaRPr lang="en-US" sz="1875" dirty="0"/>
          </a:p>
        </p:txBody>
      </p:sp>
      <p:sp>
        <p:nvSpPr>
          <p:cNvPr id="17" name="Text 10"/>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참고: 박물관학의 박물관화musealization 논의 — 맥락 상실과 보존의 상충 관계. 1차 학술 인용은 별도 검증 필요(여러분용 자료에서는 제외)</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5005427"/>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57e63906ddb9ee2aebcfe73bd7205d59.jpg">    </p:cNvPr>
          <p:cNvPicPr>
            <a:picLocks noChangeAspect="1"/>
          </p:cNvPicPr>
          <p:nvPr/>
        </p:nvPicPr>
        <p:blipFill>
          <a:blip r:embed="rId3"/>
          <a:stretch/>
        </p:blipFill>
        <p:spPr>
          <a:xfrm>
            <a:off x="1876178" y="1438351"/>
            <a:ext cx="8343327"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명제표라는 작은 인쇄물</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4—06</a:t>
            </a:r>
            <a:endParaRPr lang="en-US" sz="1650" dirty="0"/>
          </a:p>
        </p:txBody>
      </p:sp>
      <p:sp>
        <p:nvSpPr>
          <p:cNvPr id="8" name="Text 3"/>
          <p:cNvSpPr txBox="1"/>
          <p:nvPr/>
        </p:nvSpPr>
        <p:spPr>
          <a:xfrm>
            <a:off x="1143000" y="7315200"/>
            <a:ext cx="9811512" cy="362102"/>
          </a:xfrm>
          <a:prstGeom prst="rect">
            <a:avLst/>
          </a:prstGeom>
          <a:noFill/>
          <a:ln/>
        </p:spPr>
        <p:txBody>
          <a:bodyPr wrap="none" lIns="0" tIns="0" rIns="0" bIns="0" rtlCol="0" anchor="ctr"/>
          <a:lstStyle/>
          <a:p>
            <a:pPr algn="l" indent="0" marL="0">
              <a:buNone/>
            </a:pPr>
            <a:r>
              <a:rPr lang="en-US" sz="1725" dirty="0">
                <a:solidFill>
                  <a:srgbClr val="9C2A1F"/>
                </a:solidFill>
                <a:latin typeface="IBM Plex Mono" pitchFamily="34" charset="0"/>
                <a:ea typeface="IBM Plex Mono" pitchFamily="34" charset="-122"/>
                <a:cs typeface="IBM Plex Mono" pitchFamily="34" charset="-120"/>
              </a:rPr>
              <a:t>PLATE 4—06</a:t>
            </a:r>
            <a:pPr algn="l" indent="0" marL="0">
              <a:buNone/>
            </a:pPr>
            <a:r>
              <a:rPr lang="en-US" sz="1725" dirty="0">
                <a:solidFill>
                  <a:srgbClr val="6B6456"/>
                </a:solidFill>
                <a:latin typeface="Noto Sans KR" pitchFamily="34" charset="0"/>
                <a:ea typeface="Noto Sans KR" pitchFamily="34" charset="-122"/>
                <a:cs typeface="Noto Sans KR" pitchFamily="34" charset="-120"/>
              </a:rPr>
              <a:t> 전시물 옆에 부착된 명제표. 소재·크기·인쇄 방식이 모두 규격화되어 있다.</a:t>
            </a:r>
            <a:endParaRPr lang="en-US" sz="1725" dirty="0"/>
          </a:p>
        </p:txBody>
      </p:sp>
      <p:sp>
        <p:nvSpPr>
          <p:cNvPr id="9" name="Text 4"/>
          <p:cNvSpPr txBox="1"/>
          <p:nvPr/>
        </p:nvSpPr>
        <p:spPr>
          <a:xfrm>
            <a:off x="1143000" y="82296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명제표는 작품이 아니지만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작품보다 먼저 읽힌다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글씨 크기, 항목 순서, 여백의 양까지 정해져 있다. 이 규격이 “여기 적힌 것은 사실”이라는 신호를 만든다. 2차시에서 확인한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서식의 신뢰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가 물리적으로 구현된 형태다.</a:t>
            </a:r>
            <a:endParaRPr lang="en-US" sz="1875" dirty="0"/>
          </a:p>
        </p:txBody>
      </p:sp>
      <p:sp>
        <p:nvSpPr>
          <p:cNvPr id="10" name="Shape 5"/>
          <p:cNvSpPr/>
          <p:nvPr/>
        </p:nvSpPr>
        <p:spPr>
          <a:xfrm>
            <a:off x="11525098" y="1429207"/>
            <a:ext cx="5619902" cy="3762756"/>
          </a:xfrm>
          <a:prstGeom prst="rect">
            <a:avLst/>
          </a:prstGeom>
          <a:solidFill>
            <a:srgbClr val="FFFFFF">
              <a:alpha val="42000"/>
            </a:srgbClr>
          </a:solidFill>
          <a:ln w="12700">
            <a:solidFill>
              <a:srgbClr val="BEB6A5"/>
            </a:solidFill>
            <a:prstDash val="solid"/>
          </a:ln>
        </p:spPr>
      </p:sp>
      <p:sp>
        <p:nvSpPr>
          <p:cNvPr id="11" name="Shape 6"/>
          <p:cNvSpPr/>
          <p:nvPr/>
        </p:nvSpPr>
        <p:spPr>
          <a:xfrm>
            <a:off x="11782044" y="4539082"/>
            <a:ext cx="5105095" cy="9144"/>
          </a:xfrm>
          <a:prstGeom prst="rect">
            <a:avLst/>
          </a:prstGeom>
          <a:solidFill>
            <a:srgbClr val="BEB6A5"/>
          </a:solidFill>
          <a:ln w="12700">
            <a:solidFill>
              <a:srgbClr val="BEB6A5">
                <a:alpha val="0"/>
              </a:srgbClr>
            </a:solidFill>
            <a:prstDash val="solid"/>
          </a:ln>
        </p:spPr>
      </p:sp>
      <p:sp>
        <p:nvSpPr>
          <p:cNvPr id="13" name="Text 8"/>
          <p:cNvSpPr txBox="1"/>
          <p:nvPr/>
        </p:nvSpPr>
        <p:spPr>
          <a:xfrm>
            <a:off x="11782044" y="16952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a:t>
            </a:r>
            <a:endParaRPr lang="en-US" sz="1650" dirty="0"/>
          </a:p>
        </p:txBody>
      </p:sp>
      <p:sp>
        <p:nvSpPr>
          <p:cNvPr id="14" name="Text 9"/>
          <p:cNvSpPr txBox="1"/>
          <p:nvPr/>
        </p:nvSpPr>
        <p:spPr>
          <a:xfrm>
            <a:off x="13382244" y="1647749"/>
            <a:ext cx="31345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박물관·미술관 전시 명제표</a:t>
            </a:r>
            <a:endParaRPr lang="en-US" sz="1875" dirty="0"/>
          </a:p>
        </p:txBody>
      </p:sp>
      <p:sp>
        <p:nvSpPr>
          <p:cNvPr id="15" name="Text 10"/>
          <p:cNvSpPr txBox="1"/>
          <p:nvPr/>
        </p:nvSpPr>
        <p:spPr>
          <a:xfrm>
            <a:off x="11782044" y="21387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일반 항목</a:t>
            </a:r>
            <a:endParaRPr lang="en-US" sz="1650" dirty="0"/>
          </a:p>
        </p:txBody>
      </p:sp>
      <p:sp>
        <p:nvSpPr>
          <p:cNvPr id="16" name="Text 11"/>
          <p:cNvSpPr txBox="1"/>
          <p:nvPr/>
        </p:nvSpPr>
        <p:spPr>
          <a:xfrm>
            <a:off x="13382244" y="2090318"/>
            <a:ext cx="34774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명칭 · 연대 · 재질 · 치수 · 출토/전래 · 소장 번호</a:t>
            </a:r>
            <a:endParaRPr lang="en-US" sz="1875" dirty="0"/>
          </a:p>
        </p:txBody>
      </p:sp>
      <p:sp>
        <p:nvSpPr>
          <p:cNvPr id="17" name="Text 12"/>
          <p:cNvSpPr txBox="1"/>
          <p:nvPr/>
        </p:nvSpPr>
        <p:spPr>
          <a:xfrm>
            <a:off x="11782044" y="29388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기능</a:t>
            </a:r>
            <a:endParaRPr lang="en-US" sz="1650" dirty="0"/>
          </a:p>
        </p:txBody>
      </p:sp>
      <p:sp>
        <p:nvSpPr>
          <p:cNvPr id="18" name="Text 13"/>
          <p:cNvSpPr txBox="1"/>
          <p:nvPr/>
        </p:nvSpPr>
        <p:spPr>
          <a:xfrm>
            <a:off x="13382244" y="2890418"/>
            <a:ext cx="34482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사물을 자료로 등록하고 관람자의 해석 범위를 안내</a:t>
            </a:r>
            <a:endParaRPr lang="en-US" sz="1875" dirty="0"/>
          </a:p>
        </p:txBody>
      </p:sp>
      <p:sp>
        <p:nvSpPr>
          <p:cNvPr id="19" name="Text 14"/>
          <p:cNvSpPr txBox="1"/>
          <p:nvPr/>
        </p:nvSpPr>
        <p:spPr>
          <a:xfrm>
            <a:off x="11782044" y="37389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비교</a:t>
            </a:r>
            <a:endParaRPr lang="en-US" sz="1650" dirty="0"/>
          </a:p>
        </p:txBody>
      </p:sp>
      <p:sp>
        <p:nvSpPr>
          <p:cNvPr id="20" name="Text 15"/>
          <p:cNvSpPr txBox="1"/>
          <p:nvPr/>
        </p:nvSpPr>
        <p:spPr>
          <a:xfrm>
            <a:off x="13382244" y="3690518"/>
            <a:ext cx="3439058"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2차시 「이것은 미술 작품이 아니다」 캡션 논의</a:t>
            </a:r>
            <a:endParaRPr lang="en-US" sz="1875" dirty="0"/>
          </a:p>
        </p:txBody>
      </p:sp>
      <p:sp>
        <p:nvSpPr>
          <p:cNvPr id="21" name="Text 16"/>
          <p:cNvSpPr txBox="1"/>
          <p:nvPr/>
        </p:nvSpPr>
        <p:spPr>
          <a:xfrm>
            <a:off x="11525098" y="4662527"/>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2" name="Text 17"/>
          <p:cNvSpPr txBox="1"/>
          <p:nvPr/>
        </p:nvSpPr>
        <p:spPr>
          <a:xfrm>
            <a:off x="11525098" y="5271518"/>
            <a:ext cx="5619902" cy="2334463"/>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가장 크게 인쇄된 항목은 무엇입니까. 왜 그것이 가장 큽니까.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표에서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추정</a:t>
            </a:r>
            <a:pPr algn="l" indent="0" marL="0">
              <a:buNone/>
            </a:pPr>
            <a:r>
              <a:rPr lang="en-US" sz="1800" dirty="0">
                <a:solidFill>
                  <a:srgbClr val="3A362C"/>
                </a:solidFill>
                <a:latin typeface="Noto Serif KR" pitchFamily="34" charset="0"/>
                <a:ea typeface="Noto Serif KR" pitchFamily="34" charset="-122"/>
                <a:cs typeface="Noto Serif KR" pitchFamily="34" charset="-120"/>
              </a:rPr>
              <a:t>과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확정</a:t>
            </a:r>
            <a:pPr algn="l" indent="0" marL="0">
              <a:buNone/>
            </a:pPr>
            <a:r>
              <a:rPr lang="en-US" sz="1800" dirty="0">
                <a:solidFill>
                  <a:srgbClr val="3A362C"/>
                </a:solidFill>
                <a:latin typeface="Noto Serif KR" pitchFamily="34" charset="0"/>
                <a:ea typeface="Noto Serif KR" pitchFamily="34" charset="-122"/>
                <a:cs typeface="Noto Serif KR" pitchFamily="34" charset="-120"/>
              </a:rPr>
              <a:t>은 어떻게 구분되어 있습니까.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손글씨로 적혀 있었다면 신뢰도가 달라졌을까요.</a:t>
            </a:r>
            <a:endParaRPr lang="en-US" sz="1200" dirty="0"/>
          </a:p>
        </p:txBody>
      </p:sp>
      <p:sp>
        <p:nvSpPr>
          <p:cNvPr id="23" name="Shape 18"/>
          <p:cNvSpPr/>
          <p:nvPr/>
        </p:nvSpPr>
        <p:spPr>
          <a:xfrm>
            <a:off x="11525098" y="8167422"/>
            <a:ext cx="5619902" cy="1171346"/>
          </a:xfrm>
          <a:prstGeom prst="rect">
            <a:avLst/>
          </a:prstGeom>
          <a:solidFill>
            <a:srgbClr val="9C2A1F">
              <a:alpha val="6000"/>
            </a:srgbClr>
          </a:solidFill>
          <a:ln w="12700">
            <a:solidFill>
              <a:srgbClr val="9C2A1F"/>
            </a:solidFill>
            <a:prstDash val="solid"/>
          </a:ln>
        </p:spPr>
      </p:sp>
      <p:sp>
        <p:nvSpPr>
          <p:cNvPr id="24" name="Text 19"/>
          <p:cNvSpPr txBox="1"/>
          <p:nvPr/>
        </p:nvSpPr>
        <p:spPr>
          <a:xfrm>
            <a:off x="11782044" y="8367676"/>
            <a:ext cx="5106010"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우리 규칙</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추정 항목에는 반드시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‘추정’</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이라 쓴다. 마지막 줄에는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허구 표기</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를 넣는다.</a:t>
            </a:r>
            <a:endParaRPr lang="en-US" sz="1725" dirty="0"/>
          </a:p>
        </p:txBody>
      </p:sp>
      <p:sp>
        <p:nvSpPr>
          <p:cNvPr id="25" name="Text 20"/>
          <p:cNvSpPr txBox="1"/>
          <p:nvPr/>
        </p:nvSpPr>
        <p:spPr>
          <a:xfrm>
            <a:off x="1143000" y="9677095"/>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전시 명제표 제작 실무 자료 수록 도판 · 국립중앙박물관 소장품 정보 서식 참조</a:t>
            </a:r>
            <a:endParaRPr lang="en-US" sz="1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서식 분석 · 한국 박물관의 유물 명명 관례</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서식</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재질 + 기법 + 문양 + 기물</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한국 박물관의 유물 명칭은 감상평이 아니다.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정해진 순서로 정보를 나열한 코드</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다. 순서를 알면 이름만 읽고도 사물의 재료·만든 방식·무늬·용도를 알 수 있다.</a:t>
            </a:r>
            <a:endParaRPr lang="en-US" sz="2175" dirty="0"/>
          </a:p>
        </p:txBody>
      </p:sp>
      <p:sp>
        <p:nvSpPr>
          <p:cNvPr id="8" name="Text 4"/>
          <p:cNvSpPr txBox="1"/>
          <p:nvPr/>
        </p:nvSpPr>
        <p:spPr>
          <a:xfrm>
            <a:off x="1143000" y="3847795"/>
            <a:ext cx="16002000"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네 자리를 순서대로 채운다</a:t>
            </a:r>
            <a:endParaRPr lang="en-US" sz="16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16002000" cy="3010205"/>
        </p:xfrm>
        <a:graphic>
          <a:graphicData uri="http://schemas.openxmlformats.org/drawingml/2006/table">
            <a:tbl>
              <a:tblPr/>
              <a:tblGrid>
                <a:gridCol w="1429126"/>
                <a:gridCol w="2857337"/>
                <a:gridCol w="4000271"/>
                <a:gridCol w="7715266"/>
              </a:tblGrid>
              <a:tr h="60204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자리</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넣는 정보</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예</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왜 이 순서인가</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02041">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① 재질</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무엇으로 만들었는가</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청자 · 백자 · 분청사기 · 청동</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재료가 가장 변하지 않는 정보이므로 </a:t>
                      </a:r>
                      <a:pPr indent="0" marL="0">
                        <a:buNone/>
                      </a:pPr>
                      <a:r>
                        <a:rPr lang="en-US" sz="1800" b="1" dirty="0">
                          <a:solidFill>
                            <a:srgbClr val="17150F"/>
                          </a:solidFill>
                          <a:latin typeface="Noto Serif KR" pitchFamily="34" charset="0"/>
                          <a:ea typeface="Noto Serif KR" pitchFamily="34" charset="-122"/>
                          <a:cs typeface="Noto Serif KR" pitchFamily="34" charset="-120"/>
                        </a:rPr>
                        <a:t>분류의 최상위</a:t>
                      </a:r>
                      <a:pPr indent="0" marL="0">
                        <a:buNone/>
                      </a:pPr>
                      <a:r>
                        <a:rPr lang="en-US" sz="1800" dirty="0">
                          <a:solidFill>
                            <a:srgbClr val="3A362C"/>
                          </a:solidFill>
                          <a:latin typeface="Noto Serif KR" pitchFamily="34" charset="0"/>
                          <a:ea typeface="Noto Serif KR" pitchFamily="34" charset="-122"/>
                          <a:cs typeface="Noto Serif KR" pitchFamily="34" charset="-120"/>
                        </a:rPr>
                        <a:t>가 된다.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041">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② 기법</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어떻게 만들었는가</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상감 · 상형 · 투각 · 음각</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같은 재료 안에서 </a:t>
                      </a:r>
                      <a:pPr indent="0" marL="0">
                        <a:buNone/>
                      </a:pPr>
                      <a:r>
                        <a:rPr lang="en-US" sz="1800" b="1" dirty="0">
                          <a:solidFill>
                            <a:srgbClr val="17150F"/>
                          </a:solidFill>
                          <a:latin typeface="Noto Serif KR" pitchFamily="34" charset="0"/>
                          <a:ea typeface="Noto Serif KR" pitchFamily="34" charset="-122"/>
                          <a:cs typeface="Noto Serif KR" pitchFamily="34" charset="-120"/>
                        </a:rPr>
                        <a:t>제작 기술</a:t>
                      </a:r>
                      <a:pPr indent="0" marL="0">
                        <a:buNone/>
                      </a:pPr>
                      <a:r>
                        <a:rPr lang="en-US" sz="1800" dirty="0">
                          <a:solidFill>
                            <a:srgbClr val="3A362C"/>
                          </a:solidFill>
                          <a:latin typeface="Noto Serif KR" pitchFamily="34" charset="0"/>
                          <a:ea typeface="Noto Serif KR" pitchFamily="34" charset="-122"/>
                          <a:cs typeface="Noto Serif KR" pitchFamily="34" charset="-120"/>
                        </a:rPr>
                        <a:t>로 갈라진다.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041">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③ 문양</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표면에 무엇이 그려졌는가</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운학문(구름과 학) · 모란문 · 포도동자문</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무늬는 시대와 취향을 알려 주는 </a:t>
                      </a:r>
                      <a:pPr indent="0" marL="0">
                        <a:buNone/>
                      </a:pPr>
                      <a:r>
                        <a:rPr lang="en-US" sz="1800" b="1" dirty="0">
                          <a:solidFill>
                            <a:srgbClr val="17150F"/>
                          </a:solidFill>
                          <a:latin typeface="Noto Serif KR" pitchFamily="34" charset="0"/>
                          <a:ea typeface="Noto Serif KR" pitchFamily="34" charset="-122"/>
                          <a:cs typeface="Noto Serif KR" pitchFamily="34" charset="-120"/>
                        </a:rPr>
                        <a:t>양식 정보</a:t>
                      </a:r>
                      <a:pPr indent="0" marL="0">
                        <a:buNone/>
                      </a:pPr>
                      <a:r>
                        <a:rPr lang="en-US" sz="1800" dirty="0">
                          <a:solidFill>
                            <a:srgbClr val="3A362C"/>
                          </a:solidFill>
                          <a:latin typeface="Noto Serif KR" pitchFamily="34" charset="0"/>
                          <a:ea typeface="Noto Serif KR" pitchFamily="34" charset="-122"/>
                          <a:cs typeface="Noto Serif KR" pitchFamily="34" charset="-120"/>
                        </a:rPr>
                        <a:t>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041">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④ 기물</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무엇에 쓰는 물건인가</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매병 · 대접 · 향로 · 주자</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마지막에 </a:t>
                      </a:r>
                      <a:pPr indent="0" marL="0">
                        <a:buNone/>
                      </a:pPr>
                      <a:r>
                        <a:rPr lang="en-US" sz="1800" b="1" dirty="0">
                          <a:solidFill>
                            <a:srgbClr val="9C2A1F"/>
                          </a:solidFill>
                          <a:latin typeface="Noto Serif KR" pitchFamily="34" charset="0"/>
                          <a:ea typeface="Noto Serif KR" pitchFamily="34" charset="-122"/>
                          <a:cs typeface="Noto Serif KR" pitchFamily="34" charset="-120"/>
                        </a:rPr>
                        <a:t>용도</a:t>
                      </a:r>
                      <a:pPr indent="0" marL="0">
                        <a:buNone/>
                      </a:pPr>
                      <a:r>
                        <a:rPr lang="en-US" sz="1800" dirty="0">
                          <a:solidFill>
                            <a:srgbClr val="3A362C"/>
                          </a:solidFill>
                          <a:latin typeface="Noto Serif KR" pitchFamily="34" charset="0"/>
                          <a:ea typeface="Noto Serif KR" pitchFamily="34" charset="-122"/>
                          <a:cs typeface="Noto Serif KR" pitchFamily="34" charset="-120"/>
                        </a:rPr>
                        <a:t>가 온다. 이름의 결론이 곧 기능이다.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0" name="Shape 5"/>
          <p:cNvSpPr/>
          <p:nvPr/>
        </p:nvSpPr>
        <p:spPr>
          <a:xfrm>
            <a:off x="1143000" y="7867498"/>
            <a:ext cx="7810805" cy="1857146"/>
          </a:xfrm>
          <a:prstGeom prst="rect">
            <a:avLst/>
          </a:prstGeom>
          <a:solidFill>
            <a:srgbClr val="FFFFFF">
              <a:alpha val="36000"/>
            </a:srgbClr>
          </a:solidFill>
          <a:ln w="12700">
            <a:solidFill>
              <a:srgbClr val="BEB6A5"/>
            </a:solidFill>
            <a:prstDash val="solid"/>
          </a:ln>
        </p:spPr>
      </p:sp>
      <p:sp>
        <p:nvSpPr>
          <p:cNvPr id="11" name="Text 6"/>
          <p:cNvSpPr txBox="1"/>
          <p:nvPr/>
        </p:nvSpPr>
        <p:spPr>
          <a:xfrm>
            <a:off x="1438351" y="81061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감상평은 이름에 들어가지 않는다</a:t>
            </a:r>
            <a:endParaRPr lang="en-US" sz="1575" dirty="0"/>
          </a:p>
        </p:txBody>
      </p:sp>
      <p:pic>
        <p:nvPicPr>
          <p:cNvPr id="12" name="Image 2" descr="gen-dedup-8daa7bbad9e138f694b547871d64bad8.png">    </p:cNvPr>
          <p:cNvPicPr>
            <a:picLocks noChangeAspect="1"/>
          </p:cNvPicPr>
          <p:nvPr/>
        </p:nvPicPr>
        <p:blipFill>
          <a:blip r:embed="rId3"/>
          <a:stretch/>
        </p:blipFill>
        <p:spPr>
          <a:xfrm>
            <a:off x="1582731" y="8524951"/>
            <a:ext cx="6931342" cy="9144"/>
          </a:xfrm>
          <a:prstGeom prst="rect">
            <a:avLst/>
          </a:prstGeom>
        </p:spPr>
      </p:pic>
      <p:sp>
        <p:nvSpPr>
          <p:cNvPr id="13" name="Text 7"/>
          <p:cNvSpPr txBox="1"/>
          <p:nvPr/>
        </p:nvSpPr>
        <p:spPr>
          <a:xfrm>
            <a:off x="1438351" y="8686800"/>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“아름다운”, “신비로운”, “슬픈” 같은 말은 명칭에 쓰지 않는다. 명칭은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확인 가능한 정보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만 담는다. 감상은 관람자의 몫으로 남긴다.</a:t>
            </a:r>
            <a:endParaRPr lang="en-US" sz="1800" dirty="0"/>
          </a:p>
        </p:txBody>
      </p:sp>
      <p:sp>
        <p:nvSpPr>
          <p:cNvPr id="14" name="Shape 8"/>
          <p:cNvSpPr/>
          <p:nvPr/>
        </p:nvSpPr>
        <p:spPr>
          <a:xfrm>
            <a:off x="9334195" y="7867498"/>
            <a:ext cx="7810805" cy="1857146"/>
          </a:xfrm>
          <a:prstGeom prst="rect">
            <a:avLst/>
          </a:prstGeom>
          <a:solidFill>
            <a:srgbClr val="9C2A1F">
              <a:alpha val="6000"/>
            </a:srgbClr>
          </a:solidFill>
          <a:ln w="12700">
            <a:solidFill>
              <a:srgbClr val="9C2A1F"/>
            </a:solidFill>
            <a:prstDash val="solid"/>
          </a:ln>
        </p:spPr>
      </p:sp>
      <p:sp>
        <p:nvSpPr>
          <p:cNvPr id="15" name="Text 9"/>
          <p:cNvSpPr txBox="1"/>
          <p:nvPr/>
        </p:nvSpPr>
        <p:spPr>
          <a:xfrm>
            <a:off x="9629546" y="81061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카드에 적용하는 방식</a:t>
            </a:r>
            <a:endParaRPr lang="en-US" sz="1575" dirty="0"/>
          </a:p>
        </p:txBody>
      </p:sp>
      <p:pic>
        <p:nvPicPr>
          <p:cNvPr id="16" name="Image 3" descr="gen-dedup-8daa7bbad9e138f694b547871d64bad8.png">    </p:cNvPr>
          <p:cNvPicPr>
            <a:picLocks noChangeAspect="1"/>
          </p:cNvPicPr>
          <p:nvPr/>
        </p:nvPicPr>
        <p:blipFill>
          <a:blip r:embed="rId4"/>
          <a:stretch/>
        </p:blipFill>
        <p:spPr>
          <a:xfrm>
            <a:off x="9773926" y="8524951"/>
            <a:ext cx="6931342" cy="9144"/>
          </a:xfrm>
          <a:prstGeom prst="rect">
            <a:avLst/>
          </a:prstGeom>
        </p:spPr>
      </p:pic>
      <p:sp>
        <p:nvSpPr>
          <p:cNvPr id="17" name="Text 10"/>
          <p:cNvSpPr txBox="1"/>
          <p:nvPr/>
        </p:nvSpPr>
        <p:spPr>
          <a:xfrm>
            <a:off x="9629546" y="8686800"/>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네 자리를 그대로 쓴다. 다만 ④ 기물 자리는 우리가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직접 선택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 이 선택이 1차시 뒤샹의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명명 권한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과 정확히 같은 동작이다.</a:t>
            </a:r>
            <a:endParaRPr lang="en-US" sz="1800" dirty="0"/>
          </a:p>
        </p:txBody>
      </p:sp>
      <p:sp>
        <p:nvSpPr>
          <p:cNvPr id="18" name="Text 11"/>
          <p:cNvSpPr txBox="1"/>
          <p:nvPr/>
        </p:nvSpPr>
        <p:spPr>
          <a:xfrm>
            <a:off x="1143000" y="9829800"/>
            <a:ext cx="166878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국립중앙박물관 고려청자 전시 영문 설명(sculpted celadon), Smarthistory 「Korean celadons of the Goryeo dynasty」, IJKAA 상형청자 연구</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2639a663133b00b482ebecd3a31d46a.png">    </p:cNvPr>
          <p:cNvPicPr>
            <a:picLocks noChangeAspect="1"/>
          </p:cNvPicPr>
          <p:nvPr/>
        </p:nvPicPr>
        <p:blipFill>
          <a:blip r:embed="rId2"/>
          <a:stretch/>
        </p:blipFill>
        <p:spPr>
          <a:xfrm>
            <a:off x="6660572" y="1772107"/>
            <a:ext cx="4206075" cy="9144"/>
          </a:xfrm>
          <a:prstGeom prst="rect">
            <a:avLst/>
          </a:prstGeom>
        </p:spPr>
      </p:pic>
      <p:pic>
        <p:nvPicPr>
          <p:cNvPr id="4" name="Image 2" descr="gen-dedup-6e10be3fd3a51797c631fbd3836d7c7a.png">    </p:cNvPr>
          <p:cNvPicPr>
            <a:picLocks noChangeAspect="1"/>
          </p:cNvPicPr>
          <p:nvPr/>
        </p:nvPicPr>
        <p:blipFill>
          <a:blip r:embed="rId3"/>
          <a:stretch/>
        </p:blipFill>
        <p:spPr>
          <a:xfrm>
            <a:off x="11637479" y="4733850"/>
            <a:ext cx="5395140" cy="9144"/>
          </a:xfrm>
          <a:prstGeom prst="rect">
            <a:avLst/>
          </a:prstGeom>
        </p:spPr>
      </p:pic>
      <p:sp>
        <p:nvSpPr>
          <p:cNvPr id="5" name="Shape 0"/>
          <p:cNvSpPr/>
          <p:nvPr/>
        </p:nvSpPr>
        <p:spPr>
          <a:xfrm>
            <a:off x="1143000" y="1429207"/>
            <a:ext cx="4953305" cy="6667805"/>
          </a:xfrm>
          <a:prstGeom prst="rect">
            <a:avLst/>
          </a:prstGeom>
          <a:solidFill>
            <a:srgbClr val="C9C3B6"/>
          </a:solidFill>
          <a:ln w="12700">
            <a:solidFill>
              <a:srgbClr val="BEB6A5"/>
            </a:solidFill>
            <a:prstDash val="solid"/>
          </a:ln>
        </p:spPr>
      </p:sp>
      <p:pic>
        <p:nvPicPr>
          <p:cNvPr id="6" name="Image 3" descr="gen-dedup-41777e7e946e5a32c354b62d4279962a.jpg">    </p:cNvPr>
          <p:cNvPicPr>
            <a:picLocks noChangeAspect="1"/>
          </p:cNvPicPr>
          <p:nvPr/>
        </p:nvPicPr>
        <p:blipFill>
          <a:blip r:embed="rId4"/>
          <a:stretch/>
        </p:blipFill>
        <p:spPr>
          <a:xfrm>
            <a:off x="1402976" y="1438351"/>
            <a:ext cx="4432439" cy="6648602"/>
          </a:xfrm>
          <a:prstGeom prst="rect">
            <a:avLst/>
          </a:prstGeom>
        </p:spPr>
      </p:pic>
      <p:sp>
        <p:nvSpPr>
          <p:cNvPr id="7"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실물 분석 · 이름 한 줄을 분해하기</a:t>
            </a:r>
            <a:endParaRPr lang="en-US" sz="1800" dirty="0"/>
          </a:p>
        </p:txBody>
      </p:sp>
      <p:sp>
        <p:nvSpPr>
          <p:cNvPr id="8"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4—07</a:t>
            </a:r>
            <a:endParaRPr lang="en-US" sz="1650" dirty="0"/>
          </a:p>
        </p:txBody>
      </p:sp>
      <p:sp>
        <p:nvSpPr>
          <p:cNvPr id="9" name="Text 3"/>
          <p:cNvSpPr txBox="1"/>
          <p:nvPr/>
        </p:nvSpPr>
        <p:spPr>
          <a:xfrm>
            <a:off x="1143000" y="8268005"/>
            <a:ext cx="4953305"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4—07</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청자 상감 운학문 매병. 국립중앙박물관 소장품.</a:t>
            </a:r>
            <a:endParaRPr lang="en-US" sz="1725" dirty="0"/>
          </a:p>
        </p:txBody>
      </p:sp>
      <p:sp>
        <p:nvSpPr>
          <p:cNvPr id="10" name="Text 4"/>
          <p:cNvSpPr txBox="1"/>
          <p:nvPr/>
        </p:nvSpPr>
        <p:spPr>
          <a:xfrm>
            <a:off x="6572707" y="1429207"/>
            <a:ext cx="4381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이름을 네 조각으로 자르면</a:t>
            </a:r>
            <a:endParaRPr lang="en-US" sz="1725"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572707" y="2038198"/>
          <a:ext cx="4381805" cy="3820363"/>
        </p:xfrm>
        <a:graphic>
          <a:graphicData uri="http://schemas.openxmlformats.org/drawingml/2006/table">
            <a:tbl>
              <a:tblPr/>
              <a:tblGrid>
                <a:gridCol w="1143000"/>
                <a:gridCol w="3238805"/>
              </a:tblGrid>
              <a:tr h="95509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청자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재질 — 푸른빛 유약을 입힌 자기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5509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상감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기법 — 무늬를 파내고 다른 흙을 채워 넣음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5509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운학문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문양 — 구름과 학</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5509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매병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기물 — 어깨가 넓고 아래가 좁은 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2" name="Shape 5"/>
          <p:cNvSpPr/>
          <p:nvPr/>
        </p:nvSpPr>
        <p:spPr>
          <a:xfrm>
            <a:off x="6572707" y="6057900"/>
            <a:ext cx="4381805" cy="1095451"/>
          </a:xfrm>
          <a:prstGeom prst="rect">
            <a:avLst/>
          </a:prstGeom>
          <a:solidFill>
            <a:srgbClr val="FFFFFF">
              <a:alpha val="36000"/>
            </a:srgbClr>
          </a:solidFill>
          <a:ln w="12700">
            <a:solidFill>
              <a:srgbClr val="BEB6A5"/>
            </a:solidFill>
            <a:prstDash val="solid"/>
          </a:ln>
        </p:spPr>
      </p:sp>
      <p:sp>
        <p:nvSpPr>
          <p:cNvPr id="13" name="Text 6"/>
          <p:cNvSpPr txBox="1"/>
          <p:nvPr/>
        </p:nvSpPr>
        <p:spPr>
          <a:xfrm>
            <a:off x="6829654" y="6219749"/>
            <a:ext cx="386791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네 조각을 합치면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한 문장 없이</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도 사물이 설명된다. 명칭 자체가 압축된 기록이다.</a:t>
            </a:r>
            <a:endParaRPr lang="en-US" sz="1725" dirty="0"/>
          </a:p>
        </p:txBody>
      </p:sp>
      <p:sp>
        <p:nvSpPr>
          <p:cNvPr id="14" name="Text 7"/>
          <p:cNvSpPr txBox="1"/>
          <p:nvPr/>
        </p:nvSpPr>
        <p:spPr>
          <a:xfrm>
            <a:off x="6838798" y="7010705"/>
            <a:ext cx="4114800" cy="116220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이 이름에 없는 정보는 무엇입니까. 누가 썼는지, 왜 만들었는지는 왜 빠져 있을까요.</a:t>
            </a:r>
            <a:endParaRPr lang="en-US" sz="1950" dirty="0"/>
          </a:p>
        </p:txBody>
      </p:sp>
      <p:sp>
        <p:nvSpPr>
          <p:cNvPr id="15" name="Shape 8"/>
          <p:cNvSpPr/>
          <p:nvPr/>
        </p:nvSpPr>
        <p:spPr>
          <a:xfrm>
            <a:off x="11525098" y="1429207"/>
            <a:ext cx="5619902" cy="3486607"/>
          </a:xfrm>
          <a:prstGeom prst="rect">
            <a:avLst/>
          </a:prstGeom>
          <a:solidFill>
            <a:srgbClr val="FFFFFF">
              <a:alpha val="42000"/>
            </a:srgbClr>
          </a:solidFill>
          <a:ln w="12700">
            <a:solidFill>
              <a:srgbClr val="BEB6A5"/>
            </a:solidFill>
            <a:prstDash val="solid"/>
          </a:ln>
        </p:spPr>
      </p:sp>
      <p:sp>
        <p:nvSpPr>
          <p:cNvPr id="16" name="Shape 9"/>
          <p:cNvSpPr/>
          <p:nvPr/>
        </p:nvSpPr>
        <p:spPr>
          <a:xfrm>
            <a:off x="11782044" y="4267505"/>
            <a:ext cx="5105095" cy="9144"/>
          </a:xfrm>
          <a:prstGeom prst="rect">
            <a:avLst/>
          </a:prstGeom>
          <a:solidFill>
            <a:srgbClr val="BEB6A5"/>
          </a:solidFill>
          <a:ln w="12700">
            <a:solidFill>
              <a:srgbClr val="BEB6A5">
                <a:alpha val="0"/>
              </a:srgbClr>
            </a:solidFill>
            <a:prstDash val="solid"/>
          </a:ln>
        </p:spPr>
      </p:sp>
      <p:sp>
        <p:nvSpPr>
          <p:cNvPr id="18" name="Text 11"/>
          <p:cNvSpPr txBox="1"/>
          <p:nvPr/>
        </p:nvSpPr>
        <p:spPr>
          <a:xfrm>
            <a:off x="11782044" y="16952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명칭</a:t>
            </a:r>
            <a:endParaRPr lang="en-US" sz="1650" dirty="0"/>
          </a:p>
        </p:txBody>
      </p:sp>
      <p:sp>
        <p:nvSpPr>
          <p:cNvPr id="19" name="Text 12"/>
          <p:cNvSpPr txBox="1"/>
          <p:nvPr/>
        </p:nvSpPr>
        <p:spPr>
          <a:xfrm>
            <a:off x="13382244" y="1647749"/>
            <a:ext cx="267004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청자 상감 운학문 매병</a:t>
            </a:r>
            <a:endParaRPr lang="en-US" sz="1875" dirty="0"/>
          </a:p>
        </p:txBody>
      </p:sp>
      <p:sp>
        <p:nvSpPr>
          <p:cNvPr id="20" name="Text 13"/>
          <p:cNvSpPr txBox="1"/>
          <p:nvPr/>
        </p:nvSpPr>
        <p:spPr>
          <a:xfrm>
            <a:off x="13382244" y="2005279"/>
            <a:ext cx="2676449"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靑磁 象嵌 雲鶴文 梅瓶</a:t>
            </a:r>
            <a:endParaRPr lang="en-US" sz="1875" dirty="0"/>
          </a:p>
        </p:txBody>
      </p:sp>
      <p:sp>
        <p:nvSpPr>
          <p:cNvPr id="21" name="Text 14"/>
          <p:cNvSpPr txBox="1"/>
          <p:nvPr/>
        </p:nvSpPr>
        <p:spPr>
          <a:xfrm>
            <a:off x="11782044" y="2495398"/>
            <a:ext cx="113111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재질·기법</a:t>
            </a:r>
            <a:endParaRPr lang="en-US" sz="1650" dirty="0"/>
          </a:p>
        </p:txBody>
      </p:sp>
      <p:sp>
        <p:nvSpPr>
          <p:cNvPr id="22" name="Text 15"/>
          <p:cNvSpPr txBox="1"/>
          <p:nvPr/>
        </p:nvSpPr>
        <p:spPr>
          <a:xfrm>
            <a:off x="13382244" y="2447849"/>
            <a:ext cx="1384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청자에 상감</a:t>
            </a:r>
            <a:endParaRPr lang="en-US" sz="1875" dirty="0"/>
          </a:p>
        </p:txBody>
      </p:sp>
      <p:sp>
        <p:nvSpPr>
          <p:cNvPr id="23" name="Text 16"/>
          <p:cNvSpPr txBox="1"/>
          <p:nvPr/>
        </p:nvSpPr>
        <p:spPr>
          <a:xfrm>
            <a:off x="11782044" y="29388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문양</a:t>
            </a:r>
            <a:endParaRPr lang="en-US" sz="1650" dirty="0"/>
          </a:p>
        </p:txBody>
      </p:sp>
      <p:sp>
        <p:nvSpPr>
          <p:cNvPr id="24" name="Text 17"/>
          <p:cNvSpPr txBox="1"/>
          <p:nvPr/>
        </p:nvSpPr>
        <p:spPr>
          <a:xfrm>
            <a:off x="13382244" y="2890418"/>
            <a:ext cx="233995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운학문 — 구름과 학</a:t>
            </a:r>
            <a:endParaRPr lang="en-US" sz="1875" dirty="0"/>
          </a:p>
        </p:txBody>
      </p:sp>
      <p:sp>
        <p:nvSpPr>
          <p:cNvPr id="25" name="Text 18"/>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기물</a:t>
            </a:r>
            <a:endParaRPr lang="en-US" sz="1650" dirty="0"/>
          </a:p>
        </p:txBody>
      </p:sp>
      <p:sp>
        <p:nvSpPr>
          <p:cNvPr id="26" name="Text 19"/>
          <p:cNvSpPr txBox="1"/>
          <p:nvPr/>
        </p:nvSpPr>
        <p:spPr>
          <a:xfrm>
            <a:off x="13382244" y="3333902"/>
            <a:ext cx="22549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매병 — plum vase</a:t>
            </a:r>
            <a:endParaRPr lang="en-US" sz="1875" dirty="0"/>
          </a:p>
        </p:txBody>
      </p:sp>
      <p:sp>
        <p:nvSpPr>
          <p:cNvPr id="27" name="Text 20"/>
          <p:cNvSpPr txBox="1"/>
          <p:nvPr/>
        </p:nvSpPr>
        <p:spPr>
          <a:xfrm>
            <a:off x="11782044" y="382402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소장</a:t>
            </a:r>
            <a:endParaRPr lang="en-US" sz="1650" dirty="0"/>
          </a:p>
        </p:txBody>
      </p:sp>
      <p:sp>
        <p:nvSpPr>
          <p:cNvPr id="28" name="Text 21"/>
          <p:cNvSpPr txBox="1"/>
          <p:nvPr/>
        </p:nvSpPr>
        <p:spPr>
          <a:xfrm>
            <a:off x="13382244" y="3776472"/>
            <a:ext cx="1619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국립중앙박물관</a:t>
            </a:r>
            <a:endParaRPr lang="en-US" sz="1875" dirty="0"/>
          </a:p>
        </p:txBody>
      </p:sp>
      <p:sp>
        <p:nvSpPr>
          <p:cNvPr id="29" name="Text 22"/>
          <p:cNvSpPr txBox="1"/>
          <p:nvPr/>
        </p:nvSpPr>
        <p:spPr>
          <a:xfrm>
            <a:off x="11525098" y="4390950"/>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우리 유물 이름 만들기 — 빈칸 채우기</a:t>
            </a:r>
            <a:endParaRPr lang="en-US" sz="1725" dirty="0"/>
          </a:p>
        </p:txBody>
      </p:sp>
      <p:sp>
        <p:nvSpPr>
          <p:cNvPr id="30" name="Shape 23"/>
          <p:cNvSpPr/>
          <p:nvPr/>
        </p:nvSpPr>
        <p:spPr>
          <a:xfrm>
            <a:off x="11525098" y="5000855"/>
            <a:ext cx="5619902" cy="2180844"/>
          </a:xfrm>
          <a:prstGeom prst="rect">
            <a:avLst/>
          </a:prstGeom>
          <a:solidFill>
            <a:srgbClr val="FFFFFF">
              <a:alpha val="50000"/>
            </a:srgbClr>
          </a:solidFill>
          <a:ln w="12700">
            <a:solidFill>
              <a:srgbClr val="6B6456"/>
            </a:solidFill>
            <a:prstDash val="solid"/>
          </a:ln>
        </p:spPr>
      </p:sp>
      <p:sp>
        <p:nvSpPr>
          <p:cNvPr id="31" name="Text 24"/>
          <p:cNvSpPr txBox="1"/>
          <p:nvPr/>
        </p:nvSpPr>
        <p:spPr>
          <a:xfrm>
            <a:off x="11782044" y="5100525"/>
            <a:ext cx="5106010" cy="1900123"/>
          </a:xfrm>
          <a:prstGeom prst="rect">
            <a:avLst/>
          </a:prstGeom>
          <a:noFill/>
          <a:ln/>
        </p:spPr>
        <p:txBody>
          <a:bodyPr wrap="square" lIns="0" tIns="0" rIns="0" bIns="0" rtlCol="0" anchor="t"/>
          <a:lstStyle/>
          <a:p>
            <a:pPr algn="l" indent="0" marL="0">
              <a:lnSpc>
                <a:spcPts val="3420"/>
              </a:lnSpc>
              <a:buNone/>
            </a:pPr>
            <a:r>
              <a:rPr lang="en-US" sz="1800" dirty="0">
                <a:solidFill>
                  <a:srgbClr val="9C2A1F"/>
                </a:solidFill>
                <a:latin typeface="IBM Plex Mono" pitchFamily="34" charset="0"/>
                <a:ea typeface="IBM Plex Mono" pitchFamily="34" charset="-122"/>
                <a:cs typeface="IBM Plex Mono" pitchFamily="34" charset="-120"/>
              </a:rPr>
              <a:t>①</a:t>
            </a:r>
            <a:pPr algn="l" indent="0" marL="0">
              <a:lnSpc>
                <a:spcPts val="3420"/>
              </a:lnSpc>
              <a:buNone/>
            </a:pPr>
            <a:r>
              <a:rPr lang="en-US" sz="1800" dirty="0">
                <a:solidFill>
                  <a:srgbClr val="3A362C"/>
                </a:solidFill>
                <a:latin typeface="Noto Serif KR" pitchFamily="34" charset="0"/>
                <a:ea typeface="Noto Serif KR" pitchFamily="34" charset="-122"/>
                <a:cs typeface="Noto Serif KR" pitchFamily="34" charset="-120"/>
              </a:rPr>
              <a:t> 재질 </a:t>
            </a:r>
            <a:pPr algn="l" indent="0" marL="0">
              <a:lnSpc>
                <a:spcPts val="3420"/>
              </a:lnSpc>
              <a:buNone/>
            </a:pPr>
            <a:endParaRPr lang="en-US" sz="1800" dirty="0"/>
          </a:p>
          <a:p>
            <a:pPr algn="l" indent="0" marL="0">
              <a:lnSpc>
                <a:spcPts val="3420"/>
              </a:lnSpc>
              <a:buNone/>
            </a:pPr>
            <a:r>
              <a:rPr lang="en-US" sz="1800" dirty="0">
                <a:solidFill>
                  <a:srgbClr val="9C2A1F"/>
                </a:solidFill>
                <a:latin typeface="IBM Plex Mono" pitchFamily="34" charset="0"/>
                <a:ea typeface="IBM Plex Mono" pitchFamily="34" charset="-122"/>
                <a:cs typeface="IBM Plex Mono" pitchFamily="34" charset="-120"/>
              </a:rPr>
              <a:t>②</a:t>
            </a:r>
            <a:pPr algn="l" indent="0" marL="0">
              <a:lnSpc>
                <a:spcPts val="3420"/>
              </a:lnSpc>
              <a:buNone/>
            </a:pPr>
            <a:r>
              <a:rPr lang="en-US" sz="1800" dirty="0">
                <a:solidFill>
                  <a:srgbClr val="3A362C"/>
                </a:solidFill>
                <a:latin typeface="Noto Serif KR" pitchFamily="34" charset="0"/>
                <a:ea typeface="Noto Serif KR" pitchFamily="34" charset="-122"/>
                <a:cs typeface="Noto Serif KR" pitchFamily="34" charset="-120"/>
              </a:rPr>
              <a:t> 기법 </a:t>
            </a:r>
            <a:pPr algn="l" indent="0" marL="0">
              <a:lnSpc>
                <a:spcPts val="3420"/>
              </a:lnSpc>
              <a:buNone/>
            </a:pPr>
            <a:endParaRPr lang="en-US" sz="1800" dirty="0"/>
          </a:p>
          <a:p>
            <a:pPr algn="l" indent="0" marL="0">
              <a:lnSpc>
                <a:spcPts val="3420"/>
              </a:lnSpc>
              <a:buNone/>
            </a:pPr>
            <a:r>
              <a:rPr lang="en-US" sz="1800" dirty="0">
                <a:solidFill>
                  <a:srgbClr val="9C2A1F"/>
                </a:solidFill>
                <a:latin typeface="IBM Plex Mono" pitchFamily="34" charset="0"/>
                <a:ea typeface="IBM Plex Mono" pitchFamily="34" charset="-122"/>
                <a:cs typeface="IBM Plex Mono" pitchFamily="34" charset="-120"/>
              </a:rPr>
              <a:t>③</a:t>
            </a:r>
            <a:pPr algn="l" indent="0" marL="0">
              <a:lnSpc>
                <a:spcPts val="3420"/>
              </a:lnSpc>
              <a:buNone/>
            </a:pPr>
            <a:r>
              <a:rPr lang="en-US" sz="1800" dirty="0">
                <a:solidFill>
                  <a:srgbClr val="3A362C"/>
                </a:solidFill>
                <a:latin typeface="Noto Serif KR" pitchFamily="34" charset="0"/>
                <a:ea typeface="Noto Serif KR" pitchFamily="34" charset="-122"/>
                <a:cs typeface="Noto Serif KR" pitchFamily="34" charset="-120"/>
              </a:rPr>
              <a:t> 문양 </a:t>
            </a:r>
            <a:pPr algn="l" indent="0" marL="0">
              <a:lnSpc>
                <a:spcPts val="3420"/>
              </a:lnSpc>
              <a:buNone/>
            </a:pPr>
            <a:endParaRPr lang="en-US" sz="1800" dirty="0"/>
          </a:p>
          <a:p>
            <a:pPr algn="l" indent="0" marL="0">
              <a:lnSpc>
                <a:spcPts val="3420"/>
              </a:lnSpc>
              <a:buNone/>
            </a:pPr>
            <a:r>
              <a:rPr lang="en-US" sz="1800" dirty="0">
                <a:solidFill>
                  <a:srgbClr val="9C2A1F"/>
                </a:solidFill>
                <a:latin typeface="IBM Plex Mono" pitchFamily="34" charset="0"/>
                <a:ea typeface="IBM Plex Mono" pitchFamily="34" charset="-122"/>
                <a:cs typeface="IBM Plex Mono" pitchFamily="34" charset="-120"/>
              </a:rPr>
              <a:t>④</a:t>
            </a:r>
            <a:pPr algn="l" indent="0" marL="0">
              <a:lnSpc>
                <a:spcPts val="3420"/>
              </a:lnSpc>
              <a:buNone/>
            </a:pPr>
            <a:r>
              <a:rPr lang="en-US" sz="1800" dirty="0">
                <a:solidFill>
                  <a:srgbClr val="3A362C"/>
                </a:solidFill>
                <a:latin typeface="Noto Serif KR" pitchFamily="34" charset="0"/>
                <a:ea typeface="Noto Serif KR" pitchFamily="34" charset="-122"/>
                <a:cs typeface="Noto Serif KR" pitchFamily="34" charset="-120"/>
              </a:rPr>
              <a:t> 기물</a:t>
            </a:r>
            <a:endParaRPr lang="en-US" sz="1800" dirty="0"/>
          </a:p>
        </p:txBody>
      </p:sp>
      <p:sp>
        <p:nvSpPr>
          <p:cNvPr id="32" name="Shape 25"/>
          <p:cNvSpPr/>
          <p:nvPr/>
        </p:nvSpPr>
        <p:spPr>
          <a:xfrm>
            <a:off x="11525098" y="7496253"/>
            <a:ext cx="5619902" cy="1552651"/>
          </a:xfrm>
          <a:prstGeom prst="rect">
            <a:avLst/>
          </a:prstGeom>
          <a:solidFill>
            <a:srgbClr val="9C2A1F">
              <a:alpha val="6000"/>
            </a:srgbClr>
          </a:solidFill>
          <a:ln w="12700">
            <a:solidFill>
              <a:srgbClr val="9C2A1F"/>
            </a:solidFill>
            <a:prstDash val="solid"/>
          </a:ln>
        </p:spPr>
      </p:sp>
      <p:sp>
        <p:nvSpPr>
          <p:cNvPr id="33" name="Text 26"/>
          <p:cNvSpPr txBox="1"/>
          <p:nvPr/>
        </p:nvSpPr>
        <p:spPr>
          <a:xfrm>
            <a:off x="11782044" y="7695592"/>
            <a:ext cx="5106010" cy="1153058"/>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주의</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④ 기물 자리에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기존에 없는 말</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을 쓰면 관람자는 그 사물을 이해할 수 없다. 아는 말과 낯선 조합 사이를 노린다.</a:t>
            </a:r>
            <a:endParaRPr lang="en-US" sz="17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pic>
        <p:nvPicPr>
          <p:cNvPr id="4" name="Image 2" descr="gen-dedup-5a6964de565ac7af059141652be3bf5a.png">    </p:cNvPr>
          <p:cNvPicPr>
            <a:picLocks noChangeAspect="1"/>
          </p:cNvPicPr>
          <p:nvPr/>
        </p:nvPicPr>
        <p:blipFill>
          <a:blip r:embed="rId3"/>
          <a:stretch/>
        </p:blipFill>
        <p:spPr>
          <a:xfrm>
            <a:off x="9490387" y="4190695"/>
            <a:ext cx="7498421" cy="9144"/>
          </a:xfrm>
          <a:prstGeom prst="rect">
            <a:avLst/>
          </a:prstGeom>
        </p:spPr>
      </p:pic>
      <p:sp>
        <p:nvSpPr>
          <p:cNvPr id="5" name="Text 0"/>
          <p:cNvSpPr txBox="1"/>
          <p:nvPr/>
        </p:nvSpPr>
        <p:spPr>
          <a:xfrm>
            <a:off x="1143000" y="629107"/>
            <a:ext cx="126690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2 · 100–112분 · 개인 → 모둠</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활동 2</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교실의 사물에 박물관 이름을 붙이기</a:t>
            </a:r>
            <a:endParaRPr lang="en-US" sz="3450" dirty="0"/>
          </a:p>
        </p:txBody>
      </p:sp>
      <p:sp>
        <p:nvSpPr>
          <p:cNvPr id="8"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교실에서 사물 하나를 고른다. 그 사물을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2300년에 발굴된 유물</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로 간주하고, 앞에서 배운 네 자리 규칙으로 명칭을 만든다. 이번 활동의 산출물은 5차시 프롬프트의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첫 줄</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이 된다.</a:t>
            </a:r>
            <a:endParaRPr lang="en-US" sz="2175" dirty="0"/>
          </a:p>
        </p:txBody>
      </p:sp>
      <p:sp>
        <p:nvSpPr>
          <p:cNvPr id="9"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1단계 개인 작성 (6분)</a:t>
            </a:r>
            <a:endParaRPr lang="en-US" sz="16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7810805" cy="3363163"/>
        </p:xfrm>
        <a:graphic>
          <a:graphicData uri="http://schemas.openxmlformats.org/drawingml/2006/table">
            <a:tbl>
              <a:tblPr/>
              <a:tblGrid>
                <a:gridCol w="1714500"/>
                <a:gridCol w="6096305"/>
              </a:tblGrid>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고른 사물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예: 급식 식판, 실내화, 충전 케이블</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재질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실제 재료를 쓴다. 상상 재료는 금지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기법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어떻게 만들어졌는가 (사출·압착·직조 등)</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문양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표면의 무늬·인쇄·마크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기물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미래인이 추정할 </a:t>
                      </a:r>
                      <a:pPr indent="0" marL="0">
                        <a:buNone/>
                      </a:pPr>
                      <a:r>
                        <a:rPr lang="en-US" sz="1875" b="1" dirty="0">
                          <a:solidFill>
                            <a:srgbClr val="9C2A1F"/>
                          </a:solidFill>
                          <a:latin typeface="Noto Serif KR" pitchFamily="34" charset="0"/>
                          <a:ea typeface="Noto Serif KR" pitchFamily="34" charset="-122"/>
                          <a:cs typeface="Noto Serif KR" pitchFamily="34" charset="-120"/>
                        </a:rPr>
                        <a:t>용도</a:t>
                      </a:r>
                      <a:pPr indent="0" marL="0">
                        <a:buNone/>
                      </a:pPr>
                      <a:r>
                        <a:rPr lang="en-US" sz="1875" dirty="0">
                          <a:solidFill>
                            <a:srgbClr val="3A362C"/>
                          </a:solidFill>
                          <a:latin typeface="Noto Serif KR" pitchFamily="34" charset="0"/>
                          <a:ea typeface="Noto Serif KR" pitchFamily="34" charset="-122"/>
                          <a:cs typeface="Noto Serif KR" pitchFamily="34" charset="-120"/>
                        </a:rPr>
                        <a:t> — 실제 용도와 달라도 된다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7733995"/>
            <a:ext cx="7810805" cy="2095805"/>
          </a:xfrm>
          <a:prstGeom prst="rect">
            <a:avLst/>
          </a:prstGeom>
          <a:solidFill>
            <a:srgbClr val="FFFFFF">
              <a:alpha val="36000"/>
            </a:srgbClr>
          </a:solidFill>
          <a:ln w="12700">
            <a:solidFill>
              <a:srgbClr val="BEB6A5"/>
            </a:solidFill>
            <a:prstDash val="solid"/>
          </a:ln>
        </p:spPr>
      </p:sp>
      <p:sp>
        <p:nvSpPr>
          <p:cNvPr id="12" name="Text 6"/>
          <p:cNvSpPr txBox="1"/>
          <p:nvPr/>
        </p:nvSpPr>
        <p:spPr>
          <a:xfrm>
            <a:off x="1438351" y="7934249"/>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예시 — 선생님가 먼저 시연한다</a:t>
            </a:r>
            <a:endParaRPr lang="en-US" sz="1575" dirty="0"/>
          </a:p>
        </p:txBody>
      </p:sp>
      <p:pic>
        <p:nvPicPr>
          <p:cNvPr id="13" name="Image 3" descr="gen-dedup-8daa7bbad9e138f694b547871d64bad8.png">    </p:cNvPr>
          <p:cNvPicPr>
            <a:picLocks noChangeAspect="1"/>
          </p:cNvPicPr>
          <p:nvPr/>
        </p:nvPicPr>
        <p:blipFill>
          <a:blip r:embed="rId4"/>
          <a:stretch/>
        </p:blipFill>
        <p:spPr>
          <a:xfrm>
            <a:off x="1582731" y="8334756"/>
            <a:ext cx="6931342" cy="9144"/>
          </a:xfrm>
          <a:prstGeom prst="rect">
            <a:avLst/>
          </a:prstGeom>
        </p:spPr>
      </p:pic>
      <p:sp>
        <p:nvSpPr>
          <p:cNvPr id="14" name="Text 7"/>
          <p:cNvSpPr txBox="1"/>
          <p:nvPr/>
        </p:nvSpPr>
        <p:spPr>
          <a:xfrm>
            <a:off x="1438351" y="8477402"/>
            <a:ext cx="7220102"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충전 케이블 →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“고분자 피복 동선 편조 이중단자 연결구”</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‘충전’을 쓰지 않은 데 주목한다. 미래인은 전력 공급 방식을 모를 수 있으므로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기능 이름을 확정하지 않는다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a:t>
            </a:r>
            <a:endParaRPr lang="en-US" sz="1725" dirty="0"/>
          </a:p>
        </p:txBody>
      </p:sp>
      <p:sp>
        <p:nvSpPr>
          <p:cNvPr id="15" name="Text 8"/>
          <p:cNvSpPr txBox="1"/>
          <p:nvPr/>
        </p:nvSpPr>
        <p:spPr>
          <a:xfrm>
            <a:off x="9334195" y="38477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2단계 모둠 검증 (6분) — 서로의 이름을 시험한다</a:t>
            </a:r>
            <a:endParaRPr lang="en-US" sz="1650" dirty="0"/>
          </a:p>
        </p:txBody>
      </p:sp>
      <p:sp>
        <p:nvSpPr>
          <p:cNvPr id="16" name="Text 9"/>
          <p:cNvSpPr txBox="1"/>
          <p:nvPr/>
        </p:nvSpPr>
        <p:spPr>
          <a:xfrm>
            <a:off x="9334195" y="4457700"/>
            <a:ext cx="7810805" cy="250637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이름만 읽고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무슨 물건인지 그려 본다</a:t>
            </a:r>
            <a:pPr algn="l" indent="0" marL="0">
              <a:buNone/>
            </a:pPr>
            <a:r>
              <a:rPr lang="en-US" sz="1800" dirty="0">
                <a:solidFill>
                  <a:srgbClr val="3A362C"/>
                </a:solidFill>
                <a:latin typeface="Noto Serif KR" pitchFamily="34" charset="0"/>
                <a:ea typeface="Noto Serif KR" pitchFamily="34" charset="-122"/>
                <a:cs typeface="Noto Serif KR" pitchFamily="34" charset="-120"/>
              </a:rPr>
              <a:t>. 그림이 실물과 다르면 이름이 부정확한 것이다.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감상어(‘멋진’, ‘낡은’)가 섞여 있으면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빨간 줄</a:t>
            </a:r>
            <a:pPr algn="l" indent="0" marL="0">
              <a:buNone/>
            </a:pPr>
            <a:r>
              <a:rPr lang="en-US" sz="1800" dirty="0">
                <a:solidFill>
                  <a:srgbClr val="3A362C"/>
                </a:solidFill>
                <a:latin typeface="Noto Serif KR" pitchFamily="34" charset="0"/>
                <a:ea typeface="Noto Serif KR" pitchFamily="34" charset="-122"/>
                <a:cs typeface="Noto Serif KR" pitchFamily="34" charset="-120"/>
              </a:rPr>
              <a:t>로 지운다.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④ 기물 자리가 실제 용도를 그대로 베낀 경우,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한 단계 낯설게</a:t>
            </a:r>
            <a:pPr algn="l" indent="0" marL="0">
              <a:buNone/>
            </a:pPr>
            <a:r>
              <a:rPr lang="en-US" sz="1800" dirty="0">
                <a:solidFill>
                  <a:srgbClr val="3A362C"/>
                </a:solidFill>
                <a:latin typeface="Noto Serif KR" pitchFamily="34" charset="0"/>
                <a:ea typeface="Noto Serif KR" pitchFamily="34" charset="-122"/>
                <a:cs typeface="Noto Serif KR" pitchFamily="34" charset="-120"/>
              </a:rPr>
              <a:t> 고친다.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pPr algn="l" indent="0" marL="0">
              <a:buNone/>
            </a:pPr>
            <a:r>
              <a:rPr lang="en-US" sz="1800" dirty="0">
                <a:solidFill>
                  <a:srgbClr val="3A362C"/>
                </a:solidFill>
                <a:latin typeface="Noto Serif KR" pitchFamily="34" charset="0"/>
                <a:ea typeface="Noto Serif KR" pitchFamily="34" charset="-122"/>
                <a:cs typeface="Noto Serif KR" pitchFamily="34" charset="-120"/>
              </a:rPr>
              <a:t>모둠에서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가장 잘 작동한 이름 하나</a:t>
            </a:r>
            <a:pPr algn="l" indent="0" marL="0">
              <a:buNone/>
            </a:pPr>
            <a:r>
              <a:rPr lang="en-US" sz="1800" dirty="0">
                <a:solidFill>
                  <a:srgbClr val="3A362C"/>
                </a:solidFill>
                <a:latin typeface="Noto Serif KR" pitchFamily="34" charset="0"/>
                <a:ea typeface="Noto Serif KR" pitchFamily="34" charset="-122"/>
                <a:cs typeface="Noto Serif KR" pitchFamily="34" charset="-120"/>
              </a:rPr>
              <a:t>를 골라 칠판에 적는다.</a:t>
            </a:r>
            <a:endParaRPr lang="en-US" sz="1200" dirty="0"/>
          </a:p>
        </p:txBody>
      </p:sp>
      <p:sp>
        <p:nvSpPr>
          <p:cNvPr id="17" name="Shape 10"/>
          <p:cNvSpPr/>
          <p:nvPr/>
        </p:nvSpPr>
        <p:spPr>
          <a:xfrm>
            <a:off x="9334195" y="7733995"/>
            <a:ext cx="7810805" cy="2371954"/>
          </a:xfrm>
          <a:prstGeom prst="rect">
            <a:avLst/>
          </a:prstGeom>
          <a:solidFill>
            <a:srgbClr val="9C2A1F">
              <a:alpha val="6000"/>
            </a:srgbClr>
          </a:solidFill>
          <a:ln w="12700">
            <a:solidFill>
              <a:srgbClr val="9C2A1F"/>
            </a:solidFill>
            <a:prstDash val="solid"/>
          </a:ln>
        </p:spPr>
      </p:sp>
      <p:sp>
        <p:nvSpPr>
          <p:cNvPr id="18" name="Text 11"/>
          <p:cNvSpPr txBox="1"/>
          <p:nvPr/>
        </p:nvSpPr>
        <p:spPr>
          <a:xfrm>
            <a:off x="9629546" y="7934249"/>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잘 작동하는 이름의 기준 — 두 가지만 본다</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8334756"/>
            <a:ext cx="6931342" cy="9144"/>
          </a:xfrm>
          <a:prstGeom prst="rect">
            <a:avLst/>
          </a:prstGeom>
        </p:spPr>
      </p:pic>
      <p:sp>
        <p:nvSpPr>
          <p:cNvPr id="20" name="Text 12"/>
          <p:cNvSpPr txBox="1"/>
          <p:nvPr/>
        </p:nvSpPr>
        <p:spPr>
          <a:xfrm>
            <a:off x="9629546" y="8417966"/>
            <a:ext cx="7220102" cy="831190"/>
          </a:xfrm>
          <a:prstGeom prst="rect">
            <a:avLst/>
          </a:prstGeom>
          <a:noFill/>
          <a:ln/>
        </p:spPr>
        <p:txBody>
          <a:bodyPr wrap="square" lIns="0" tIns="0" rIns="0" bIns="0" rtlCol="0" anchor="t"/>
          <a:lstStyle/>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① 검증 가능성</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 적힌 정보가 이미지에서 확인될 수 있는가.</a:t>
            </a:r>
            <a:pPr algn="l" indent="0" marL="0">
              <a:lnSpc>
                <a:spcPts val="3002"/>
              </a:lnSpc>
              <a:buNone/>
            </a:pPr>
            <a:endParaRPr lang="en-US" sz="1725" dirty="0"/>
          </a:p>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② 해석의 여지</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 용도가 하나로 못 박히지 않고 질문을 남기는가.</a:t>
            </a:r>
            <a:endParaRPr lang="en-US" sz="1725" dirty="0"/>
          </a:p>
        </p:txBody>
      </p:sp>
      <p:pic>
        <p:nvPicPr>
          <p:cNvPr id="21" name="Image 5" descr="gen-dedup-1ecc457e9f0425ba955b89608822049e.png">    </p:cNvPr>
          <p:cNvPicPr>
            <a:picLocks noChangeAspect="1"/>
          </p:cNvPicPr>
          <p:nvPr/>
        </p:nvPicPr>
        <p:blipFill>
          <a:blip r:embed="rId6"/>
          <a:stretch/>
        </p:blipFill>
        <p:spPr>
          <a:xfrm>
            <a:off x="9773926" y="9372600"/>
            <a:ext cx="6931342" cy="9144"/>
          </a:xfrm>
          <a:prstGeom prst="rect">
            <a:avLst/>
          </a:prstGeom>
        </p:spPr>
      </p:pic>
      <p:sp>
        <p:nvSpPr>
          <p:cNvPr id="22" name="Text 13"/>
          <p:cNvSpPr txBox="1"/>
          <p:nvPr/>
        </p:nvSpPr>
        <p:spPr>
          <a:xfrm>
            <a:off x="9629546" y="9516161"/>
            <a:ext cx="722010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산출물은 학습지 [별지 4] 상단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‘명칭’ 칸</a:t>
            </a:r>
            <a:pPr algn="l" indent="0" marL="0">
              <a:buNone/>
            </a:pPr>
            <a:r>
              <a:rPr lang="en-US" sz="1725" dirty="0">
                <a:solidFill>
                  <a:srgbClr val="3A362C"/>
                </a:solidFill>
                <a:latin typeface="Noto Serif KR" pitchFamily="34" charset="0"/>
                <a:ea typeface="Noto Serif KR" pitchFamily="34" charset="-122"/>
                <a:cs typeface="Noto Serif KR" pitchFamily="34" charset="-120"/>
              </a:rPr>
              <a:t>에 확정 기입한다.</a:t>
            </a:r>
            <a:endParaRPr lang="en-US" sz="17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c472cddd9bbb83ae1f9fffa20b1fd576.jpg">    </p:cNvPr>
          <p:cNvPicPr>
            <a:picLocks noChangeAspect="1"/>
          </p:cNvPicPr>
          <p:nvPr/>
        </p:nvPicPr>
        <p:blipFill>
          <a:blip r:embed="rId1">
            <a:alphaModFix amt="88000"/>
          </a:blip>
          <a:stretch>
            <a:fillRect/>
          </a:stretch>
        </p:blipFill>
        <p:spPr>
          <a:xfrm>
            <a:off x="11239805" y="0"/>
            <a:ext cx="7048689"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5 · 112–120분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05</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먼 미래에게</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무엇을 남길 것인가</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지금 우리가 만드는 사물 중 어떤 것은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인간보다 오래</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남는다. 남길 것을 고르고, 읽는 법을 함께 설계하는 작업 — 우리의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2300년 유물</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과 정확히 같은 문제다.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전개 5 — 인류세의 유물</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6191402"/>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beb8d238e0e3937d8bf087315c9b470a.jpg">    </p:cNvPr>
          <p:cNvPicPr>
            <a:picLocks noChangeAspect="1"/>
          </p:cNvPicPr>
          <p:nvPr/>
        </p:nvPicPr>
        <p:blipFill>
          <a:blip r:embed="rId3"/>
          <a:stretch/>
        </p:blipFill>
        <p:spPr>
          <a:xfrm>
            <a:off x="2654132" y="1438351"/>
            <a:ext cx="6787419"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위성에 실린 100장의 이미지</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4—08</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4—08</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트레버 파글렌, 「마지막 사진들The Last Pictures」, 2012. 미세 에칭된 실리콘 디스크에 100매의 이미지를 새겼다.</a:t>
            </a:r>
            <a:endParaRPr lang="en-US" sz="1725" dirty="0"/>
          </a:p>
        </p:txBody>
      </p:sp>
      <p:sp>
        <p:nvSpPr>
          <p:cNvPr id="9" name="Text 4"/>
          <p:cNvSpPr txBox="1"/>
          <p:nvPr/>
        </p:nvSpPr>
        <p:spPr>
          <a:xfrm>
            <a:off x="1143000" y="82296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작업의 관객은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아직 존재하지 않는다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파글렌은 통신위성에 디스크를 부착해 정지궤도로 올려 보냈다. 위성은 수명을 다한 뒤에도 궤도에 남는다. 즉 이 작품은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읽을 사람이 없을 가능성을 전제로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만들어진 기록이다.</a:t>
            </a:r>
            <a:endParaRPr lang="en-US" sz="1875" dirty="0"/>
          </a:p>
        </p:txBody>
      </p:sp>
      <p:sp>
        <p:nvSpPr>
          <p:cNvPr id="24" name="Text 19"/>
          <p:cNvSpPr txBox="1"/>
          <p:nvPr/>
        </p:nvSpPr>
        <p:spPr>
          <a:xfrm>
            <a:off x="11525098" y="5848502"/>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5" name="Text 20"/>
          <p:cNvSpPr txBox="1"/>
          <p:nvPr/>
        </p:nvSpPr>
        <p:spPr>
          <a:xfrm>
            <a:off x="11525098" y="6458407"/>
            <a:ext cx="5619902" cy="233720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작품을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볼 수 있는 사람</a:t>
            </a:r>
            <a:pPr algn="l" indent="0" marL="0">
              <a:buNone/>
            </a:pPr>
            <a:r>
              <a:rPr lang="en-US" sz="1800" dirty="0">
                <a:solidFill>
                  <a:srgbClr val="3A362C"/>
                </a:solidFill>
                <a:latin typeface="Noto Serif KR" pitchFamily="34" charset="0"/>
                <a:ea typeface="Noto Serif KR" pitchFamily="34" charset="-122"/>
                <a:cs typeface="Noto Serif KR" pitchFamily="34" charset="-120"/>
              </a:rPr>
              <a:t>은 누구입니까.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100장만 고른다면 여러분은 무엇을 넣겠습니까. 무엇을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빼겠습니까</a:t>
            </a:r>
            <a:pPr algn="l" indent="0" marL="0">
              <a:buNone/>
            </a:pPr>
            <a:r>
              <a:rPr lang="en-US" sz="1800" dirty="0">
                <a:solidFill>
                  <a:srgbClr val="3A362C"/>
                </a:solidFill>
                <a:latin typeface="Noto Serif KR" pitchFamily="34" charset="0"/>
                <a:ea typeface="Noto Serif KR" pitchFamily="34" charset="-122"/>
                <a:cs typeface="Noto Serif KR" pitchFamily="34" charset="-120"/>
              </a:rPr>
              <a:t>.</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설명 없이 이미지만 남는다면, 오해는 어떻게 생길까요.</a:t>
            </a:r>
            <a:endParaRPr lang="en-US" sz="1200" dirty="0"/>
          </a:p>
        </p:txBody>
      </p:sp>
      <p:sp>
        <p:nvSpPr>
          <p:cNvPr id="26" name="Shape 21"/>
          <p:cNvSpPr/>
          <p:nvPr/>
        </p:nvSpPr>
        <p:spPr>
          <a:xfrm>
            <a:off x="11525098" y="9068105"/>
            <a:ext cx="5619902" cy="1171346"/>
          </a:xfrm>
          <a:prstGeom prst="rect">
            <a:avLst/>
          </a:prstGeom>
          <a:solidFill>
            <a:srgbClr val="9C2A1F">
              <a:alpha val="6000"/>
            </a:srgbClr>
          </a:solidFill>
          <a:ln w="12700">
            <a:solidFill>
              <a:srgbClr val="9C2A1F"/>
            </a:solidFill>
            <a:prstDash val="solid"/>
          </a:ln>
        </p:spPr>
      </p:sp>
      <p:sp>
        <p:nvSpPr>
          <p:cNvPr id="27" name="Text 22"/>
          <p:cNvSpPr txBox="1"/>
          <p:nvPr/>
        </p:nvSpPr>
        <p:spPr>
          <a:xfrm>
            <a:off x="11782044" y="9267444"/>
            <a:ext cx="5106010"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우리 작업과의 접점</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고르는 일이 곧 작품이다. 100장의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선택</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파글렌의 작업이었다.</a:t>
            </a:r>
            <a:endParaRPr lang="en-US" sz="1725" dirty="0"/>
          </a:p>
        </p:txBody>
      </p:sp>
      <p:sp>
        <p:nvSpPr>
          <p:cNvPr id="28" name="Text 23"/>
          <p:cNvSpPr txBox="1"/>
          <p:nvPr/>
        </p:nvSpPr>
        <p:spPr>
          <a:xfrm>
            <a:off x="1143000" y="9677095"/>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Creative Time 「The Last Pictures」 프로젝트 페이지, paglen.studio, e-flux journal #37 작가 인터뷰</a:t>
            </a:r>
            <a:endParaRPr lang="en-US" sz="165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3"/>
          <a:stretch/>
        </p:blipFill>
        <p:spPr>
          <a:xfrm>
            <a:off x="1182317" y="6953098"/>
            <a:ext cx="9731964" cy="28346"/>
          </a:xfrm>
          <a:prstGeom prst="rect">
            <a:avLst/>
          </a:prstGeom>
        </p:spPr>
      </p:pic>
      <p:pic>
        <p:nvPicPr>
          <p:cNvPr id="4" name="Image 2" descr="gen-dedup-ce87182226452a8c3e765dcc253b345b.png">    </p:cNvPr>
          <p:cNvPicPr>
            <a:picLocks noChangeAspect="1"/>
          </p:cNvPicPr>
          <p:nvPr/>
        </p:nvPicPr>
        <p:blipFill>
          <a:blip r:embed="rId4"/>
          <a:stretch/>
        </p:blipFill>
        <p:spPr>
          <a:xfrm>
            <a:off x="11730980" y="1809598"/>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사실관계 · 5십억 년을 견디도록 설계된 기록</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사실관계</a:t>
            </a:r>
            <a:endParaRPr lang="en-US" sz="1650" dirty="0"/>
          </a:p>
        </p:txBody>
      </p:sp>
      <p:sp>
        <p:nvSpPr>
          <p:cNvPr id="7"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매체를 고르는 일이</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수명을 결정한다</a:t>
            </a:r>
            <a:endParaRPr lang="en-US" sz="34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43000" y="2915107"/>
          <a:ext cx="9811512" cy="3877056"/>
        </p:xfrm>
        <a:graphic>
          <a:graphicData uri="http://schemas.openxmlformats.org/drawingml/2006/table">
            <a:tbl>
              <a:tblPr/>
              <a:tblGrid>
                <a:gridCol w="2095805"/>
                <a:gridCol w="7715707"/>
              </a:tblGrid>
              <a:tr h="646176">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항목</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내용</a:t>
                      </a:r>
                      <a:endParaRPr lang="en-US" sz="1725" dirty="0">
                        <a:latin typeface="Noto Sans KR" charset="0"/>
                        <a:ea typeface="Noto Sans KR" charset="0"/>
                        <a:cs typeface="Noto Sans KR" charset="0"/>
                      </a:endParaRPr>
                    </a:p>
                  </a:txBody>
                  <a:tcPr marL="171907" marR="171907"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461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매체 선택</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종이·필름·자기 기록은 수십 년 안에 손상된다. 파글렌은 </a:t>
                      </a:r>
                      <a:pPr indent="0" marL="0">
                        <a:buNone/>
                      </a:pPr>
                      <a:r>
                        <a:rPr lang="en-US" sz="1800" b="1" dirty="0">
                          <a:solidFill>
                            <a:srgbClr val="17150F"/>
                          </a:solidFill>
                          <a:latin typeface="Noto Serif KR" pitchFamily="34" charset="0"/>
                          <a:ea typeface="Noto Serif KR" pitchFamily="34" charset="-122"/>
                          <a:cs typeface="Noto Serif KR" pitchFamily="34" charset="-120"/>
                        </a:rPr>
                        <a:t>실리콘에 미세 에칭</a:t>
                      </a:r>
                      <a:pPr indent="0" marL="0">
                        <a:buNone/>
                      </a:pPr>
                      <a:r>
                        <a:rPr lang="en-US" sz="1800" dirty="0">
                          <a:solidFill>
                            <a:srgbClr val="3A362C"/>
                          </a:solidFill>
                          <a:latin typeface="Noto Serif KR" pitchFamily="34" charset="0"/>
                          <a:ea typeface="Noto Serif KR" pitchFamily="34" charset="-122"/>
                          <a:cs typeface="Noto Serif KR" pitchFamily="34" charset="-120"/>
                        </a:rPr>
                        <a:t>하는 방식을 택했다.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461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설계 수명</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태양이 팽창해 지구를 삼키는 시점, 즉 </a:t>
                      </a:r>
                      <a:pPr indent="0" marL="0">
                        <a:buNone/>
                      </a:pPr>
                      <a:r>
                        <a:rPr lang="en-US" sz="1800" b="1" dirty="0">
                          <a:solidFill>
                            <a:srgbClr val="17150F"/>
                          </a:solidFill>
                          <a:latin typeface="Noto Serif KR" pitchFamily="34" charset="0"/>
                          <a:ea typeface="Noto Serif KR" pitchFamily="34" charset="-122"/>
                          <a:cs typeface="Noto Serif KR" pitchFamily="34" charset="-120"/>
                        </a:rPr>
                        <a:t>약 50억 년</a:t>
                      </a:r>
                      <a:pPr indent="0" marL="0">
                        <a:buNone/>
                      </a:pPr>
                      <a:r>
                        <a:rPr lang="en-US" sz="1800" dirty="0">
                          <a:solidFill>
                            <a:srgbClr val="3A362C"/>
                          </a:solidFill>
                          <a:latin typeface="Noto Serif KR" pitchFamily="34" charset="0"/>
                          <a:ea typeface="Noto Serif KR" pitchFamily="34" charset="-122"/>
                          <a:cs typeface="Noto Serif KR" pitchFamily="34" charset="-120"/>
                        </a:rPr>
                        <a:t> 뒤까지 견디도록 설계되었다.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461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보관 장소</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지상이 아니라 </a:t>
                      </a:r>
                      <a:pPr indent="0" marL="0">
                        <a:buNone/>
                      </a:pPr>
                      <a:r>
                        <a:rPr lang="en-US" sz="1800" b="1" dirty="0">
                          <a:solidFill>
                            <a:srgbClr val="17150F"/>
                          </a:solidFill>
                          <a:latin typeface="Noto Serif KR" pitchFamily="34" charset="0"/>
                          <a:ea typeface="Noto Serif KR" pitchFamily="34" charset="-122"/>
                          <a:cs typeface="Noto Serif KR" pitchFamily="34" charset="-120"/>
                        </a:rPr>
                        <a:t>정지궤도</a:t>
                      </a:r>
                      <a:pPr indent="0" marL="0">
                        <a:buNone/>
                      </a:pPr>
                      <a:r>
                        <a:rPr lang="en-US" sz="1800" dirty="0">
                          <a:solidFill>
                            <a:srgbClr val="3A362C"/>
                          </a:solidFill>
                          <a:latin typeface="Noto Serif KR" pitchFamily="34" charset="0"/>
                          <a:ea typeface="Noto Serif KR" pitchFamily="34" charset="-122"/>
                          <a:cs typeface="Noto Serif KR" pitchFamily="34" charset="-120"/>
                        </a:rPr>
                        <a:t>. 대기·물·생물의 작용이 없는 환경이다.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461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사후 상태</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위성이 수명을 다하면 궤도상의 </a:t>
                      </a:r>
                      <a:pPr indent="0" marL="0">
                        <a:buNone/>
                      </a:pPr>
                      <a:r>
                        <a:rPr lang="en-US" sz="1800" b="1" dirty="0">
                          <a:solidFill>
                            <a:srgbClr val="9C2A1F"/>
                          </a:solidFill>
                          <a:latin typeface="Noto Serif KR" pitchFamily="34" charset="0"/>
                          <a:ea typeface="Noto Serif KR" pitchFamily="34" charset="-122"/>
                          <a:cs typeface="Noto Serif KR" pitchFamily="34" charset="-120"/>
                        </a:rPr>
                        <a:t>위성 무덤</a:t>
                      </a:r>
                      <a:pPr indent="0" marL="0">
                        <a:buNone/>
                      </a:pPr>
                      <a:r>
                        <a:rPr lang="en-US" sz="1800" dirty="0">
                          <a:solidFill>
                            <a:srgbClr val="3A362C"/>
                          </a:solidFill>
                          <a:latin typeface="Noto Serif KR" pitchFamily="34" charset="0"/>
                          <a:ea typeface="Noto Serif KR" pitchFamily="34" charset="-122"/>
                          <a:cs typeface="Noto Serif KR" pitchFamily="34" charset="-120"/>
                        </a:rPr>
                        <a:t> 영역에 장기간 머문다.</a:t>
                      </a:r>
                      <a:endParaRPr lang="en-US" sz="1200" dirty="0"/>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46176">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출판</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『The Last Pictures』, University of California Press, 2012</a:t>
                      </a:r>
                      <a:endParaRPr lang="en-US" sz="1800" dirty="0">
                        <a:latin typeface="Noto Serif KR" charset="0"/>
                        <a:ea typeface="Noto Serif KR" charset="0"/>
                        <a:cs typeface="Noto Serif KR" charset="0"/>
                      </a:endParaRPr>
                    </a:p>
                  </a:txBody>
                  <a:tcPr marL="171907" marR="171907"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3"/>
          <p:cNvSpPr txBox="1"/>
          <p:nvPr/>
        </p:nvSpPr>
        <p:spPr>
          <a:xfrm>
            <a:off x="1143000" y="7258507"/>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 작업이 던지는 질문은 기술의 문제가 아니다.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무엇을 남길 자격이 있는가</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 그리고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그것을 누가 정하는가</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의 문제다. 파글렌은 100장을 직접 골랐고, 그 선택을 작품으로 공개했다.</a:t>
            </a:r>
            <a:endParaRPr lang="en-US" sz="1950" dirty="0"/>
          </a:p>
        </p:txBody>
      </p:sp>
      <p:sp>
        <p:nvSpPr>
          <p:cNvPr id="10" name="Shape 4"/>
          <p:cNvSpPr/>
          <p:nvPr/>
        </p:nvSpPr>
        <p:spPr>
          <a:xfrm>
            <a:off x="1143000" y="8725205"/>
            <a:ext cx="9810598" cy="1238098"/>
          </a:xfrm>
          <a:prstGeom prst="rect">
            <a:avLst/>
          </a:prstGeom>
          <a:solidFill>
            <a:srgbClr val="FFFFFF">
              <a:alpha val="36000"/>
            </a:srgbClr>
          </a:solidFill>
          <a:ln w="12700">
            <a:solidFill>
              <a:srgbClr val="BEB6A5"/>
            </a:solidFill>
            <a:prstDash val="solid"/>
          </a:ln>
        </p:spPr>
      </p:sp>
      <p:sp>
        <p:nvSpPr>
          <p:cNvPr id="11" name="Text 5"/>
          <p:cNvSpPr txBox="1"/>
          <p:nvPr/>
        </p:nvSpPr>
        <p:spPr>
          <a:xfrm>
            <a:off x="1438351" y="8943746"/>
            <a:ext cx="922081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1차시의 뒤샹은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고르는 행위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미술로 만들었다. 파글렌은 같은 행위를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5십억 년 단위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로 확대했다. 규모가 달라도 구조는 같다 — 선택·명명·전시.</a:t>
            </a:r>
            <a:endParaRPr lang="en-US" sz="1800" dirty="0"/>
          </a:p>
        </p:txBody>
      </p:sp>
      <p:sp>
        <p:nvSpPr>
          <p:cNvPr id="12" name="Text 6"/>
          <p:cNvSpPr txBox="1"/>
          <p:nvPr/>
        </p:nvSpPr>
        <p:spPr>
          <a:xfrm>
            <a:off x="11620195" y="1466698"/>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유물의 재질을 정할 때 물을 것</a:t>
            </a:r>
            <a:endParaRPr lang="en-US" sz="1650" dirty="0"/>
          </a:p>
        </p:txBody>
      </p:sp>
      <p:sp>
        <p:nvSpPr>
          <p:cNvPr id="13" name="Text 7"/>
          <p:cNvSpPr txBox="1"/>
          <p:nvPr/>
        </p:nvSpPr>
        <p:spPr>
          <a:xfrm>
            <a:off x="11620195" y="2076602"/>
            <a:ext cx="5524805" cy="273497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재질은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300년을 버티는가</a:t>
            </a:r>
            <a:pPr algn="l" indent="0" marL="0">
              <a:buNone/>
            </a:pPr>
            <a:r>
              <a:rPr lang="en-US" sz="1800" dirty="0">
                <a:solidFill>
                  <a:srgbClr val="3A362C"/>
                </a:solidFill>
                <a:latin typeface="Noto Serif KR" pitchFamily="34" charset="0"/>
                <a:ea typeface="Noto Serif KR" pitchFamily="34" charset="-122"/>
                <a:cs typeface="Noto Serif KR" pitchFamily="34" charset="-120"/>
              </a:rPr>
              <a:t>. 종이·천은 특별한 조건이 없으면 어렵다.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버틴다면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어떤 상태로</a:t>
            </a:r>
            <a:pPr algn="l" indent="0" marL="0">
              <a:buNone/>
            </a:pPr>
            <a:r>
              <a:rPr lang="en-US" sz="1800" dirty="0">
                <a:solidFill>
                  <a:srgbClr val="3A362C"/>
                </a:solidFill>
                <a:latin typeface="Noto Serif KR" pitchFamily="34" charset="0"/>
                <a:ea typeface="Noto Serif KR" pitchFamily="34" charset="-122"/>
                <a:cs typeface="Noto Serif KR" pitchFamily="34" charset="-120"/>
              </a:rPr>
              <a:t> 버티는가. 색이 빠지는가, 형태가 뒤틀리는가.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버티지 못하는 부분이 있다면, 그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결손 자체</a:t>
            </a:r>
            <a:pPr algn="l" indent="0" marL="0">
              <a:buNone/>
            </a:pPr>
            <a:r>
              <a:rPr lang="en-US" sz="1800" dirty="0">
                <a:solidFill>
                  <a:srgbClr val="3A362C"/>
                </a:solidFill>
                <a:latin typeface="Noto Serif KR" pitchFamily="34" charset="0"/>
                <a:ea typeface="Noto Serif KR" pitchFamily="34" charset="-122"/>
                <a:cs typeface="Noto Serif KR" pitchFamily="34" charset="-120"/>
              </a:rPr>
              <a:t>가 유물의 특징이 된다.</a:t>
            </a:r>
            <a:endParaRPr lang="en-US" sz="1200" dirty="0"/>
          </a:p>
        </p:txBody>
      </p:sp>
      <p:sp>
        <p:nvSpPr>
          <p:cNvPr id="14" name="Shape 8"/>
          <p:cNvSpPr/>
          <p:nvPr/>
        </p:nvSpPr>
        <p:spPr>
          <a:xfrm>
            <a:off x="11620195" y="5810098"/>
            <a:ext cx="5524805" cy="2257654"/>
          </a:xfrm>
          <a:prstGeom prst="rect">
            <a:avLst/>
          </a:prstGeom>
          <a:solidFill>
            <a:srgbClr val="9C2A1F">
              <a:alpha val="6000"/>
            </a:srgbClr>
          </a:solidFill>
          <a:ln w="12700">
            <a:solidFill>
              <a:srgbClr val="9C2A1F"/>
            </a:solidFill>
            <a:prstDash val="solid"/>
          </a:ln>
        </p:spPr>
      </p:sp>
      <p:sp>
        <p:nvSpPr>
          <p:cNvPr id="15" name="Text 9"/>
          <p:cNvSpPr txBox="1"/>
          <p:nvPr/>
        </p:nvSpPr>
        <p:spPr>
          <a:xfrm>
            <a:off x="11896344" y="6048756"/>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5차시 프롬프트에 들어갈 문장</a:t>
            </a:r>
            <a:endParaRPr lang="en-US" sz="1575" dirty="0"/>
          </a:p>
        </p:txBody>
      </p:sp>
      <p:pic>
        <p:nvPicPr>
          <p:cNvPr id="16" name="Image 3" descr="gen-dedup-27ae280773eedb088e0c817c49142db0.png">    </p:cNvPr>
          <p:cNvPicPr>
            <a:picLocks noChangeAspect="1"/>
          </p:cNvPicPr>
          <p:nvPr/>
        </p:nvPicPr>
        <p:blipFill>
          <a:blip r:embed="rId5"/>
          <a:stretch/>
        </p:blipFill>
        <p:spPr>
          <a:xfrm>
            <a:off x="11996054" y="6467551"/>
            <a:ext cx="4773087" cy="9144"/>
          </a:xfrm>
          <a:prstGeom prst="rect">
            <a:avLst/>
          </a:prstGeom>
        </p:spPr>
      </p:pic>
      <p:sp>
        <p:nvSpPr>
          <p:cNvPr id="17" name="Text 10"/>
          <p:cNvSpPr txBox="1"/>
          <p:nvPr/>
        </p:nvSpPr>
        <p:spPr>
          <a:xfrm>
            <a:off x="11896344" y="6629400"/>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300년간 흙 속에 있었던 상태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 이 한 줄이 재질·색·표면을 동시에 지정한다. 재질만 쓰면 새 물건이 나온다.</a:t>
            </a:r>
            <a:endParaRPr lang="en-US" sz="1800" dirty="0"/>
          </a:p>
        </p:txBody>
      </p:sp>
      <p:sp>
        <p:nvSpPr>
          <p:cNvPr id="18" name="Text 11"/>
          <p:cNvSpPr txBox="1"/>
          <p:nvPr/>
        </p:nvSpPr>
        <p:spPr>
          <a:xfrm>
            <a:off x="11887200" y="8248802"/>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여러분이 고른 사물은 300년 뒤 어떤 부분이 먼저 사라질까요.</a:t>
            </a:r>
            <a:endParaRPr lang="en-US" sz="2025" dirty="0"/>
          </a:p>
        </p:txBody>
      </p:sp>
      <p:sp>
        <p:nvSpPr>
          <p:cNvPr id="19" name="Text 12"/>
          <p:cNvSpPr txBox="1"/>
          <p:nvPr/>
        </p:nvSpPr>
        <p:spPr>
          <a:xfrm>
            <a:off x="11620195" y="9525305"/>
            <a:ext cx="5524805" cy="609905"/>
          </a:xfrm>
          <a:prstGeom prst="rect">
            <a:avLst/>
          </a:prstGeom>
          <a:noFill/>
          <a:ln/>
        </p:spPr>
        <p:txBody>
          <a:bodyPr wrap="square" lIns="0" tIns="0" rIns="0" bIns="0" rtlCol="0" anchor="ctr"/>
          <a:lstStyle/>
          <a:p>
            <a:pPr algn="r" indent="0" marL="0">
              <a:buNone/>
            </a:pPr>
            <a:r>
              <a:rPr lang="en-US" sz="1650" spc="66" kern="0" dirty="0">
                <a:solidFill>
                  <a:srgbClr val="918A7A"/>
                </a:solidFill>
                <a:latin typeface="Noto Sans KR" pitchFamily="34" charset="0"/>
                <a:ea typeface="Noto Sans KR" pitchFamily="34" charset="-122"/>
                <a:cs typeface="Noto Sans KR" pitchFamily="34" charset="-120"/>
              </a:rPr>
              <a:t>출처: Creative Time, paglen.studio, e-flux journal #37</a:t>
            </a:r>
            <a:endParaRPr lang="en-US" sz="165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3"/>
          <a:stretch/>
        </p:blipFill>
        <p:spPr>
          <a:xfrm>
            <a:off x="11637479" y="6001207"/>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189c5887b340e73ce4b4f768c617fdf1.jpg">    </p:cNvPr>
          <p:cNvPicPr>
            <a:picLocks noChangeAspect="1"/>
          </p:cNvPicPr>
          <p:nvPr/>
        </p:nvPicPr>
        <p:blipFill>
          <a:blip r:embed="rId4"/>
          <a:stretch/>
        </p:blipFill>
        <p:spPr>
          <a:xfrm>
            <a:off x="1152144" y="2167120"/>
            <a:ext cx="9791395" cy="4238260"/>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10,000년 뒤에도 읽혀야 하는 표지</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도판 4—09</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4—09</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핵폐기물 처분장 표지 설계 연구안. 10,000년 뒤의 인간이 위험을 알아볼 수 있게 하는 방법을 검토한 자료다.</a:t>
            </a:r>
            <a:endParaRPr lang="en-US" sz="1725" dirty="0"/>
          </a:p>
        </p:txBody>
      </p:sp>
      <p:sp>
        <p:nvSpPr>
          <p:cNvPr id="9" name="Text 4"/>
          <p:cNvSpPr txBox="1"/>
          <p:nvPr/>
        </p:nvSpPr>
        <p:spPr>
          <a:xfrm>
            <a:off x="1143000" y="82296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문제는 기술이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해독</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지금의 문자와 기호가 10,000년 뒤에도 읽힐지 알 수 없다. 그래서 연구자들은 문자 대신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형태·재질·배치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로 경고를 전달하는 방법을 검토했다. 사물이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스스로 말하게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하는 설계다.</a:t>
            </a:r>
            <a:endParaRPr lang="en-US" sz="1875" dirty="0"/>
          </a:p>
        </p:txBody>
      </p:sp>
      <p:sp>
        <p:nvSpPr>
          <p:cNvPr id="10" name="Shape 5"/>
          <p:cNvSpPr/>
          <p:nvPr/>
        </p:nvSpPr>
        <p:spPr>
          <a:xfrm>
            <a:off x="11525098" y="1429207"/>
            <a:ext cx="5619902" cy="3353105"/>
          </a:xfrm>
          <a:prstGeom prst="rect">
            <a:avLst/>
          </a:prstGeom>
          <a:solidFill>
            <a:srgbClr val="FFFFFF">
              <a:alpha val="42000"/>
            </a:srgbClr>
          </a:solidFill>
          <a:ln w="12700">
            <a:solidFill>
              <a:srgbClr val="BEB6A5"/>
            </a:solidFill>
            <a:prstDash val="solid"/>
          </a:ln>
        </p:spPr>
      </p:sp>
      <p:sp>
        <p:nvSpPr>
          <p:cNvPr id="11" name="Shape 6"/>
          <p:cNvSpPr/>
          <p:nvPr/>
        </p:nvSpPr>
        <p:spPr>
          <a:xfrm>
            <a:off x="11782044" y="3824021"/>
            <a:ext cx="5105095" cy="9144"/>
          </a:xfrm>
          <a:prstGeom prst="rect">
            <a:avLst/>
          </a:prstGeom>
          <a:solidFill>
            <a:srgbClr val="BEB6A5"/>
          </a:solidFill>
          <a:ln w="12700">
            <a:solidFill>
              <a:srgbClr val="BEB6A5">
                <a:alpha val="0"/>
              </a:srgbClr>
            </a:solidFill>
            <a:prstDash val="solid"/>
          </a:ln>
        </p:spPr>
      </p:sp>
      <p:sp>
        <p:nvSpPr>
          <p:cNvPr id="12" name="Text 7"/>
          <p:cNvSpPr txBox="1"/>
          <p:nvPr/>
        </p:nvSpPr>
        <p:spPr>
          <a:xfrm>
            <a:off x="11782044" y="3947465"/>
            <a:ext cx="5106010" cy="610819"/>
          </a:xfrm>
          <a:prstGeom prst="rect">
            <a:avLst/>
          </a:prstGeom>
          <a:solidFill>
            <a:srgbClr val="FFFFFF">
              <a:alpha val="0"/>
            </a:srgbClr>
          </a:solidFill>
          <a:ln>
            <a:solidFill>
              <a:srgbClr val="FFFFFF">
                <a:alpha val="0"/>
              </a:srgbClr>
            </a:solidFill>
          </a:ln>
        </p:spPr>
        <p:txBody>
          <a:bodyPr wrap="squar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본 항목은 개요 수준 자료 · 1차 학술 인용은 별도 확인 필요</a:t>
            </a:r>
            <a:endParaRPr lang="en-US" sz="1650" dirty="0"/>
          </a:p>
        </p:txBody>
      </p:sp>
      <p:sp>
        <p:nvSpPr>
          <p:cNvPr id="13" name="Text 8"/>
          <p:cNvSpPr txBox="1"/>
          <p:nvPr/>
        </p:nvSpPr>
        <p:spPr>
          <a:xfrm>
            <a:off x="11782044" y="16952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a:t>
            </a:r>
            <a:endParaRPr lang="en-US" sz="1650" dirty="0"/>
          </a:p>
        </p:txBody>
      </p:sp>
      <p:sp>
        <p:nvSpPr>
          <p:cNvPr id="14" name="Text 9"/>
          <p:cNvSpPr txBox="1"/>
          <p:nvPr/>
        </p:nvSpPr>
        <p:spPr>
          <a:xfrm>
            <a:off x="13382244" y="1647749"/>
            <a:ext cx="31345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핵폐기물 처분장 장기 표지</a:t>
            </a:r>
            <a:endParaRPr lang="en-US" sz="1875" dirty="0"/>
          </a:p>
        </p:txBody>
      </p:sp>
      <p:sp>
        <p:nvSpPr>
          <p:cNvPr id="15" name="Text 10"/>
          <p:cNvSpPr txBox="1"/>
          <p:nvPr/>
        </p:nvSpPr>
        <p:spPr>
          <a:xfrm>
            <a:off x="11782044" y="21387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사례 지역</a:t>
            </a:r>
            <a:endParaRPr lang="en-US" sz="1650" dirty="0"/>
          </a:p>
        </p:txBody>
      </p:sp>
      <p:sp>
        <p:nvSpPr>
          <p:cNvPr id="16" name="Text 11"/>
          <p:cNvSpPr txBox="1"/>
          <p:nvPr/>
        </p:nvSpPr>
        <p:spPr>
          <a:xfrm>
            <a:off x="13382244" y="2090318"/>
            <a:ext cx="32964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미국 WIPP(뉴멕시코) · 유카 마운틴(네바다)</a:t>
            </a:r>
            <a:endParaRPr lang="en-US" sz="1875" dirty="0"/>
          </a:p>
        </p:txBody>
      </p:sp>
      <p:sp>
        <p:nvSpPr>
          <p:cNvPr id="17" name="Text 12"/>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설계 기준</a:t>
            </a:r>
            <a:endParaRPr lang="en-US" sz="1650" dirty="0"/>
          </a:p>
        </p:txBody>
      </p:sp>
      <p:sp>
        <p:nvSpPr>
          <p:cNvPr id="18" name="Text 13"/>
          <p:cNvSpPr txBox="1"/>
          <p:nvPr/>
        </p:nvSpPr>
        <p:spPr>
          <a:xfrm>
            <a:off x="13382244" y="2890418"/>
            <a:ext cx="34582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10,000년간 해독 가능성 검토</a:t>
            </a:r>
            <a:endParaRPr lang="en-US" sz="1875" dirty="0"/>
          </a:p>
        </p:txBody>
      </p:sp>
      <p:sp>
        <p:nvSpPr>
          <p:cNvPr id="19" name="Text 14"/>
          <p:cNvSpPr txBox="1"/>
          <p:nvPr/>
        </p:nvSpPr>
        <p:spPr>
          <a:xfrm>
            <a:off x="11782044" y="33814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연구 분야</a:t>
            </a:r>
            <a:endParaRPr lang="en-US" sz="1650" dirty="0"/>
          </a:p>
        </p:txBody>
      </p:sp>
      <p:sp>
        <p:nvSpPr>
          <p:cNvPr id="20" name="Text 15"/>
          <p:cNvSpPr txBox="1"/>
          <p:nvPr/>
        </p:nvSpPr>
        <p:spPr>
          <a:xfrm>
            <a:off x="13382244" y="3333902"/>
            <a:ext cx="37435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핵 기호학 nuclear semiotics</a:t>
            </a:r>
            <a:endParaRPr lang="en-US" sz="1875" dirty="0"/>
          </a:p>
        </p:txBody>
      </p:sp>
      <p:sp>
        <p:nvSpPr>
          <p:cNvPr id="21" name="Text 16"/>
          <p:cNvSpPr txBox="1"/>
          <p:nvPr/>
        </p:nvSpPr>
        <p:spPr>
          <a:xfrm>
            <a:off x="11525098" y="5658307"/>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2" name="Text 17"/>
          <p:cNvSpPr txBox="1"/>
          <p:nvPr/>
        </p:nvSpPr>
        <p:spPr>
          <a:xfrm>
            <a:off x="11525098" y="6267298"/>
            <a:ext cx="5619902" cy="233720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문자를 읽지 못하는 사람에게도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‘위험’</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전달됩니까.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형태가 오히려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호기심</a:t>
            </a:r>
            <a:pPr algn="l" indent="0" marL="0">
              <a:buNone/>
            </a:pPr>
            <a:r>
              <a:rPr lang="en-US" sz="1800" dirty="0">
                <a:solidFill>
                  <a:srgbClr val="3A362C"/>
                </a:solidFill>
                <a:latin typeface="Noto Serif KR" pitchFamily="34" charset="0"/>
                <a:ea typeface="Noto Serif KR" pitchFamily="34" charset="-122"/>
                <a:cs typeface="Noto Serif KR" pitchFamily="34" charset="-120"/>
              </a:rPr>
              <a:t>을 자극하지는 않습니까.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10,000년 뒤 사람이 이것을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유물</a:t>
            </a:r>
            <a:pPr algn="l" indent="0" marL="0">
              <a:buNone/>
            </a:pPr>
            <a:r>
              <a:rPr lang="en-US" sz="1800" dirty="0">
                <a:solidFill>
                  <a:srgbClr val="3A362C"/>
                </a:solidFill>
                <a:latin typeface="Noto Serif KR" pitchFamily="34" charset="0"/>
                <a:ea typeface="Noto Serif KR" pitchFamily="34" charset="-122"/>
                <a:cs typeface="Noto Serif KR" pitchFamily="34" charset="-120"/>
              </a:rPr>
              <a:t>로 오해한다면 어떻게 될까요.</a:t>
            </a:r>
            <a:endParaRPr lang="en-US" sz="1200" dirty="0"/>
          </a:p>
        </p:txBody>
      </p:sp>
      <p:sp>
        <p:nvSpPr>
          <p:cNvPr id="23" name="Shape 18"/>
          <p:cNvSpPr/>
          <p:nvPr/>
        </p:nvSpPr>
        <p:spPr>
          <a:xfrm>
            <a:off x="11525098" y="8876995"/>
            <a:ext cx="5619902" cy="1171346"/>
          </a:xfrm>
          <a:prstGeom prst="rect">
            <a:avLst/>
          </a:prstGeom>
          <a:solidFill>
            <a:srgbClr val="9C2A1F">
              <a:alpha val="6000"/>
            </a:srgbClr>
          </a:solidFill>
          <a:ln w="12700">
            <a:solidFill>
              <a:srgbClr val="9C2A1F"/>
            </a:solidFill>
            <a:prstDash val="solid"/>
          </a:ln>
        </p:spPr>
      </p:sp>
      <p:sp>
        <p:nvSpPr>
          <p:cNvPr id="24" name="Text 19"/>
          <p:cNvSpPr txBox="1"/>
          <p:nvPr/>
        </p:nvSpPr>
        <p:spPr>
          <a:xfrm>
            <a:off x="11782044" y="9077249"/>
            <a:ext cx="5106010"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우리 문제와 동일</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설명 없이 사물만 남을 때, 사물은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의도와 다르게</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읽힌다.</a:t>
            </a:r>
            <a:endParaRPr lang="en-US" sz="1725" dirty="0"/>
          </a:p>
        </p:txBody>
      </p:sp>
      <p:sp>
        <p:nvSpPr>
          <p:cNvPr id="25" name="Text 20"/>
          <p:cNvSpPr txBox="1"/>
          <p:nvPr/>
        </p:nvSpPr>
        <p:spPr>
          <a:xfrm>
            <a:off x="1143000" y="9677095"/>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핵폐기물 처분장 장기 표지 설계 관련 공개 자료 · 학술 1차 인용은 추후 보완 예정</a:t>
            </a:r>
            <a:endParaRPr lang="en-US" sz="165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66294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사물은 설명 없이 무엇을 전달할 수 있는가</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전달의 세 층위 — 무엇이 먼저 사라지는가</a:t>
            </a:r>
            <a:endParaRPr lang="en-US" sz="34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 y="2495398"/>
          <a:ext cx="16002000" cy="3762756"/>
        </p:xfrm>
        <a:graphic>
          <a:graphicData uri="http://schemas.openxmlformats.org/drawingml/2006/table">
            <a:tbl>
              <a:tblPr/>
              <a:tblGrid>
                <a:gridCol w="1904695"/>
                <a:gridCol w="4953305"/>
                <a:gridCol w="3810305"/>
                <a:gridCol w="5333695"/>
              </a:tblGrid>
              <a:tr h="940689">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층위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전달 수단</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수명</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우리 유물에서의 대응</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문자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글로 적은 설명. 가장 정확하지만 </a:t>
                      </a:r>
                      <a:pPr indent="0" marL="0">
                        <a:buNone/>
                      </a:pPr>
                      <a:r>
                        <a:rPr lang="en-US" sz="1875" b="1" dirty="0">
                          <a:solidFill>
                            <a:srgbClr val="17150F"/>
                          </a:solidFill>
                          <a:latin typeface="Noto Serif KR" pitchFamily="34" charset="0"/>
                          <a:ea typeface="Noto Serif KR" pitchFamily="34" charset="-122"/>
                          <a:cs typeface="Noto Serif KR" pitchFamily="34" charset="-120"/>
                        </a:rPr>
                        <a:t>언어를 아는 사람</a:t>
                      </a:r>
                      <a:pPr indent="0" marL="0">
                        <a:buNone/>
                      </a:pPr>
                      <a:r>
                        <a:rPr lang="en-US" sz="1875" dirty="0">
                          <a:solidFill>
                            <a:srgbClr val="3A362C"/>
                          </a:solidFill>
                          <a:latin typeface="Noto Serif KR" pitchFamily="34" charset="0"/>
                          <a:ea typeface="Noto Serif KR" pitchFamily="34" charset="-122"/>
                          <a:cs typeface="Noto Serif KR" pitchFamily="34" charset="-120"/>
                        </a:rPr>
                        <a:t>에게만 작동한다.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가장 먼저 사라진다</a:t>
                      </a:r>
                      <a:pPr indent="0" marL="0">
                        <a:buNone/>
                      </a:pPr>
                      <a:r>
                        <a:rPr lang="en-US" sz="1875" dirty="0">
                          <a:solidFill>
                            <a:srgbClr val="3A362C"/>
                          </a:solidFill>
                          <a:latin typeface="Noto Serif KR" pitchFamily="34" charset="0"/>
                          <a:ea typeface="Noto Serif KR" pitchFamily="34" charset="-122"/>
                          <a:cs typeface="Noto Serif KR" pitchFamily="34" charset="-120"/>
                        </a:rPr>
                        <a:t>. 언어는 수백 년 단위로 변한다.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명제표 — 우리가 쓰는 카드가 여기 해당한다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형태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모양·크기·비례. 손에 쥐는 물건인지, 두 손으로 드는 물건인지가 드러난다.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재질이 버티는 한 남는다.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사물의 실루엣과 치수 설정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4068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흔적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닳음·광택·잔존물·수리. 사용 행위가 </a:t>
                      </a:r>
                      <a:pPr indent="0" marL="0">
                        <a:buNone/>
                      </a:pPr>
                      <a:r>
                        <a:rPr lang="en-US" sz="1875" b="1" dirty="0">
                          <a:solidFill>
                            <a:srgbClr val="17150F"/>
                          </a:solidFill>
                          <a:latin typeface="Noto Serif KR" pitchFamily="34" charset="0"/>
                          <a:ea typeface="Noto Serif KR" pitchFamily="34" charset="-122"/>
                          <a:cs typeface="Noto Serif KR" pitchFamily="34" charset="-120"/>
                        </a:rPr>
                        <a:t>물리적으로 각인</a:t>
                      </a:r>
                      <a:pPr indent="0" marL="0">
                        <a:buNone/>
                      </a:pPr>
                      <a:r>
                        <a:rPr lang="en-US" sz="1875" dirty="0">
                          <a:solidFill>
                            <a:srgbClr val="3A362C"/>
                          </a:solidFill>
                          <a:latin typeface="Noto Serif KR" pitchFamily="34" charset="0"/>
                          <a:ea typeface="Noto Serif KR" pitchFamily="34" charset="-122"/>
                          <a:cs typeface="Noto Serif KR" pitchFamily="34" charset="-120"/>
                        </a:rPr>
                        <a:t>된 정보다.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표면이 남는 한 가장 오래 읽힌다.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사용흔 설계 — 이 차시 전개 2의 내용</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6933895"/>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순서가 중요하다.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문자가 가장 먼저 사라지고 흔적이 가장 오래 남는다.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그래서 고고학은 흔적에서 시작하고, 우리 전시도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흔적을 먼저 설계</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한 뒤 설명을 붙인다.</a:t>
            </a:r>
            <a:endParaRPr lang="en-US" sz="2175" dirty="0"/>
          </a:p>
        </p:txBody>
      </p:sp>
      <p:sp>
        <p:nvSpPr>
          <p:cNvPr id="9" name="Shape 4"/>
          <p:cNvSpPr/>
          <p:nvPr/>
        </p:nvSpPr>
        <p:spPr>
          <a:xfrm>
            <a:off x="1143000" y="8001000"/>
            <a:ext cx="7810805" cy="1714500"/>
          </a:xfrm>
          <a:prstGeom prst="rect">
            <a:avLst/>
          </a:prstGeom>
          <a:solidFill>
            <a:srgbClr val="FFFFFF">
              <a:alpha val="36000"/>
            </a:srgbClr>
          </a:solidFill>
          <a:ln w="12700">
            <a:solidFill>
              <a:srgbClr val="BEB6A5"/>
            </a:solidFill>
            <a:prstDash val="solid"/>
          </a:ln>
        </p:spPr>
      </p:sp>
      <p:sp>
        <p:nvSpPr>
          <p:cNvPr id="10" name="Text 5"/>
          <p:cNvSpPr txBox="1"/>
          <p:nvPr/>
        </p:nvSpPr>
        <p:spPr>
          <a:xfrm>
            <a:off x="1438351" y="82012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흔한 실수 — 순서를 거꾸로 하기</a:t>
            </a:r>
            <a:endParaRPr lang="en-US" sz="1575" dirty="0"/>
          </a:p>
        </p:txBody>
      </p:sp>
      <p:pic>
        <p:nvPicPr>
          <p:cNvPr id="11" name="Image 2" descr="gen-dedup-8daa7bbad9e138f694b547871d64bad8.png">    </p:cNvPr>
          <p:cNvPicPr>
            <a:picLocks noChangeAspect="1"/>
          </p:cNvPicPr>
          <p:nvPr/>
        </p:nvPicPr>
        <p:blipFill>
          <a:blip r:embed="rId4"/>
          <a:stretch/>
        </p:blipFill>
        <p:spPr>
          <a:xfrm>
            <a:off x="1582731" y="8600846"/>
            <a:ext cx="6931342" cy="9144"/>
          </a:xfrm>
          <a:prstGeom prst="rect">
            <a:avLst/>
          </a:prstGeom>
        </p:spPr>
      </p:pic>
      <p:sp>
        <p:nvSpPr>
          <p:cNvPr id="12" name="Text 6"/>
          <p:cNvSpPr txBox="1"/>
          <p:nvPr/>
        </p:nvSpPr>
        <p:spPr>
          <a:xfrm>
            <a:off x="1438351" y="8744407"/>
            <a:ext cx="72201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먼저 멋진 설명을 쓰고 그에 맞는 이미지를 만들면, 이미지에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흔적이 없다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설명은 이미지가 이미 말하는 것을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확인해 주는 역할</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일 때 가장 강하다.</a:t>
            </a:r>
            <a:endParaRPr lang="en-US" sz="1725" dirty="0"/>
          </a:p>
        </p:txBody>
      </p:sp>
      <p:sp>
        <p:nvSpPr>
          <p:cNvPr id="13" name="Shape 7"/>
          <p:cNvSpPr/>
          <p:nvPr/>
        </p:nvSpPr>
        <p:spPr>
          <a:xfrm>
            <a:off x="9334195" y="8001000"/>
            <a:ext cx="7810805" cy="1714500"/>
          </a:xfrm>
          <a:prstGeom prst="rect">
            <a:avLst/>
          </a:prstGeom>
          <a:solidFill>
            <a:srgbClr val="9C2A1F">
              <a:alpha val="6000"/>
            </a:srgbClr>
          </a:solidFill>
          <a:ln w="12700">
            <a:solidFill>
              <a:srgbClr val="9C2A1F"/>
            </a:solidFill>
            <a:prstDash val="solid"/>
          </a:ln>
        </p:spPr>
      </p:sp>
      <p:sp>
        <p:nvSpPr>
          <p:cNvPr id="14" name="Text 8"/>
          <p:cNvSpPr txBox="1"/>
          <p:nvPr/>
        </p:nvSpPr>
        <p:spPr>
          <a:xfrm>
            <a:off x="9629546" y="82012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차시가 5차시에 넘기는 것</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8600846"/>
            <a:ext cx="6931342" cy="9144"/>
          </a:xfrm>
          <a:prstGeom prst="rect">
            <a:avLst/>
          </a:prstGeom>
        </p:spPr>
      </p:pic>
      <p:sp>
        <p:nvSpPr>
          <p:cNvPr id="16" name="Text 9"/>
          <p:cNvSpPr txBox="1"/>
          <p:nvPr/>
        </p:nvSpPr>
        <p:spPr>
          <a:xfrm>
            <a:off x="9629546" y="8744407"/>
            <a:ext cx="72201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① 명칭 네 자리 · ② 사용흔 문장 · ③ 매몰 흔적 문장 · ④ 수습 경위. 이 네 항목이 확정되어야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프롬프트를 쓸 수 있다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a:t>
            </a:r>
            <a:endParaRPr lang="en-US" sz="1725"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2000"/>
            </a:srgbClr>
          </a:solidFill>
          <a:ln w="12700">
            <a:solidFill>
              <a:srgbClr val="FFFFFF">
                <a:alpha val="0"/>
              </a:srgbClr>
            </a:solidFill>
            <a:prstDash val="solid"/>
          </a:ln>
        </p:spPr>
      </p:sp>
      <p:pic>
        <p:nvPicPr>
          <p:cNvPr id="3" name="Image 0" descr="gen-dedup-93b09a2db3821879c2245a584d81d248.jpg">    </p:cNvPr>
          <p:cNvPicPr>
            <a:picLocks noChangeAspect="1"/>
          </p:cNvPicPr>
          <p:nvPr/>
        </p:nvPicPr>
        <p:blipFill>
          <a:blip r:embed="rId2">
            <a:alphaModFix amt="88000"/>
          </a:blip>
          <a:stretch>
            <a:fillRect/>
          </a:stretch>
        </p:blipFill>
        <p:spPr>
          <a:xfrm>
            <a:off x="11239805" y="0"/>
            <a:ext cx="7048500" cy="10287000"/>
          </a:xfrm>
          <a:prstGeom prst="rect">
            <a:avLst/>
          </a:prstGeom>
        </p:spPr>
      </p:pic>
      <p:pic>
        <p:nvPicPr>
          <p:cNvPr id="4" name="Image 1" descr="gen-dedup-eec33b4fb7fa375ab7f1ea053a16ebc6.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6 · 설계 실습</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06</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종이 위에서</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유물을 완성한다</a:t>
            </a:r>
            <a:endParaRPr lang="en-US" sz="5700" dirty="0"/>
          </a:p>
        </p:txBody>
      </p:sp>
      <p:sp>
        <p:nvSpPr>
          <p:cNvPr id="10" name="Text 4"/>
          <p:cNvSpPr txBox="1"/>
          <p:nvPr/>
        </p:nvSpPr>
        <p:spPr>
          <a:xfrm>
            <a:off x="1143000" y="7181698"/>
            <a:ext cx="9240012"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 절의 산출물은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설계 카드 한 장</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이다. 카드가 완성되지 않으면 5차시에서 이미지를 만들 수 없다.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아직 AI는 쓰지 않는다.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전개 6 — 설계 실습</a:t>
            </a:r>
            <a:endParaRPr lang="en-US" sz="165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3543300"/>
            <a:ext cx="15873740" cy="28346"/>
          </a:xfrm>
          <a:prstGeom prst="rect">
            <a:avLst/>
          </a:prstGeom>
        </p:spPr>
      </p:pic>
      <p:pic>
        <p:nvPicPr>
          <p:cNvPr id="4" name="Image 2" descr="gen-dedup-5a6964de565ac7af059141652be3bf5a.png">    </p:cNvPr>
          <p:cNvPicPr>
            <a:picLocks noChangeAspect="1"/>
          </p:cNvPicPr>
          <p:nvPr/>
        </p:nvPicPr>
        <p:blipFill>
          <a:blip r:embed="rId4"/>
          <a:stretch/>
        </p:blipFill>
        <p:spPr>
          <a:xfrm>
            <a:off x="9490387" y="4190695"/>
            <a:ext cx="7498421" cy="9144"/>
          </a:xfrm>
          <a:prstGeom prst="rect">
            <a:avLst/>
          </a:prstGeom>
        </p:spPr>
      </p:pic>
      <p:sp>
        <p:nvSpPr>
          <p:cNvPr id="5"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설계 조건 · 우리 전시의 규칙</a:t>
            </a:r>
            <a:endParaRPr lang="en-US" sz="1800" dirty="0"/>
          </a:p>
        </p:txBody>
      </p:sp>
      <p:sp>
        <p:nvSpPr>
          <p:cNvPr id="6"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조건</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2300년, 지금의 흔적이 발굴된다</a:t>
            </a:r>
            <a:endParaRPr lang="en-US" sz="3450" dirty="0"/>
          </a:p>
        </p:txBody>
      </p:sp>
      <p:sp>
        <p:nvSpPr>
          <p:cNvPr id="8"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전시의 설정은 하나다.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2300년의 발굴자</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가 21세기 초의 퇴적층에서 사물을 수습했다. 그 사물의 이름과 용도는 발굴자가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추정한 것</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이다. 우리는 그 추정 기록을 만든다.</a:t>
            </a:r>
            <a:endParaRPr lang="en-US" sz="2175" dirty="0"/>
          </a:p>
        </p:txBody>
      </p:sp>
      <p:sp>
        <p:nvSpPr>
          <p:cNvPr id="9"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지켜야 하는 조건 — 다섯 가지</a:t>
            </a:r>
            <a:endParaRPr lang="en-US" sz="16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7810805" cy="3363163"/>
        </p:xfrm>
        <a:graphic>
          <a:graphicData uri="http://schemas.openxmlformats.org/drawingml/2006/table">
            <a:tbl>
              <a:tblPr/>
              <a:tblGrid>
                <a:gridCol w="2000707"/>
                <a:gridCol w="5810098"/>
              </a:tblGrid>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시점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발굴 연도는 </a:t>
                      </a:r>
                      <a:pPr indent="0" marL="0">
                        <a:buNone/>
                      </a:pPr>
                      <a:r>
                        <a:rPr lang="en-US" sz="1875" b="1" dirty="0">
                          <a:solidFill>
                            <a:srgbClr val="17150F"/>
                          </a:solidFill>
                          <a:latin typeface="Noto Serif KR" pitchFamily="34" charset="0"/>
                          <a:ea typeface="Noto Serif KR" pitchFamily="34" charset="-122"/>
                          <a:cs typeface="Noto Serif KR" pitchFamily="34" charset="-120"/>
                        </a:rPr>
                        <a:t>2300년</a:t>
                      </a:r>
                      <a:pPr indent="0" marL="0">
                        <a:buNone/>
                      </a:pPr>
                      <a:r>
                        <a:rPr lang="en-US" sz="1875" dirty="0">
                          <a:solidFill>
                            <a:srgbClr val="3A362C"/>
                          </a:solidFill>
                          <a:latin typeface="Noto Serif KR" pitchFamily="34" charset="0"/>
                          <a:ea typeface="Noto Serif KR" pitchFamily="34" charset="-122"/>
                          <a:cs typeface="Noto Serif KR" pitchFamily="34" charset="-120"/>
                        </a:rPr>
                        <a:t>으로 통일한다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재료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지금 실제로 존재하는 재료만 쓴다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흔적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사용흔과 매몰 흔적을 </a:t>
                      </a:r>
                      <a:pPr indent="0" marL="0">
                        <a:buNone/>
                      </a:pPr>
                      <a:r>
                        <a:rPr lang="en-US" sz="1875" b="1" dirty="0">
                          <a:solidFill>
                            <a:srgbClr val="17150F"/>
                          </a:solidFill>
                          <a:latin typeface="Noto Serif KR" pitchFamily="34" charset="0"/>
                          <a:ea typeface="Noto Serif KR" pitchFamily="34" charset="-122"/>
                          <a:cs typeface="Noto Serif KR" pitchFamily="34" charset="-120"/>
                        </a:rPr>
                        <a:t>둘 다</a:t>
                      </a:r>
                      <a:pPr indent="0" marL="0">
                        <a:buNone/>
                      </a:pPr>
                      <a:r>
                        <a:rPr lang="en-US" sz="1875" dirty="0">
                          <a:solidFill>
                            <a:srgbClr val="3A362C"/>
                          </a:solidFill>
                          <a:latin typeface="Noto Serif KR" pitchFamily="34" charset="0"/>
                          <a:ea typeface="Noto Serif KR" pitchFamily="34" charset="-122"/>
                          <a:cs typeface="Noto Serif KR" pitchFamily="34" charset="-120"/>
                        </a:rPr>
                        <a:t> 넣는다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용도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확정하지 않고 </a:t>
                      </a:r>
                      <a:pPr indent="0" marL="0">
                        <a:buNone/>
                      </a:pPr>
                      <a:r>
                        <a:rPr lang="en-US" sz="1875" b="1" dirty="0">
                          <a:solidFill>
                            <a:srgbClr val="17150F"/>
                          </a:solidFill>
                          <a:latin typeface="Noto Serif KR" pitchFamily="34" charset="0"/>
                          <a:ea typeface="Noto Serif KR" pitchFamily="34" charset="-122"/>
                          <a:cs typeface="Noto Serif KR" pitchFamily="34" charset="-120"/>
                        </a:rPr>
                        <a:t>추정</a:t>
                      </a:r>
                      <a:pPr indent="0" marL="0">
                        <a:buNone/>
                      </a:pPr>
                      <a:r>
                        <a:rPr lang="en-US" sz="1875" dirty="0">
                          <a:solidFill>
                            <a:srgbClr val="3A362C"/>
                          </a:solidFill>
                          <a:latin typeface="Noto Serif KR" pitchFamily="34" charset="0"/>
                          <a:ea typeface="Noto Serif KR" pitchFamily="34" charset="-122"/>
                          <a:cs typeface="Noto Serif KR" pitchFamily="34" charset="-120"/>
                        </a:rPr>
                        <a:t>으로 적는다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263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⑤ 표기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마지막 줄에 </a:t>
                      </a:r>
                      <a:pPr indent="0" marL="0">
                        <a:buNone/>
                      </a:pPr>
                      <a:r>
                        <a:rPr lang="en-US" sz="1875" b="1" dirty="0">
                          <a:solidFill>
                            <a:srgbClr val="9C2A1F"/>
                          </a:solidFill>
                          <a:latin typeface="Noto Serif KR" pitchFamily="34" charset="0"/>
                          <a:ea typeface="Noto Serif KR" pitchFamily="34" charset="-122"/>
                          <a:cs typeface="Noto Serif KR" pitchFamily="34" charset="-120"/>
                        </a:rPr>
                        <a:t>허구 표기</a:t>
                      </a:r>
                      <a:pPr indent="0" marL="0">
                        <a:buNone/>
                      </a:pPr>
                      <a:r>
                        <a:rPr lang="en-US" sz="1875" dirty="0">
                          <a:solidFill>
                            <a:srgbClr val="3A362C"/>
                          </a:solidFill>
                          <a:latin typeface="Noto Serif KR" pitchFamily="34" charset="0"/>
                          <a:ea typeface="Noto Serif KR" pitchFamily="34" charset="-122"/>
                          <a:cs typeface="Noto Serif KR" pitchFamily="34" charset="-120"/>
                        </a:rPr>
                        <a:t>를 넣는다</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7448702"/>
            <a:ext cx="7810805" cy="1857146"/>
          </a:xfrm>
          <a:prstGeom prst="rect">
            <a:avLst/>
          </a:prstGeom>
          <a:solidFill>
            <a:srgbClr val="9C2A1F">
              <a:alpha val="6000"/>
            </a:srgbClr>
          </a:solidFill>
          <a:ln w="12700">
            <a:solidFill>
              <a:srgbClr val="9C2A1F"/>
            </a:solidFill>
            <a:prstDash val="solid"/>
          </a:ln>
        </p:spPr>
      </p:sp>
      <p:sp>
        <p:nvSpPr>
          <p:cNvPr id="12" name="Text 6"/>
          <p:cNvSpPr txBox="1"/>
          <p:nvPr/>
        </p:nvSpPr>
        <p:spPr>
          <a:xfrm>
            <a:off x="1438351" y="768644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⑤가 이 단원의 윤리적 조건이다</a:t>
            </a:r>
            <a:endParaRPr lang="en-US" sz="1575" dirty="0"/>
          </a:p>
        </p:txBody>
      </p:sp>
      <p:pic>
        <p:nvPicPr>
          <p:cNvPr id="13" name="Image 3" descr="gen-dedup-8daa7bbad9e138f694b547871d64bad8.png">    </p:cNvPr>
          <p:cNvPicPr>
            <a:picLocks noChangeAspect="1"/>
          </p:cNvPicPr>
          <p:nvPr/>
        </p:nvPicPr>
        <p:blipFill>
          <a:blip r:embed="rId5"/>
          <a:stretch/>
        </p:blipFill>
        <p:spPr>
          <a:xfrm>
            <a:off x="1582731" y="8106156"/>
            <a:ext cx="6931342" cy="9144"/>
          </a:xfrm>
          <a:prstGeom prst="rect">
            <a:avLst/>
          </a:prstGeom>
        </p:spPr>
      </p:pic>
      <p:sp>
        <p:nvSpPr>
          <p:cNvPr id="14" name="Text 7"/>
          <p:cNvSpPr txBox="1"/>
          <p:nvPr/>
        </p:nvSpPr>
        <p:spPr>
          <a:xfrm>
            <a:off x="1438351" y="826800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2차시에서 확인했듯, 허구를 밝히지 않으면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위조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된다. 우리는 신뢰의 서식을 사용하면서 마지막 줄에서 그것을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스스로 해제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a:t>
            </a:r>
            <a:endParaRPr lang="en-US" sz="1800" dirty="0"/>
          </a:p>
        </p:txBody>
      </p:sp>
      <p:sp>
        <p:nvSpPr>
          <p:cNvPr id="15" name="Text 8"/>
          <p:cNvSpPr txBox="1"/>
          <p:nvPr/>
        </p:nvSpPr>
        <p:spPr>
          <a:xfrm>
            <a:off x="9334195" y="38477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고르지 말아야 할 사물 — 세 가지</a:t>
            </a:r>
            <a:endParaRPr lang="en-US" sz="1650" dirty="0"/>
          </a:p>
        </p:txBody>
      </p:sp>
      <p:sp>
        <p:nvSpPr>
          <p:cNvPr id="16" name="Text 9"/>
          <p:cNvSpPr txBox="1"/>
          <p:nvPr/>
        </p:nvSpPr>
        <p:spPr>
          <a:xfrm>
            <a:off x="9334195" y="4457700"/>
            <a:ext cx="7810805" cy="2453335"/>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특정 실존 인물</a:t>
            </a:r>
            <a:pPr algn="l" indent="0" marL="0">
              <a:buNone/>
            </a:pPr>
            <a:r>
              <a:rPr lang="en-US" sz="1875" dirty="0">
                <a:solidFill>
                  <a:srgbClr val="3A362C"/>
                </a:solidFill>
                <a:latin typeface="Noto Serif KR" pitchFamily="34" charset="0"/>
                <a:ea typeface="Noto Serif KR" pitchFamily="34" charset="-122"/>
                <a:cs typeface="Noto Serif KR" pitchFamily="34" charset="-120"/>
              </a:rPr>
              <a:t>과 연결되는 사물 — 3차시 재현 윤리 논의에 걸린다.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실제 사건의 유품</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연상시키는 사물 — 애도의 대상을 소재로 쓰지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완전히 상상된 신물질</a:t>
            </a:r>
            <a:pPr algn="l" indent="0" marL="0">
              <a:buNone/>
            </a:pPr>
            <a:r>
              <a:rPr lang="en-US" sz="1875" dirty="0">
                <a:solidFill>
                  <a:srgbClr val="3A362C"/>
                </a:solidFill>
                <a:latin typeface="Noto Serif KR" pitchFamily="34" charset="0"/>
                <a:ea typeface="Noto Serif KR" pitchFamily="34" charset="-122"/>
                <a:cs typeface="Noto Serif KR" pitchFamily="34" charset="-120"/>
              </a:rPr>
              <a:t>로 만든 사물 — 근거를 만들 수 없어 검증이 불가능하다.</a:t>
            </a:r>
            <a:endParaRPr lang="en-US" sz="1200" dirty="0"/>
          </a:p>
        </p:txBody>
      </p:sp>
      <p:sp>
        <p:nvSpPr>
          <p:cNvPr id="17" name="Shape 10"/>
          <p:cNvSpPr/>
          <p:nvPr/>
        </p:nvSpPr>
        <p:spPr>
          <a:xfrm>
            <a:off x="9334195" y="7448702"/>
            <a:ext cx="7810805" cy="1857146"/>
          </a:xfrm>
          <a:prstGeom prst="rect">
            <a:avLst/>
          </a:prstGeom>
          <a:solidFill>
            <a:srgbClr val="FFFFFF">
              <a:alpha val="36000"/>
            </a:srgbClr>
          </a:solidFill>
          <a:ln w="12700">
            <a:solidFill>
              <a:srgbClr val="BEB6A5"/>
            </a:solidFill>
            <a:prstDash val="solid"/>
          </a:ln>
        </p:spPr>
      </p:sp>
      <p:sp>
        <p:nvSpPr>
          <p:cNvPr id="18" name="Text 11"/>
          <p:cNvSpPr txBox="1"/>
          <p:nvPr/>
        </p:nvSpPr>
        <p:spPr>
          <a:xfrm>
            <a:off x="9629546" y="768644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좋은 소재의 특징</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8106156"/>
            <a:ext cx="6931342" cy="9144"/>
          </a:xfrm>
          <a:prstGeom prst="rect">
            <a:avLst/>
          </a:prstGeom>
        </p:spPr>
      </p:pic>
      <p:sp>
        <p:nvSpPr>
          <p:cNvPr id="20" name="Text 12"/>
          <p:cNvSpPr txBox="1"/>
          <p:nvPr/>
        </p:nvSpPr>
        <p:spPr>
          <a:xfrm>
            <a:off x="9629546" y="826800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지금은 너무 흔해서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아무도 눈여겨보지 않는 물건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흔한 물건일수록 미래의 발굴자에게는 그 시대를 대표하는 자료가 된다.</a:t>
            </a:r>
            <a:endParaRPr lang="en-US" sz="1800" dirty="0"/>
          </a:p>
        </p:txBody>
      </p:sp>
      <p:sp>
        <p:nvSpPr>
          <p:cNvPr id="21" name="Text 13"/>
          <p:cNvSpPr txBox="1"/>
          <p:nvPr/>
        </p:nvSpPr>
        <p:spPr>
          <a:xfrm>
            <a:off x="1143000" y="9829800"/>
            <a:ext cx="160020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근거: 1차시 명명 권한 · 2차시 파라픽션 표기 윤리 · 3차시 재현 윤리 · 4차시 사용흔 및 형성 과정론</a:t>
            </a:r>
            <a:endParaRPr lang="en-US" sz="165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3"/>
          <a:stretch/>
        </p:blipFill>
        <p:spPr>
          <a:xfrm>
            <a:off x="11637479" y="2781605"/>
            <a:ext cx="5395140" cy="9144"/>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서식 · 유물 설계 카드 [별지 4]</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서식</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아홉 칸을 채우면 유물이 성립한다</a:t>
            </a:r>
            <a:endParaRPr lang="en-US" sz="3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43000" y="2438705"/>
          <a:ext cx="9811512" cy="6029554"/>
        </p:xfrm>
        <a:graphic>
          <a:graphicData uri="http://schemas.openxmlformats.org/drawingml/2006/table">
            <a:tbl>
              <a:tblPr/>
              <a:tblGrid>
                <a:gridCol w="1619402"/>
                <a:gridCol w="3143707"/>
                <a:gridCol w="5048402"/>
              </a:tblGrid>
              <a:tr h="602955">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칸</a:t>
                      </a:r>
                      <a:endParaRPr lang="en-US" sz="1650"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쓸 내용</a:t>
                      </a:r>
                      <a:endParaRPr lang="en-US" sz="1650"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650" b="1" dirty="0">
                          <a:solidFill>
                            <a:srgbClr val="17150F"/>
                          </a:solidFill>
                          <a:latin typeface="Noto Sans KR" pitchFamily="34" charset="0"/>
                          <a:ea typeface="Noto Sans KR" pitchFamily="34" charset="-122"/>
                          <a:cs typeface="Noto Sans KR" pitchFamily="34" charset="-120"/>
                        </a:rPr>
                        <a:t>기준이 된 이론</a:t>
                      </a:r>
                      <a:endParaRPr lang="en-US" sz="1650" dirty="0">
                        <a:latin typeface="Noto Sans KR" charset="0"/>
                        <a:ea typeface="Noto Sans KR" charset="0"/>
                        <a:cs typeface="Noto Sans KR" charset="0"/>
                      </a:endParaRPr>
                    </a:p>
                  </a:txBody>
                  <a:tcPr marL="133502" marR="133502" marT="85954" marB="85954"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① 유물번호</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임의 번호 체계 (예: 2300-KR-014)</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박물관 등록 서식</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② 명칭</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재질＋기법＋문양＋기물 네 자리</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국립중앙박물관 명명 관례</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③ 추정 연대</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“21세기 초” 등 </a:t>
                      </a:r>
                      <a:pPr indent="0" marL="0">
                        <a:buNone/>
                      </a:pPr>
                      <a:r>
                        <a:rPr lang="en-US" sz="1650" b="1" dirty="0">
                          <a:solidFill>
                            <a:srgbClr val="17150F"/>
                          </a:solidFill>
                          <a:latin typeface="Noto Serif KR" pitchFamily="34" charset="0"/>
                          <a:ea typeface="Noto Serif KR" pitchFamily="34" charset="-122"/>
                          <a:cs typeface="Noto Serif KR" pitchFamily="34" charset="-120"/>
                        </a:rPr>
                        <a:t>폭이 있는</a:t>
                      </a:r>
                      <a:pPr indent="0" marL="0">
                        <a:buNone/>
                      </a:pPr>
                      <a:r>
                        <a:rPr lang="en-US" sz="1650" dirty="0">
                          <a:solidFill>
                            <a:srgbClr val="3A362C"/>
                          </a:solidFill>
                          <a:latin typeface="Noto Serif KR" pitchFamily="34" charset="0"/>
                          <a:ea typeface="Noto Serif KR" pitchFamily="34" charset="-122"/>
                          <a:cs typeface="Noto Serif KR" pitchFamily="34" charset="-120"/>
                        </a:rPr>
                        <a:t> 표기</a:t>
                      </a:r>
                      <a:endParaRPr lang="en-US" sz="1200" dirty="0"/>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추정과 확정의 구분</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④ 재질·기법</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실제 존재하는 재료와 제작 방식</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재질 수명 검토</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⑤ 치수</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단위까지 명시 (mm 또는 cm)</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명제표 표준 항목</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⑥ 수습 경위</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어디서 · 어느 층에서 · 무엇과 함께</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차탈회위크 발굴 기록 방식</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⑦ 사용 흔적</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부위 ＋ 방식 (닳음·광택·잔존물·수리)</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사용흔 분석 네 통로</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⑧ 매몰 흔적</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부식·변형·흙 얼룩</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쉬퍼의 퇴적 후 변형</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02955">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⑨ 허구 표기</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생성형 AI로 제작된 허구임을 명시</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파라픽션 표기 윤리</a:t>
                      </a:r>
                      <a:endParaRPr lang="en-US" sz="1650" dirty="0">
                        <a:latin typeface="Noto Serif KR" charset="0"/>
                        <a:ea typeface="Noto Serif KR" charset="0"/>
                        <a:cs typeface="Noto Serif KR" charset="0"/>
                      </a:endParaRPr>
                    </a:p>
                  </a:txBody>
                  <a:tcPr marL="133502" marR="133502" marT="66751" marB="66751"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525098" y="2438705"/>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작성 순서가 중요하다</a:t>
            </a:r>
            <a:endParaRPr lang="en-US" sz="1650" dirty="0"/>
          </a:p>
        </p:txBody>
      </p:sp>
      <p:sp>
        <p:nvSpPr>
          <p:cNvPr id="9" name="Text 4"/>
          <p:cNvSpPr txBox="1"/>
          <p:nvPr/>
        </p:nvSpPr>
        <p:spPr>
          <a:xfrm>
            <a:off x="11525098" y="3047695"/>
            <a:ext cx="5619902" cy="3644798"/>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⑦⑧ 흔적을 먼저</a:t>
            </a:r>
            <a:pPr algn="l" indent="0" marL="0">
              <a:buNone/>
            </a:pPr>
            <a:r>
              <a:rPr lang="en-US" sz="1800" dirty="0">
                <a:solidFill>
                  <a:srgbClr val="3A362C"/>
                </a:solidFill>
                <a:latin typeface="Noto Serif KR" pitchFamily="34" charset="0"/>
                <a:ea typeface="Noto Serif KR" pitchFamily="34" charset="-122"/>
                <a:cs typeface="Noto Serif KR" pitchFamily="34" charset="-120"/>
              </a:rPr>
              <a:t> 쓴다 — 사물이 무엇을 겪었는지 정한다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다음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④⑤ 재질과 치수</a:t>
            </a:r>
            <a:pPr algn="l" indent="0" marL="0">
              <a:buNone/>
            </a:pPr>
            <a:r>
              <a:rPr lang="en-US" sz="1800" dirty="0">
                <a:solidFill>
                  <a:srgbClr val="3A362C"/>
                </a:solidFill>
                <a:latin typeface="Noto Serif KR" pitchFamily="34" charset="0"/>
                <a:ea typeface="Noto Serif KR" pitchFamily="34" charset="-122"/>
                <a:cs typeface="Noto Serif KR" pitchFamily="34" charset="-120"/>
              </a:rPr>
              <a:t> — 흔적이 가능한 재료여야 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그다음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⑥ 수습 경위</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매몰 흔적과 아귀가 맞아야 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pPr algn="l" indent="0" marL="0">
              <a:buNone/>
            </a:pPr>
            <a:r>
              <a:rPr lang="en-US" sz="1800" dirty="0">
                <a:solidFill>
                  <a:srgbClr val="3A362C"/>
                </a:solidFill>
                <a:latin typeface="Noto Serif KR" pitchFamily="34" charset="0"/>
                <a:ea typeface="Noto Serif KR" pitchFamily="34" charset="-122"/>
                <a:cs typeface="Noto Serif KR" pitchFamily="34" charset="-120"/>
              </a:rPr>
              <a:t>마지막에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② 명칭</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위 정보의 요약이 이름이 된다</a:t>
            </a:r>
            <a:endParaRPr lang="en-US" sz="1200" dirty="0"/>
          </a:p>
        </p:txBody>
      </p:sp>
      <p:sp>
        <p:nvSpPr>
          <p:cNvPr id="10" name="Shape 5"/>
          <p:cNvSpPr/>
          <p:nvPr/>
        </p:nvSpPr>
        <p:spPr>
          <a:xfrm>
            <a:off x="11525098" y="6819595"/>
            <a:ext cx="5619902" cy="2180844"/>
          </a:xfrm>
          <a:prstGeom prst="rect">
            <a:avLst/>
          </a:prstGeom>
          <a:solidFill>
            <a:srgbClr val="9C2A1F">
              <a:alpha val="6000"/>
            </a:srgbClr>
          </a:solidFill>
          <a:ln w="12700">
            <a:solidFill>
              <a:srgbClr val="9C2A1F"/>
            </a:solidFill>
            <a:prstDash val="solid"/>
          </a:ln>
        </p:spPr>
      </p:sp>
      <p:sp>
        <p:nvSpPr>
          <p:cNvPr id="11" name="Text 6"/>
          <p:cNvSpPr txBox="1"/>
          <p:nvPr/>
        </p:nvSpPr>
        <p:spPr>
          <a:xfrm>
            <a:off x="11801246" y="7019849"/>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이름을 먼저 지으면 실패한다</a:t>
            </a:r>
            <a:endParaRPr lang="en-US" sz="1575" dirty="0"/>
          </a:p>
        </p:txBody>
      </p:sp>
      <p:pic>
        <p:nvPicPr>
          <p:cNvPr id="12" name="Image 2" descr="gen-dedup-eb8251e30e6f067c72c1c831d415f691.png">    </p:cNvPr>
          <p:cNvPicPr>
            <a:picLocks noChangeAspect="1"/>
          </p:cNvPicPr>
          <p:nvPr/>
        </p:nvPicPr>
        <p:blipFill>
          <a:blip r:embed="rId4"/>
          <a:stretch/>
        </p:blipFill>
        <p:spPr>
          <a:xfrm>
            <a:off x="11902863" y="7438644"/>
            <a:ext cx="4864372" cy="9144"/>
          </a:xfrm>
          <a:prstGeom prst="rect">
            <a:avLst/>
          </a:prstGeom>
        </p:spPr>
      </p:pic>
      <p:sp>
        <p:nvSpPr>
          <p:cNvPr id="13" name="Text 7"/>
          <p:cNvSpPr txBox="1"/>
          <p:nvPr/>
        </p:nvSpPr>
        <p:spPr>
          <a:xfrm>
            <a:off x="11801246" y="7601407"/>
            <a:ext cx="50676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멋진 이름을 먼저 정하면 나머지 칸을 그 이름에 맞추려고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억지 근거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쓰게 된다. 이름은 결론이지 출발점이 아니다.</a:t>
            </a:r>
            <a:endParaRPr lang="en-US" sz="1800" dirty="0"/>
          </a:p>
        </p:txBody>
      </p:sp>
      <p:sp>
        <p:nvSpPr>
          <p:cNvPr id="14" name="Shape 8"/>
          <p:cNvSpPr/>
          <p:nvPr/>
        </p:nvSpPr>
        <p:spPr>
          <a:xfrm>
            <a:off x="11525098" y="8953805"/>
            <a:ext cx="5619902" cy="1095451"/>
          </a:xfrm>
          <a:prstGeom prst="rect">
            <a:avLst/>
          </a:prstGeom>
          <a:solidFill>
            <a:srgbClr val="FFFFFF">
              <a:alpha val="36000"/>
            </a:srgbClr>
          </a:solidFill>
          <a:ln w="12700">
            <a:solidFill>
              <a:srgbClr val="BEB6A5"/>
            </a:solidFill>
            <a:prstDash val="solid"/>
          </a:ln>
        </p:spPr>
      </p:sp>
      <p:sp>
        <p:nvSpPr>
          <p:cNvPr id="15" name="Text 9"/>
          <p:cNvSpPr txBox="1"/>
          <p:nvPr/>
        </p:nvSpPr>
        <p:spPr>
          <a:xfrm>
            <a:off x="11801246" y="9115654"/>
            <a:ext cx="5067605" cy="771754"/>
          </a:xfrm>
          <a:prstGeom prst="rect">
            <a:avLst/>
          </a:prstGeom>
          <a:noFill/>
          <a:ln/>
        </p:spPr>
        <p:txBody>
          <a:bodyPr wrap="square" lIns="0" tIns="0" rIns="0" bIns="0" rtlCol="0" anchor="ctr"/>
          <a:lstStyle/>
          <a:p>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교사 메모</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⑦⑧을 5분간 쓰고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짝과 교환해 검증</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한 뒤 나머지를 채운다.</a:t>
            </a:r>
            <a:endParaRPr lang="en-US" sz="1725"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3543300"/>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판정 기준 · 무엇이 유물을 성립시키는가</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기준</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세 가지 일관성</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유물의 설득력은 정교한 형태에서 오지 않는다.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서로 다른 항목이 같은 이야기를 하는지</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에서 온다. 다음 세 축이 맞으면 성립하고, 하나라도 어긋나면 무너진다.</a:t>
            </a:r>
            <a:endParaRPr lang="en-US" sz="2175"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143000" y="3847795"/>
          <a:ext cx="16002000" cy="3010205"/>
        </p:xfrm>
        <a:graphic>
          <a:graphicData uri="http://schemas.openxmlformats.org/drawingml/2006/table">
            <a:tbl>
              <a:tblPr/>
              <a:tblGrid>
                <a:gridCol w="2190902"/>
                <a:gridCol w="4953305"/>
                <a:gridCol w="4095598"/>
                <a:gridCol w="4762195"/>
              </a:tblGrid>
              <a:tr h="75255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일관성의 축</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확인 질문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맞는 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어긋난 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재질과 흔적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 재질에 그 흔적이 </a:t>
                      </a:r>
                      <a:pPr indent="0" marL="0">
                        <a:buNone/>
                      </a:pPr>
                      <a:r>
                        <a:rPr lang="en-US" sz="1875" b="1" dirty="0">
                          <a:solidFill>
                            <a:srgbClr val="17150F"/>
                          </a:solidFill>
                          <a:latin typeface="Noto Serif KR" pitchFamily="34" charset="0"/>
                          <a:ea typeface="Noto Serif KR" pitchFamily="34" charset="-122"/>
                          <a:cs typeface="Noto Serif KR" pitchFamily="34" charset="-120"/>
                        </a:rPr>
                        <a:t>물리적으로 생길 수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금속 표면에 산화 얼룩과 눌린 변형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유리에 한쪽만 부드럽게 닳은 광택</a:t>
                      </a:r>
                      <a:pPr indent="0" marL="0">
                        <a:buNone/>
                      </a:pPr>
                      <a:r>
                        <a:rPr lang="en-US" sz="1875" dirty="0">
                          <a:solidFill>
                            <a:srgbClr val="3A362C"/>
                          </a:solidFill>
                          <a:latin typeface="Noto Serif KR" pitchFamily="34" charset="0"/>
                          <a:ea typeface="Noto Serif KR" pitchFamily="34" charset="-122"/>
                          <a:cs typeface="Noto Serif KR" pitchFamily="34" charset="-120"/>
                        </a:rPr>
                        <a:t> — 유리는 그렇게 닳지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용도와 부위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추정한 용도가 </a:t>
                      </a:r>
                      <a:pPr indent="0" marL="0">
                        <a:buNone/>
                      </a:pPr>
                      <a:r>
                        <a:rPr lang="en-US" sz="1875" b="1" dirty="0">
                          <a:solidFill>
                            <a:srgbClr val="17150F"/>
                          </a:solidFill>
                          <a:latin typeface="Noto Serif KR" pitchFamily="34" charset="0"/>
                          <a:ea typeface="Noto Serif KR" pitchFamily="34" charset="-122"/>
                          <a:cs typeface="Noto Serif KR" pitchFamily="34" charset="-120"/>
                        </a:rPr>
                        <a:t>흔적의 위치</a:t>
                      </a:r>
                      <a:pPr indent="0" marL="0">
                        <a:buNone/>
                      </a:pPr>
                      <a:r>
                        <a:rPr lang="en-US" sz="1875" dirty="0">
                          <a:solidFill>
                            <a:srgbClr val="3A362C"/>
                          </a:solidFill>
                          <a:latin typeface="Noto Serif KR" pitchFamily="34" charset="0"/>
                          <a:ea typeface="Noto Serif KR" pitchFamily="34" charset="-122"/>
                          <a:cs typeface="Noto Serif KR" pitchFamily="34" charset="-120"/>
                        </a:rPr>
                        <a:t>와 맞는가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담는 용도 → 안쪽 벽면에 잔존물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쥐는 용도인데 광택이 바깥 바닥에만</a:t>
                      </a:r>
                      <a:pPr indent="0" marL="0">
                        <a:buNone/>
                      </a:pPr>
                      <a:r>
                        <a:rPr lang="en-US" sz="1875" dirty="0">
                          <a:solidFill>
                            <a:srgbClr val="3A362C"/>
                          </a:solidFill>
                          <a:latin typeface="Noto Serif KR" pitchFamily="34" charset="0"/>
                          <a:ea typeface="Noto Serif KR" pitchFamily="34" charset="-122"/>
                          <a:cs typeface="Noto Serif KR" pitchFamily="34" charset="-120"/>
                        </a:rPr>
                        <a:t> 있음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255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수습과 매몰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발견 상황이 매몰 흔적을 </a:t>
                      </a:r>
                      <a:pPr indent="0" marL="0">
                        <a:buNone/>
                      </a:pPr>
                      <a:r>
                        <a:rPr lang="en-US" sz="1875" b="1" dirty="0">
                          <a:solidFill>
                            <a:srgbClr val="17150F"/>
                          </a:solidFill>
                          <a:latin typeface="Noto Serif KR" pitchFamily="34" charset="0"/>
                          <a:ea typeface="Noto Serif KR" pitchFamily="34" charset="-122"/>
                          <a:cs typeface="Noto Serif KR" pitchFamily="34" charset="-120"/>
                        </a:rPr>
                        <a:t>설명하는가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물가 퇴적층 → 표면 마모와 침전물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깊이 묻혀 있었다면서 흠 하나 없음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7086600"/>
            <a:ext cx="7810805" cy="2286000"/>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7286854"/>
            <a:ext cx="72201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완성도보다 일관성</a:t>
            </a:r>
            <a:endParaRPr lang="en-US" sz="1650" dirty="0"/>
          </a:p>
        </p:txBody>
      </p:sp>
      <p:pic>
        <p:nvPicPr>
          <p:cNvPr id="11" name="Image 2" descr="gen-dedup-8daa7bbad9e138f694b547871d64bad8.png">    </p:cNvPr>
          <p:cNvPicPr>
            <a:picLocks noChangeAspect="1"/>
          </p:cNvPicPr>
          <p:nvPr/>
        </p:nvPicPr>
        <p:blipFill>
          <a:blip r:embed="rId4"/>
          <a:stretch/>
        </p:blipFill>
        <p:spPr>
          <a:xfrm>
            <a:off x="1582731" y="7744054"/>
            <a:ext cx="6931342" cy="9144"/>
          </a:xfrm>
          <a:prstGeom prst="rect">
            <a:avLst/>
          </a:prstGeom>
        </p:spPr>
      </p:pic>
      <p:sp>
        <p:nvSpPr>
          <p:cNvPr id="12" name="Text 6"/>
          <p:cNvSpPr txBox="1"/>
          <p:nvPr/>
        </p:nvSpPr>
        <p:spPr>
          <a:xfrm>
            <a:off x="1438351" y="7925105"/>
            <a:ext cx="722010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거친 형태여도 세 축이 맞으면 관람자는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진짜라고 느낀다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정교한 형태여도 축이 어긋나면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즉시 가짜로 읽힌다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4차시가 손으로 쓰는 시간인 이유다.</a:t>
            </a:r>
            <a:endParaRPr lang="en-US" sz="1875" dirty="0"/>
          </a:p>
        </p:txBody>
      </p:sp>
      <p:sp>
        <p:nvSpPr>
          <p:cNvPr id="13" name="Shape 7"/>
          <p:cNvSpPr/>
          <p:nvPr/>
        </p:nvSpPr>
        <p:spPr>
          <a:xfrm>
            <a:off x="9334195" y="7086600"/>
            <a:ext cx="7810805" cy="1867205"/>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7286854"/>
            <a:ext cx="72201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8차시 평가와의 연결</a:t>
            </a:r>
            <a:endParaRPr lang="en-US" sz="1650" dirty="0"/>
          </a:p>
        </p:txBody>
      </p:sp>
      <p:pic>
        <p:nvPicPr>
          <p:cNvPr id="15" name="Image 3" descr="gen-dedup-8daa7bbad9e138f694b547871d64bad8.png">    </p:cNvPr>
          <p:cNvPicPr>
            <a:picLocks noChangeAspect="1"/>
          </p:cNvPicPr>
          <p:nvPr/>
        </p:nvPicPr>
        <p:blipFill>
          <a:blip r:embed="rId4"/>
          <a:stretch/>
        </p:blipFill>
        <p:spPr>
          <a:xfrm>
            <a:off x="9773926" y="7744054"/>
            <a:ext cx="6931342" cy="9144"/>
          </a:xfrm>
          <a:prstGeom prst="rect">
            <a:avLst/>
          </a:prstGeom>
        </p:spPr>
      </p:pic>
      <p:sp>
        <p:nvSpPr>
          <p:cNvPr id="16" name="Text 9"/>
          <p:cNvSpPr txBox="1"/>
          <p:nvPr/>
        </p:nvSpPr>
        <p:spPr>
          <a:xfrm>
            <a:off x="9629546" y="7925105"/>
            <a:ext cx="722010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세 축이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평가 루브릭의 ‘근거의 일관성’ 항목</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된다. 여러분은 자기 카드를 이 표로 스스로 점검할 수 있다.</a:t>
            </a:r>
            <a:endParaRPr lang="en-US" sz="1875" dirty="0"/>
          </a:p>
        </p:txBody>
      </p:sp>
      <p:sp>
        <p:nvSpPr>
          <p:cNvPr id="17" name="Text 10"/>
          <p:cNvSpPr txBox="1"/>
          <p:nvPr/>
        </p:nvSpPr>
        <p:spPr>
          <a:xfrm>
            <a:off x="1410005" y="9258300"/>
            <a:ext cx="15735910" cy="419710"/>
          </a:xfrm>
          <a:prstGeom prst="rect">
            <a:avLst/>
          </a:prstGeom>
          <a:noFill/>
          <a:ln/>
        </p:spPr>
        <p:txBody>
          <a:bodyPr wrap="none" lIns="0" tIns="0" rIns="0" bIns="0" rtlCol="0" anchor="ctr"/>
          <a:lstStyle/>
          <a:p>
            <a:pPr algn="l" indent="0" marL="0">
              <a:buNone/>
            </a:pPr>
            <a:r>
              <a:rPr lang="en-US" sz="2100" b="1" dirty="0">
                <a:solidFill>
                  <a:srgbClr val="17150F"/>
                </a:solidFill>
                <a:latin typeface="Noto Serif KR" pitchFamily="34" charset="0"/>
                <a:ea typeface="Noto Serif KR" pitchFamily="34" charset="-122"/>
                <a:cs typeface="Noto Serif KR" pitchFamily="34" charset="-120"/>
              </a:rPr>
              <a:t>여러분의 카드에서 지금 가장 약한 축은 어느 것입니까. 왜 그렇습니까.</a:t>
            </a:r>
            <a:endParaRPr lang="en-US" sz="21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3"/>
          <a:stretch/>
        </p:blipFill>
        <p:spPr>
          <a:xfrm>
            <a:off x="11637479" y="2781605"/>
            <a:ext cx="5395140" cy="9144"/>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자기 점검 · 카드 제출 전 확인</a:t>
            </a:r>
            <a:endParaRPr lang="en-US" sz="1800" dirty="0"/>
          </a:p>
        </p:txBody>
      </p:sp>
      <p:sp>
        <p:nvSpPr>
          <p:cNvPr id="5" name="Text 1"/>
          <p:cNvSpPr txBox="1"/>
          <p:nvPr/>
        </p:nvSpPr>
        <p:spPr>
          <a:xfrm>
            <a:off x="14859000" y="629107"/>
            <a:ext cx="2286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점검</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여덟 개 질문에 모두 “예”가 되어야 한다</a:t>
            </a:r>
            <a:endParaRPr lang="en-US" sz="3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2438705"/>
          <a:ext cx="9811512" cy="5992063"/>
        </p:xfrm>
        <a:graphic>
          <a:graphicData uri="http://schemas.openxmlformats.org/drawingml/2006/table">
            <a:tbl>
              <a:tblPr/>
              <a:tblGrid>
                <a:gridCol w="1047902"/>
                <a:gridCol w="8762695"/>
              </a:tblGrid>
              <a:tr h="665785">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확인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점검 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명칭에 </a:t>
                      </a:r>
                      <a:pPr indent="0" marL="0">
                        <a:buNone/>
                      </a:pPr>
                      <a:r>
                        <a:rPr lang="en-US" sz="1875" b="1" dirty="0">
                          <a:solidFill>
                            <a:srgbClr val="17150F"/>
                          </a:solidFill>
                          <a:latin typeface="Noto Serif KR" pitchFamily="34" charset="0"/>
                          <a:ea typeface="Noto Serif KR" pitchFamily="34" charset="-122"/>
                          <a:cs typeface="Noto Serif KR" pitchFamily="34" charset="-120"/>
                        </a:rPr>
                        <a:t>감상어</a:t>
                      </a:r>
                      <a:pPr indent="0" marL="0">
                        <a:buNone/>
                      </a:pPr>
                      <a:r>
                        <a:rPr lang="en-US" sz="1875" dirty="0">
                          <a:solidFill>
                            <a:srgbClr val="3A362C"/>
                          </a:solidFill>
                          <a:latin typeface="Noto Serif KR" pitchFamily="34" charset="0"/>
                          <a:ea typeface="Noto Serif KR" pitchFamily="34" charset="-122"/>
                          <a:cs typeface="Noto Serif KR" pitchFamily="34" charset="-120"/>
                        </a:rPr>
                        <a:t>가 하나도 없는가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재질이 </a:t>
                      </a:r>
                      <a:pPr indent="0" marL="0">
                        <a:buNone/>
                      </a:pPr>
                      <a:r>
                        <a:rPr lang="en-US" sz="1875" b="1" dirty="0">
                          <a:solidFill>
                            <a:srgbClr val="17150F"/>
                          </a:solidFill>
                          <a:latin typeface="Noto Serif KR" pitchFamily="34" charset="0"/>
                          <a:ea typeface="Noto Serif KR" pitchFamily="34" charset="-122"/>
                          <a:cs typeface="Noto Serif KR" pitchFamily="34" charset="-120"/>
                        </a:rPr>
                        <a:t>지금 존재하는 재료</a:t>
                      </a:r>
                      <a:pPr indent="0" marL="0">
                        <a:buNone/>
                      </a:pPr>
                      <a:r>
                        <a:rPr lang="en-US" sz="1875" dirty="0">
                          <a:solidFill>
                            <a:srgbClr val="3A362C"/>
                          </a:solidFill>
                          <a:latin typeface="Noto Serif KR" pitchFamily="34" charset="0"/>
                          <a:ea typeface="Noto Serif KR" pitchFamily="34" charset="-122"/>
                          <a:cs typeface="Noto Serif KR" pitchFamily="34" charset="-120"/>
                        </a:rPr>
                        <a:t>인가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사용 흔적에 </a:t>
                      </a:r>
                      <a:pPr indent="0" marL="0">
                        <a:buNone/>
                      </a:pPr>
                      <a:r>
                        <a:rPr lang="en-US" sz="1875" b="1" dirty="0">
                          <a:solidFill>
                            <a:srgbClr val="17150F"/>
                          </a:solidFill>
                          <a:latin typeface="Noto Serif KR" pitchFamily="34" charset="0"/>
                          <a:ea typeface="Noto Serif KR" pitchFamily="34" charset="-122"/>
                          <a:cs typeface="Noto Serif KR" pitchFamily="34" charset="-120"/>
                        </a:rPr>
                        <a:t>부위와 방식</a:t>
                      </a:r>
                      <a:pPr indent="0" marL="0">
                        <a:buNone/>
                      </a:pPr>
                      <a:r>
                        <a:rPr lang="en-US" sz="1875" dirty="0">
                          <a:solidFill>
                            <a:srgbClr val="3A362C"/>
                          </a:solidFill>
                          <a:latin typeface="Noto Serif KR" pitchFamily="34" charset="0"/>
                          <a:ea typeface="Noto Serif KR" pitchFamily="34" charset="-122"/>
                          <a:cs typeface="Noto Serif KR" pitchFamily="34" charset="-120"/>
                        </a:rPr>
                        <a:t>이 모두 적혀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매몰 흔적이 </a:t>
                      </a:r>
                      <a:pPr indent="0" marL="0">
                        <a:buNone/>
                      </a:pPr>
                      <a:r>
                        <a:rPr lang="en-US" sz="1875" b="1" dirty="0">
                          <a:solidFill>
                            <a:srgbClr val="17150F"/>
                          </a:solidFill>
                          <a:latin typeface="Noto Serif KR" pitchFamily="34" charset="0"/>
                          <a:ea typeface="Noto Serif KR" pitchFamily="34" charset="-122"/>
                          <a:cs typeface="Noto Serif KR" pitchFamily="34" charset="-120"/>
                        </a:rPr>
                        <a:t>따로</a:t>
                      </a:r>
                      <a:pPr indent="0" marL="0">
                        <a:buNone/>
                      </a:pPr>
                      <a:r>
                        <a:rPr lang="en-US" sz="1875" dirty="0">
                          <a:solidFill>
                            <a:srgbClr val="3A362C"/>
                          </a:solidFill>
                          <a:latin typeface="Noto Serif KR" pitchFamily="34" charset="0"/>
                          <a:ea typeface="Noto Serif KR" pitchFamily="34" charset="-122"/>
                          <a:cs typeface="Noto Serif KR" pitchFamily="34" charset="-120"/>
                        </a:rPr>
                        <a:t> 적혀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수습 경위에 </a:t>
                      </a:r>
                      <a:pPr indent="0" marL="0">
                        <a:buNone/>
                      </a:pPr>
                      <a:r>
                        <a:rPr lang="en-US" sz="1875" b="1" dirty="0">
                          <a:solidFill>
                            <a:srgbClr val="17150F"/>
                          </a:solidFill>
                          <a:latin typeface="Noto Serif KR" pitchFamily="34" charset="0"/>
                          <a:ea typeface="Noto Serif KR" pitchFamily="34" charset="-122"/>
                          <a:cs typeface="Noto Serif KR" pitchFamily="34" charset="-120"/>
                        </a:rPr>
                        <a:t>장소·층위·동반 출토품</a:t>
                      </a:r>
                      <a:pPr indent="0" marL="0">
                        <a:buNone/>
                      </a:pPr>
                      <a:r>
                        <a:rPr lang="en-US" sz="1875" dirty="0">
                          <a:solidFill>
                            <a:srgbClr val="3A362C"/>
                          </a:solidFill>
                          <a:latin typeface="Noto Serif KR" pitchFamily="34" charset="0"/>
                          <a:ea typeface="Noto Serif KR" pitchFamily="34" charset="-122"/>
                          <a:cs typeface="Noto Serif KR" pitchFamily="34" charset="-120"/>
                        </a:rPr>
                        <a:t>이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치수에 </a:t>
                      </a:r>
                      <a:pPr indent="0" marL="0">
                        <a:buNone/>
                      </a:pPr>
                      <a:r>
                        <a:rPr lang="en-US" sz="1875" b="1" dirty="0">
                          <a:solidFill>
                            <a:srgbClr val="17150F"/>
                          </a:solidFill>
                          <a:latin typeface="Noto Serif KR" pitchFamily="34" charset="0"/>
                          <a:ea typeface="Noto Serif KR" pitchFamily="34" charset="-122"/>
                          <a:cs typeface="Noto Serif KR" pitchFamily="34" charset="-120"/>
                        </a:rPr>
                        <a:t>단위</a:t>
                      </a:r>
                      <a:pPr indent="0" marL="0">
                        <a:buNone/>
                      </a:pPr>
                      <a:r>
                        <a:rPr lang="en-US" sz="1875" dirty="0">
                          <a:solidFill>
                            <a:srgbClr val="3A362C"/>
                          </a:solidFill>
                          <a:latin typeface="Noto Serif KR" pitchFamily="34" charset="0"/>
                          <a:ea typeface="Noto Serif KR" pitchFamily="34" charset="-122"/>
                          <a:cs typeface="Noto Serif KR" pitchFamily="34" charset="-120"/>
                        </a:rPr>
                        <a:t>가 붙어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용도가 </a:t>
                      </a:r>
                      <a:pPr indent="0" marL="0">
                        <a:buNone/>
                      </a:pPr>
                      <a:r>
                        <a:rPr lang="en-US" sz="1875" b="1" dirty="0">
                          <a:solidFill>
                            <a:srgbClr val="17150F"/>
                          </a:solidFill>
                          <a:latin typeface="Noto Serif KR" pitchFamily="34" charset="0"/>
                          <a:ea typeface="Noto Serif KR" pitchFamily="34" charset="-122"/>
                          <a:cs typeface="Noto Serif KR" pitchFamily="34" charset="-120"/>
                        </a:rPr>
                        <a:t>추정</a:t>
                      </a:r>
                      <a:pPr indent="0" marL="0">
                        <a:buNone/>
                      </a:pPr>
                      <a:r>
                        <a:rPr lang="en-US" sz="1875" dirty="0">
                          <a:solidFill>
                            <a:srgbClr val="3A362C"/>
                          </a:solidFill>
                          <a:latin typeface="Noto Serif KR" pitchFamily="34" charset="0"/>
                          <a:ea typeface="Noto Serif KR" pitchFamily="34" charset="-122"/>
                          <a:cs typeface="Noto Serif KR" pitchFamily="34" charset="-120"/>
                        </a:rPr>
                        <a:t>으로 표기되어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785">
                <a:tc>
                  <a:txBody>
                    <a:bodyPr/>
                    <a:lstStyle/>
                    <a:p>
                      <a:pPr algn="ctr" indent="0" marL="0">
                        <a:buNone/>
                      </a:pPr>
                      <a:r>
                        <a:rPr lang="en-US" sz="1875" b="1" dirty="0">
                          <a:solidFill>
                            <a:srgbClr val="17150F"/>
                          </a:solidFill>
                          <a:latin typeface="Noto Serif KR" pitchFamily="34" charset="0"/>
                          <a:ea typeface="Noto Serif KR" pitchFamily="34" charset="-122"/>
                          <a:cs typeface="Noto Serif KR" pitchFamily="34" charset="-120"/>
                        </a:rPr>
                        <a:t>☐</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마지막 줄에 </a:t>
                      </a:r>
                      <a:pPr indent="0" marL="0">
                        <a:buNone/>
                      </a:pPr>
                      <a:r>
                        <a:rPr lang="en-US" sz="1875" b="1" dirty="0">
                          <a:solidFill>
                            <a:srgbClr val="9C2A1F"/>
                          </a:solidFill>
                          <a:latin typeface="Noto Serif KR" pitchFamily="34" charset="0"/>
                          <a:ea typeface="Noto Serif KR" pitchFamily="34" charset="-122"/>
                          <a:cs typeface="Noto Serif KR" pitchFamily="34" charset="-120"/>
                        </a:rPr>
                        <a:t>허구 표기</a:t>
                      </a:r>
                      <a:pPr indent="0" marL="0">
                        <a:buNone/>
                      </a:pPr>
                      <a:r>
                        <a:rPr lang="en-US" sz="1875" dirty="0">
                          <a:solidFill>
                            <a:srgbClr val="3A362C"/>
                          </a:solidFill>
                          <a:latin typeface="Noto Serif KR" pitchFamily="34" charset="0"/>
                          <a:ea typeface="Noto Serif KR" pitchFamily="34" charset="-122"/>
                          <a:cs typeface="Noto Serif KR" pitchFamily="34" charset="-120"/>
                        </a:rPr>
                        <a:t>가 있는가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525098" y="2438705"/>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가장 많이 빠지는 두 항목</a:t>
            </a:r>
            <a:endParaRPr lang="en-US" sz="1650" dirty="0"/>
          </a:p>
        </p:txBody>
      </p:sp>
      <p:sp>
        <p:nvSpPr>
          <p:cNvPr id="9" name="Shape 4"/>
          <p:cNvSpPr/>
          <p:nvPr/>
        </p:nvSpPr>
        <p:spPr>
          <a:xfrm>
            <a:off x="11525098" y="3047695"/>
            <a:ext cx="5619902" cy="1857146"/>
          </a:xfrm>
          <a:prstGeom prst="rect">
            <a:avLst/>
          </a:prstGeom>
          <a:solidFill>
            <a:srgbClr val="9C2A1F">
              <a:alpha val="6000"/>
            </a:srgbClr>
          </a:solidFill>
          <a:ln w="12700">
            <a:solidFill>
              <a:srgbClr val="9C2A1F"/>
            </a:solidFill>
            <a:prstDash val="solid"/>
          </a:ln>
        </p:spPr>
      </p:sp>
      <p:sp>
        <p:nvSpPr>
          <p:cNvPr id="10" name="Text 5"/>
          <p:cNvSpPr txBox="1"/>
          <p:nvPr/>
        </p:nvSpPr>
        <p:spPr>
          <a:xfrm>
            <a:off x="11801246" y="3286354"/>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① 매몰 흔적</a:t>
            </a:r>
            <a:endParaRPr lang="en-US" sz="1575" dirty="0"/>
          </a:p>
        </p:txBody>
      </p:sp>
      <p:pic>
        <p:nvPicPr>
          <p:cNvPr id="11" name="Image 2" descr="gen-dedup-eb8251e30e6f067c72c1c831d415f691.png">    </p:cNvPr>
          <p:cNvPicPr>
            <a:picLocks noChangeAspect="1"/>
          </p:cNvPicPr>
          <p:nvPr/>
        </p:nvPicPr>
        <p:blipFill>
          <a:blip r:embed="rId4"/>
          <a:stretch/>
        </p:blipFill>
        <p:spPr>
          <a:xfrm>
            <a:off x="11902863" y="3705149"/>
            <a:ext cx="4864372" cy="9144"/>
          </a:xfrm>
          <a:prstGeom prst="rect">
            <a:avLst/>
          </a:prstGeom>
        </p:spPr>
      </p:pic>
      <p:sp>
        <p:nvSpPr>
          <p:cNvPr id="12" name="Text 6"/>
          <p:cNvSpPr txBox="1"/>
          <p:nvPr/>
        </p:nvSpPr>
        <p:spPr>
          <a:xfrm>
            <a:off x="11801246" y="3866998"/>
            <a:ext cx="50676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사용 흔적만 쓰면 이미지가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방금 만든 물건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처럼 나온다. “300년간 흙 속” 한 줄이 반드시 필요하다.</a:t>
            </a:r>
            <a:endParaRPr lang="en-US" sz="1800" dirty="0"/>
          </a:p>
        </p:txBody>
      </p:sp>
      <p:sp>
        <p:nvSpPr>
          <p:cNvPr id="13" name="Shape 7"/>
          <p:cNvSpPr/>
          <p:nvPr/>
        </p:nvSpPr>
        <p:spPr>
          <a:xfrm>
            <a:off x="11525098" y="5181905"/>
            <a:ext cx="5619902" cy="1857146"/>
          </a:xfrm>
          <a:prstGeom prst="rect">
            <a:avLst/>
          </a:prstGeom>
          <a:solidFill>
            <a:srgbClr val="9C2A1F">
              <a:alpha val="6000"/>
            </a:srgbClr>
          </a:solidFill>
          <a:ln w="12700">
            <a:solidFill>
              <a:srgbClr val="9C2A1F"/>
            </a:solidFill>
            <a:prstDash val="solid"/>
          </a:ln>
        </p:spPr>
      </p:sp>
      <p:sp>
        <p:nvSpPr>
          <p:cNvPr id="14" name="Text 8"/>
          <p:cNvSpPr txBox="1"/>
          <p:nvPr/>
        </p:nvSpPr>
        <p:spPr>
          <a:xfrm>
            <a:off x="11801246" y="5419649"/>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② 동반 출토품</a:t>
            </a:r>
            <a:endParaRPr lang="en-US" sz="1575" dirty="0"/>
          </a:p>
        </p:txBody>
      </p:sp>
      <p:pic>
        <p:nvPicPr>
          <p:cNvPr id="15" name="Image 3" descr="gen-dedup-eb8251e30e6f067c72c1c831d415f691.png">    </p:cNvPr>
          <p:cNvPicPr>
            <a:picLocks noChangeAspect="1"/>
          </p:cNvPicPr>
          <p:nvPr/>
        </p:nvPicPr>
        <p:blipFill>
          <a:blip r:embed="rId4"/>
          <a:stretch/>
        </p:blipFill>
        <p:spPr>
          <a:xfrm>
            <a:off x="11902863" y="5838444"/>
            <a:ext cx="4864372" cy="9144"/>
          </a:xfrm>
          <a:prstGeom prst="rect">
            <a:avLst/>
          </a:prstGeom>
        </p:spPr>
      </p:pic>
      <p:sp>
        <p:nvSpPr>
          <p:cNvPr id="16" name="Text 9"/>
          <p:cNvSpPr txBox="1"/>
          <p:nvPr/>
        </p:nvSpPr>
        <p:spPr>
          <a:xfrm>
            <a:off x="11801246" y="6001207"/>
            <a:ext cx="50676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함께 나온 것이 있으면 해석의 폭이 생긴다. 없으면 사물이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맥락 없이 떠 있다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t>
            </a:r>
            <a:endParaRPr lang="en-US" sz="1800" dirty="0"/>
          </a:p>
        </p:txBody>
      </p:sp>
      <p:sp>
        <p:nvSpPr>
          <p:cNvPr id="17" name="Shape 10"/>
          <p:cNvSpPr/>
          <p:nvPr/>
        </p:nvSpPr>
        <p:spPr>
          <a:xfrm>
            <a:off x="11525098" y="7086600"/>
            <a:ext cx="5619902" cy="2180844"/>
          </a:xfrm>
          <a:prstGeom prst="rect">
            <a:avLst/>
          </a:prstGeom>
          <a:solidFill>
            <a:srgbClr val="FFFFFF">
              <a:alpha val="36000"/>
            </a:srgbClr>
          </a:solidFill>
          <a:ln w="12700">
            <a:solidFill>
              <a:srgbClr val="BEB6A5"/>
            </a:solidFill>
            <a:prstDash val="solid"/>
          </a:ln>
        </p:spPr>
      </p:sp>
      <p:sp>
        <p:nvSpPr>
          <p:cNvPr id="18" name="Text 11"/>
          <p:cNvSpPr txBox="1"/>
          <p:nvPr/>
        </p:nvSpPr>
        <p:spPr>
          <a:xfrm>
            <a:off x="11801246" y="7286854"/>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제출 방식</a:t>
            </a:r>
            <a:endParaRPr lang="en-US" sz="1575" dirty="0"/>
          </a:p>
        </p:txBody>
      </p:sp>
      <p:pic>
        <p:nvPicPr>
          <p:cNvPr id="19" name="Image 4" descr="gen-dedup-eb8251e30e6f067c72c1c831d415f691.png">    </p:cNvPr>
          <p:cNvPicPr>
            <a:picLocks noChangeAspect="1"/>
          </p:cNvPicPr>
          <p:nvPr/>
        </p:nvPicPr>
        <p:blipFill>
          <a:blip r:embed="rId4"/>
          <a:stretch/>
        </p:blipFill>
        <p:spPr>
          <a:xfrm>
            <a:off x="11902863" y="7705649"/>
            <a:ext cx="4864372" cy="9144"/>
          </a:xfrm>
          <a:prstGeom prst="rect">
            <a:avLst/>
          </a:prstGeom>
        </p:spPr>
      </p:pic>
      <p:sp>
        <p:nvSpPr>
          <p:cNvPr id="20" name="Text 12"/>
          <p:cNvSpPr txBox="1"/>
          <p:nvPr/>
        </p:nvSpPr>
        <p:spPr>
          <a:xfrm>
            <a:off x="11801246" y="7867498"/>
            <a:ext cx="50676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학습지 [별지 4]를 차시 종료 시 제출한다. 5차시에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 카드를 그대로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들고 온다. 카드 없이는 프롬프트 작성이 불가능하다.</a:t>
            </a:r>
            <a:endParaRPr lang="en-US" sz="1800" dirty="0"/>
          </a:p>
        </p:txBody>
      </p:sp>
      <p:sp>
        <p:nvSpPr>
          <p:cNvPr id="21" name="Text 13"/>
          <p:cNvSpPr txBox="1"/>
          <p:nvPr/>
        </p:nvSpPr>
        <p:spPr>
          <a:xfrm>
            <a:off x="11792102" y="9219895"/>
            <a:ext cx="5353812" cy="409651"/>
          </a:xfrm>
          <a:prstGeom prst="rect">
            <a:avLst/>
          </a:prstGeom>
          <a:noFill/>
          <a:ln/>
        </p:spPr>
        <p:txBody>
          <a:bodyPr wrap="none" lIns="0" tIns="0" rIns="0" bIns="0" rtlCol="0" anchor="ctr"/>
          <a:lstStyle/>
          <a:p>
            <a:pPr algn="l" indent="0" marL="0">
              <a:buNone/>
            </a:pPr>
            <a:r>
              <a:rPr lang="en-US" sz="2025" b="1" dirty="0">
                <a:solidFill>
                  <a:srgbClr val="17150F"/>
                </a:solidFill>
                <a:latin typeface="Noto Serif KR" pitchFamily="34" charset="0"/>
                <a:ea typeface="Noto Serif KR" pitchFamily="34" charset="-122"/>
                <a:cs typeface="Noto Serif KR" pitchFamily="34" charset="-120"/>
              </a:rPr>
              <a:t>아직 “아니오”인 칸이 남아 있습니까.</a:t>
            </a:r>
            <a:endParaRPr lang="en-US" sz="2025" dirty="0"/>
          </a:p>
        </p:txBody>
      </p:sp>
      <p:sp>
        <p:nvSpPr>
          <p:cNvPr id="22" name="Text 14"/>
          <p:cNvSpPr txBox="1"/>
          <p:nvPr/>
        </p:nvSpPr>
        <p:spPr>
          <a:xfrm>
            <a:off x="1143000" y="9829800"/>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점검 항목 근거: 이 차시 전개 1~5에서 다룬 이론과 서식</a:t>
            </a:r>
            <a:endParaRPr lang="en-US" sz="165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ce87182226452a8c3e765dcc253b345b.png">    </p:cNvPr>
          <p:cNvPicPr>
            <a:picLocks noChangeAspect="1"/>
          </p:cNvPicPr>
          <p:nvPr/>
        </p:nvPicPr>
        <p:blipFill>
          <a:blip r:embed="rId3"/>
          <a:stretch/>
        </p:blipFill>
        <p:spPr>
          <a:xfrm>
            <a:off x="11730980" y="2686507"/>
            <a:ext cx="5303236" cy="9144"/>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예시 A · 세 축이 맞는 카드</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예시 A</a:t>
            </a:r>
            <a:endParaRPr lang="en-US" sz="1650" dirty="0"/>
          </a:p>
        </p:txBody>
      </p:sp>
      <p:sp>
        <p:nvSpPr>
          <p:cNvPr id="6" name="Text 2"/>
          <p:cNvSpPr txBox="1"/>
          <p:nvPr/>
        </p:nvSpPr>
        <p:spPr>
          <a:xfrm>
            <a:off x="1143000" y="1466698"/>
            <a:ext cx="9811512" cy="523951"/>
          </a:xfrm>
          <a:prstGeom prst="rect">
            <a:avLst/>
          </a:prstGeom>
          <a:noFill/>
          <a:ln/>
        </p:spPr>
        <p:txBody>
          <a:bodyPr wrap="none" lIns="0" tIns="0" rIns="0" bIns="0" rtlCol="0" anchor="ctr"/>
          <a:lstStyle/>
          <a:p>
            <a:pPr algn="l" indent="0" marL="0">
              <a:buNone/>
            </a:pPr>
            <a:r>
              <a:rPr lang="en-US" sz="3300" b="1" spc="-49" kern="0" dirty="0">
                <a:solidFill>
                  <a:srgbClr val="17150F"/>
                </a:solidFill>
                <a:latin typeface="Noto Serif KR" pitchFamily="34" charset="0"/>
                <a:ea typeface="Noto Serif KR" pitchFamily="34" charset="-122"/>
                <a:cs typeface="Noto Serif KR" pitchFamily="34" charset="-120"/>
              </a:rPr>
              <a:t>고분자 피복 편조 연결구</a:t>
            </a:r>
            <a:endParaRPr lang="en-US" sz="3300" dirty="0"/>
          </a:p>
        </p:txBody>
      </p:sp>
      <p:sp>
        <p:nvSpPr>
          <p:cNvPr id="7" name="Shape 3"/>
          <p:cNvSpPr/>
          <p:nvPr/>
        </p:nvSpPr>
        <p:spPr>
          <a:xfrm>
            <a:off x="1143000" y="2343607"/>
            <a:ext cx="9810598" cy="5057546"/>
          </a:xfrm>
          <a:prstGeom prst="rect">
            <a:avLst/>
          </a:prstGeom>
          <a:solidFill>
            <a:srgbClr val="FFFFFF">
              <a:alpha val="42000"/>
            </a:srgbClr>
          </a:solidFill>
          <a:ln w="12700">
            <a:solidFill>
              <a:srgbClr val="BEB6A5"/>
            </a:solidFill>
            <a:prstDash val="solid"/>
          </a:ln>
        </p:spPr>
      </p:sp>
      <p:sp>
        <p:nvSpPr>
          <p:cNvPr id="8" name="Text 4"/>
          <p:cNvSpPr txBox="1"/>
          <p:nvPr/>
        </p:nvSpPr>
        <p:spPr>
          <a:xfrm>
            <a:off x="1399946" y="2609698"/>
            <a:ext cx="8961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유물번호</a:t>
            </a:r>
            <a:endParaRPr lang="en-US" sz="1650" dirty="0"/>
          </a:p>
        </p:txBody>
      </p:sp>
      <p:sp>
        <p:nvSpPr>
          <p:cNvPr id="9" name="Text 5"/>
          <p:cNvSpPr txBox="1"/>
          <p:nvPr/>
        </p:nvSpPr>
        <p:spPr>
          <a:xfrm>
            <a:off x="3000146" y="2562149"/>
            <a:ext cx="163037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2300-KR-014</a:t>
            </a:r>
            <a:endParaRPr lang="en-US" sz="1875" dirty="0"/>
          </a:p>
        </p:txBody>
      </p:sp>
      <p:sp>
        <p:nvSpPr>
          <p:cNvPr id="10" name="Text 6"/>
          <p:cNvSpPr txBox="1"/>
          <p:nvPr/>
        </p:nvSpPr>
        <p:spPr>
          <a:xfrm>
            <a:off x="1399946" y="30531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명칭</a:t>
            </a:r>
            <a:endParaRPr lang="en-US" sz="1650" dirty="0"/>
          </a:p>
        </p:txBody>
      </p:sp>
      <p:sp>
        <p:nvSpPr>
          <p:cNvPr id="11" name="Text 7"/>
          <p:cNvSpPr txBox="1"/>
          <p:nvPr/>
        </p:nvSpPr>
        <p:spPr>
          <a:xfrm>
            <a:off x="3000146" y="3004718"/>
            <a:ext cx="45628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고분자 피복 동선 편조 이중단자 연결구</a:t>
            </a:r>
            <a:endParaRPr lang="en-US" sz="1875" dirty="0"/>
          </a:p>
        </p:txBody>
      </p:sp>
      <p:sp>
        <p:nvSpPr>
          <p:cNvPr id="12" name="Text 8"/>
          <p:cNvSpPr txBox="1"/>
          <p:nvPr/>
        </p:nvSpPr>
        <p:spPr>
          <a:xfrm>
            <a:off x="1399946" y="34957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추정 연대</a:t>
            </a:r>
            <a:endParaRPr lang="en-US" sz="1650" dirty="0"/>
          </a:p>
        </p:txBody>
      </p:sp>
      <p:sp>
        <p:nvSpPr>
          <p:cNvPr id="13" name="Text 9"/>
          <p:cNvSpPr txBox="1"/>
          <p:nvPr/>
        </p:nvSpPr>
        <p:spPr>
          <a:xfrm>
            <a:off x="3000146" y="3448202"/>
            <a:ext cx="46012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21세기 초 (2010~2040년 사이로 추정)</a:t>
            </a:r>
            <a:endParaRPr lang="en-US" sz="1875" dirty="0"/>
          </a:p>
        </p:txBody>
      </p:sp>
      <p:sp>
        <p:nvSpPr>
          <p:cNvPr id="14" name="Text 10"/>
          <p:cNvSpPr txBox="1"/>
          <p:nvPr/>
        </p:nvSpPr>
        <p:spPr>
          <a:xfrm>
            <a:off x="1399946" y="3938321"/>
            <a:ext cx="113111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재질·기법</a:t>
            </a:r>
            <a:endParaRPr lang="en-US" sz="1650" dirty="0"/>
          </a:p>
        </p:txBody>
      </p:sp>
      <p:sp>
        <p:nvSpPr>
          <p:cNvPr id="15" name="Text 11"/>
          <p:cNvSpPr txBox="1"/>
          <p:nvPr/>
        </p:nvSpPr>
        <p:spPr>
          <a:xfrm>
            <a:off x="3000146" y="3890772"/>
            <a:ext cx="56775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구리 합금 심선에 고분자 피복, 외피는 섬유 편조</a:t>
            </a:r>
            <a:endParaRPr lang="en-US" sz="1875" dirty="0"/>
          </a:p>
        </p:txBody>
      </p:sp>
      <p:sp>
        <p:nvSpPr>
          <p:cNvPr id="16" name="Text 12"/>
          <p:cNvSpPr txBox="1"/>
          <p:nvPr/>
        </p:nvSpPr>
        <p:spPr>
          <a:xfrm>
            <a:off x="1399946" y="43818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치수</a:t>
            </a:r>
            <a:endParaRPr lang="en-US" sz="1650" dirty="0"/>
          </a:p>
        </p:txBody>
      </p:sp>
      <p:sp>
        <p:nvSpPr>
          <p:cNvPr id="17" name="Text 13"/>
          <p:cNvSpPr txBox="1"/>
          <p:nvPr/>
        </p:nvSpPr>
        <p:spPr>
          <a:xfrm>
            <a:off x="3000146" y="4334256"/>
            <a:ext cx="50008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전체 길이 1,020 mm · 단자부 12 × 8 mm</a:t>
            </a:r>
            <a:endParaRPr lang="en-US" sz="1875" dirty="0"/>
          </a:p>
        </p:txBody>
      </p:sp>
      <p:sp>
        <p:nvSpPr>
          <p:cNvPr id="18" name="Text 14"/>
          <p:cNvSpPr txBox="1"/>
          <p:nvPr/>
        </p:nvSpPr>
        <p:spPr>
          <a:xfrm>
            <a:off x="1399946" y="482437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수습 경위</a:t>
            </a:r>
            <a:endParaRPr lang="en-US" sz="1650" dirty="0"/>
          </a:p>
        </p:txBody>
      </p:sp>
      <p:sp>
        <p:nvSpPr>
          <p:cNvPr id="19" name="Text 15"/>
          <p:cNvSpPr txBox="1"/>
          <p:nvPr/>
        </p:nvSpPr>
        <p:spPr>
          <a:xfrm>
            <a:off x="3000146" y="4776826"/>
            <a:ext cx="76398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교육 시설 추정 건물의 붕괴층 하부. 동일 층에서 유리 파편 다수와 함께 수습</a:t>
            </a:r>
            <a:endParaRPr lang="en-US" sz="1875" dirty="0"/>
          </a:p>
        </p:txBody>
      </p:sp>
      <p:sp>
        <p:nvSpPr>
          <p:cNvPr id="20" name="Text 16"/>
          <p:cNvSpPr txBox="1"/>
          <p:nvPr/>
        </p:nvSpPr>
        <p:spPr>
          <a:xfrm>
            <a:off x="1399946" y="562447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사용 흔적</a:t>
            </a:r>
            <a:endParaRPr lang="en-US" sz="1650" dirty="0"/>
          </a:p>
        </p:txBody>
      </p:sp>
      <p:sp>
        <p:nvSpPr>
          <p:cNvPr id="21" name="Text 17"/>
          <p:cNvSpPr txBox="1"/>
          <p:nvPr/>
        </p:nvSpPr>
        <p:spPr>
          <a:xfrm>
            <a:off x="3000146" y="5576926"/>
            <a:ext cx="2676449"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단자부 양 끝 금속면에</a:t>
            </a:r>
            <a:endParaRPr lang="en-US" sz="1875" dirty="0"/>
          </a:p>
        </p:txBody>
      </p:sp>
      <p:sp>
        <p:nvSpPr>
          <p:cNvPr id="22" name="Text 18"/>
          <p:cNvSpPr txBox="1"/>
          <p:nvPr/>
        </p:nvSpPr>
        <p:spPr>
          <a:xfrm>
            <a:off x="5365699" y="5576926"/>
            <a:ext cx="1580998"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한 방향 마모</a:t>
            </a:r>
            <a:endParaRPr lang="en-US" sz="1875" dirty="0"/>
          </a:p>
        </p:txBody>
      </p:sp>
      <p:sp>
        <p:nvSpPr>
          <p:cNvPr id="23" name="Text 19"/>
          <p:cNvSpPr txBox="1"/>
          <p:nvPr/>
        </p:nvSpPr>
        <p:spPr>
          <a:xfrm>
            <a:off x="3000146" y="5576926"/>
            <a:ext cx="74112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 심선 중간 지점에 반복 굴절로 인한 피복 균열</a:t>
            </a:r>
            <a:endParaRPr lang="en-US" sz="1875" dirty="0"/>
          </a:p>
        </p:txBody>
      </p:sp>
      <p:sp>
        <p:nvSpPr>
          <p:cNvPr id="24" name="Text 20"/>
          <p:cNvSpPr txBox="1"/>
          <p:nvPr/>
        </p:nvSpPr>
        <p:spPr>
          <a:xfrm>
            <a:off x="1399946" y="642457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매몰 흔적</a:t>
            </a:r>
            <a:endParaRPr lang="en-US" sz="1650" dirty="0"/>
          </a:p>
        </p:txBody>
      </p:sp>
      <p:sp>
        <p:nvSpPr>
          <p:cNvPr id="25" name="Text 21"/>
          <p:cNvSpPr txBox="1"/>
          <p:nvPr/>
        </p:nvSpPr>
        <p:spPr>
          <a:xfrm>
            <a:off x="3000146" y="6377026"/>
            <a:ext cx="49917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피복 표면 전반 변색 및 경화. 편조 외피의</a:t>
            </a:r>
            <a:endParaRPr lang="en-US" sz="1875" dirty="0"/>
          </a:p>
        </p:txBody>
      </p:sp>
      <p:sp>
        <p:nvSpPr>
          <p:cNvPr id="26" name="Text 22"/>
          <p:cNvSpPr txBox="1"/>
          <p:nvPr/>
        </p:nvSpPr>
        <p:spPr>
          <a:xfrm>
            <a:off x="7350862" y="6377026"/>
            <a:ext cx="2498141"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한쪽 면만 압착 변형</a:t>
            </a:r>
            <a:endParaRPr lang="en-US" sz="1875" dirty="0"/>
          </a:p>
        </p:txBody>
      </p:sp>
      <p:sp>
        <p:nvSpPr>
          <p:cNvPr id="27" name="Text 23"/>
          <p:cNvSpPr txBox="1"/>
          <p:nvPr/>
        </p:nvSpPr>
        <p:spPr>
          <a:xfrm>
            <a:off x="1399946" y="686714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허구 표기</a:t>
            </a:r>
            <a:endParaRPr lang="en-US" sz="1650" dirty="0"/>
          </a:p>
        </p:txBody>
      </p:sp>
      <p:sp>
        <p:nvSpPr>
          <p:cNvPr id="28" name="Text 24"/>
          <p:cNvSpPr txBox="1"/>
          <p:nvPr/>
        </p:nvSpPr>
        <p:spPr>
          <a:xfrm>
            <a:off x="3000146" y="6819595"/>
            <a:ext cx="70207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본 유물은 실재하지 않으며, 생성형 AI로 제작된 허구 자료임</a:t>
            </a:r>
            <a:endParaRPr lang="en-US" sz="1875" dirty="0"/>
          </a:p>
        </p:txBody>
      </p:sp>
      <p:sp>
        <p:nvSpPr>
          <p:cNvPr id="29" name="Text 25"/>
          <p:cNvSpPr txBox="1"/>
          <p:nvPr/>
        </p:nvSpPr>
        <p:spPr>
          <a:xfrm>
            <a:off x="11620195" y="2343607"/>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왜 성립하는가 — 세 축 점검</a:t>
            </a:r>
            <a:endParaRPr lang="en-US" sz="1650" dirty="0"/>
          </a:p>
        </p:txBody>
      </p:sp>
      <p:sp>
        <p:nvSpPr>
          <p:cNvPr id="30" name="Text 26"/>
          <p:cNvSpPr txBox="1"/>
          <p:nvPr/>
        </p:nvSpPr>
        <p:spPr>
          <a:xfrm>
            <a:off x="11620195" y="2952598"/>
            <a:ext cx="5524805" cy="277246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재질과 흔적</a:t>
            </a:r>
            <a:pPr algn="l" indent="0" marL="0">
              <a:buNone/>
            </a:pPr>
            <a:r>
              <a:rPr lang="en-US" sz="1800" dirty="0">
                <a:solidFill>
                  <a:srgbClr val="3A362C"/>
                </a:solidFill>
                <a:latin typeface="Noto Serif KR" pitchFamily="34" charset="0"/>
                <a:ea typeface="Noto Serif KR" pitchFamily="34" charset="-122"/>
                <a:cs typeface="Noto Serif KR" pitchFamily="34" charset="-120"/>
              </a:rPr>
              <a:t> — 고분자는 변색·경화되고 금속은 마모된다. 재료별로 다른 흔적을 적었다.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용도와 부위</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반복해서 꽂고 뽑는 물건이므로 마모가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단자부 양 끝</a:t>
            </a:r>
            <a:pPr algn="l" indent="0" marL="0">
              <a:buNone/>
            </a:pPr>
            <a:r>
              <a:rPr lang="en-US" sz="1800" dirty="0">
                <a:solidFill>
                  <a:srgbClr val="3A362C"/>
                </a:solidFill>
                <a:latin typeface="Noto Serif KR" pitchFamily="34" charset="0"/>
                <a:ea typeface="Noto Serif KR" pitchFamily="34" charset="-122"/>
                <a:cs typeface="Noto Serif KR" pitchFamily="34" charset="-120"/>
              </a:rPr>
              <a:t>에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수습과 매몰</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붕괴층에 눌려 있었으므로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한쪽 면만</a:t>
            </a:r>
            <a:pPr algn="l" indent="0" marL="0">
              <a:buNone/>
            </a:pPr>
            <a:r>
              <a:rPr lang="en-US" sz="1800" dirty="0">
                <a:solidFill>
                  <a:srgbClr val="3A362C"/>
                </a:solidFill>
                <a:latin typeface="Noto Serif KR" pitchFamily="34" charset="0"/>
                <a:ea typeface="Noto Serif KR" pitchFamily="34" charset="-122"/>
                <a:cs typeface="Noto Serif KR" pitchFamily="34" charset="-120"/>
              </a:rPr>
              <a:t> 압착되었다.</a:t>
            </a:r>
            <a:endParaRPr lang="en-US" sz="1200" dirty="0"/>
          </a:p>
        </p:txBody>
      </p:sp>
      <p:sp>
        <p:nvSpPr>
          <p:cNvPr id="31" name="Shape 27"/>
          <p:cNvSpPr/>
          <p:nvPr/>
        </p:nvSpPr>
        <p:spPr>
          <a:xfrm>
            <a:off x="11620195" y="6172200"/>
            <a:ext cx="5524805" cy="2180844"/>
          </a:xfrm>
          <a:prstGeom prst="rect">
            <a:avLst/>
          </a:prstGeom>
          <a:solidFill>
            <a:srgbClr val="9C2A1F">
              <a:alpha val="6000"/>
            </a:srgbClr>
          </a:solidFill>
          <a:ln w="12700">
            <a:solidFill>
              <a:srgbClr val="9C2A1F"/>
            </a:solidFill>
            <a:prstDash val="solid"/>
          </a:ln>
        </p:spPr>
      </p:sp>
      <p:sp>
        <p:nvSpPr>
          <p:cNvPr id="32" name="Text 28"/>
          <p:cNvSpPr txBox="1"/>
          <p:nvPr/>
        </p:nvSpPr>
        <p:spPr>
          <a:xfrm>
            <a:off x="11896344" y="6372454"/>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가장 잘된 부분</a:t>
            </a:r>
            <a:endParaRPr lang="en-US" sz="1575" dirty="0"/>
          </a:p>
        </p:txBody>
      </p:sp>
      <p:pic>
        <p:nvPicPr>
          <p:cNvPr id="33" name="Image 2" descr="gen-dedup-27ae280773eedb088e0c817c49142db0.png">    </p:cNvPr>
          <p:cNvPicPr>
            <a:picLocks noChangeAspect="1"/>
          </p:cNvPicPr>
          <p:nvPr/>
        </p:nvPicPr>
        <p:blipFill>
          <a:blip r:embed="rId4"/>
          <a:stretch/>
        </p:blipFill>
        <p:spPr>
          <a:xfrm>
            <a:off x="11996054" y="6791249"/>
            <a:ext cx="4773087" cy="9144"/>
          </a:xfrm>
          <a:prstGeom prst="rect">
            <a:avLst/>
          </a:prstGeom>
        </p:spPr>
      </p:pic>
      <p:sp>
        <p:nvSpPr>
          <p:cNvPr id="34" name="Text 29"/>
          <p:cNvSpPr txBox="1"/>
          <p:nvPr/>
        </p:nvSpPr>
        <p:spPr>
          <a:xfrm>
            <a:off x="11896344" y="6953098"/>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용도를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‘연결구’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까지만 적고 무엇을 연결했는지는 쓰지 않았다. 관람자가 스스로 추정할 여지를 남긴 것이다.</a:t>
            </a:r>
            <a:endParaRPr lang="en-US" sz="1800" dirty="0"/>
          </a:p>
        </p:txBody>
      </p:sp>
      <p:sp>
        <p:nvSpPr>
          <p:cNvPr id="35" name="Shape 30"/>
          <p:cNvSpPr/>
          <p:nvPr/>
        </p:nvSpPr>
        <p:spPr>
          <a:xfrm>
            <a:off x="11620195" y="8305495"/>
            <a:ext cx="5524805" cy="1781251"/>
          </a:xfrm>
          <a:prstGeom prst="rect">
            <a:avLst/>
          </a:prstGeom>
          <a:solidFill>
            <a:srgbClr val="FFFFFF">
              <a:alpha val="36000"/>
            </a:srgbClr>
          </a:solidFill>
          <a:ln w="12700">
            <a:solidFill>
              <a:srgbClr val="BEB6A5"/>
            </a:solidFill>
            <a:prstDash val="solid"/>
          </a:ln>
        </p:spPr>
      </p:sp>
      <p:sp>
        <p:nvSpPr>
          <p:cNvPr id="36" name="Text 31"/>
          <p:cNvSpPr txBox="1"/>
          <p:nvPr/>
        </p:nvSpPr>
        <p:spPr>
          <a:xfrm>
            <a:off x="11896344" y="8505749"/>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함께 나온 유리 파편이 하는 일</a:t>
            </a:r>
            <a:endParaRPr lang="en-US" sz="1575" dirty="0"/>
          </a:p>
        </p:txBody>
      </p:sp>
      <p:pic>
        <p:nvPicPr>
          <p:cNvPr id="37" name="Image 3" descr="gen-dedup-27ae280773eedb088e0c817c49142db0.png">    </p:cNvPr>
          <p:cNvPicPr>
            <a:picLocks noChangeAspect="1"/>
          </p:cNvPicPr>
          <p:nvPr/>
        </p:nvPicPr>
        <p:blipFill>
          <a:blip r:embed="rId4"/>
          <a:stretch/>
        </p:blipFill>
        <p:spPr>
          <a:xfrm>
            <a:off x="11996054" y="8924544"/>
            <a:ext cx="4773087" cy="9144"/>
          </a:xfrm>
          <a:prstGeom prst="rect">
            <a:avLst/>
          </a:prstGeom>
        </p:spPr>
      </p:pic>
      <p:sp>
        <p:nvSpPr>
          <p:cNvPr id="38" name="Text 32"/>
          <p:cNvSpPr txBox="1"/>
          <p:nvPr/>
        </p:nvSpPr>
        <p:spPr>
          <a:xfrm>
            <a:off x="11896344" y="9087307"/>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동반 출토품 한 줄이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‘화면이 있는 장치’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암시한다. 직접 말하지 않고 암시했다.</a:t>
            </a:r>
            <a:endParaRPr lang="en-US" sz="18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ce87182226452a8c3e765dcc253b345b.png">    </p:cNvPr>
          <p:cNvPicPr>
            <a:picLocks noChangeAspect="1"/>
          </p:cNvPicPr>
          <p:nvPr/>
        </p:nvPicPr>
        <p:blipFill>
          <a:blip r:embed="rId3"/>
          <a:stretch/>
        </p:blipFill>
        <p:spPr>
          <a:xfrm>
            <a:off x="11730980" y="2686507"/>
            <a:ext cx="5303236" cy="9144"/>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예시 B · 어디서 무너지는가</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예시 B</a:t>
            </a:r>
            <a:endParaRPr lang="en-US" sz="1650" dirty="0"/>
          </a:p>
        </p:txBody>
      </p:sp>
      <p:sp>
        <p:nvSpPr>
          <p:cNvPr id="6" name="Text 2"/>
          <p:cNvSpPr txBox="1"/>
          <p:nvPr/>
        </p:nvSpPr>
        <p:spPr>
          <a:xfrm>
            <a:off x="1143000" y="1466698"/>
            <a:ext cx="9811512" cy="523951"/>
          </a:xfrm>
          <a:prstGeom prst="rect">
            <a:avLst/>
          </a:prstGeom>
          <a:noFill/>
          <a:ln/>
        </p:spPr>
        <p:txBody>
          <a:bodyPr wrap="none" lIns="0" tIns="0" rIns="0" bIns="0" rtlCol="0" anchor="ctr"/>
          <a:lstStyle/>
          <a:p>
            <a:pPr algn="l" indent="0" marL="0">
              <a:buNone/>
            </a:pPr>
            <a:r>
              <a:rPr lang="en-US" sz="3300" b="1" spc="-49" kern="0" dirty="0">
                <a:solidFill>
                  <a:srgbClr val="17150F"/>
                </a:solidFill>
                <a:latin typeface="Noto Serif KR" pitchFamily="34" charset="0"/>
                <a:ea typeface="Noto Serif KR" pitchFamily="34" charset="-122"/>
                <a:cs typeface="Noto Serif KR" pitchFamily="34" charset="-120"/>
              </a:rPr>
              <a:t>신비의 빛나는 기억 장치</a:t>
            </a:r>
            <a:endParaRPr lang="en-US" sz="3300" dirty="0"/>
          </a:p>
        </p:txBody>
      </p:sp>
      <p:sp>
        <p:nvSpPr>
          <p:cNvPr id="7" name="Shape 3"/>
          <p:cNvSpPr/>
          <p:nvPr/>
        </p:nvSpPr>
        <p:spPr>
          <a:xfrm>
            <a:off x="1143000" y="2343607"/>
            <a:ext cx="9810598" cy="4343400"/>
          </a:xfrm>
          <a:prstGeom prst="rect">
            <a:avLst/>
          </a:prstGeom>
          <a:solidFill>
            <a:srgbClr val="FFFFFF">
              <a:alpha val="42000"/>
            </a:srgbClr>
          </a:solidFill>
          <a:ln w="12700">
            <a:solidFill>
              <a:srgbClr val="BEB6A5"/>
            </a:solidFill>
            <a:prstDash val="solid"/>
          </a:ln>
        </p:spPr>
      </p:sp>
      <p:sp>
        <p:nvSpPr>
          <p:cNvPr id="8" name="Text 4"/>
          <p:cNvSpPr txBox="1"/>
          <p:nvPr/>
        </p:nvSpPr>
        <p:spPr>
          <a:xfrm>
            <a:off x="1399946" y="2609698"/>
            <a:ext cx="8961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유물번호</a:t>
            </a:r>
            <a:endParaRPr lang="en-US" sz="1650" dirty="0"/>
          </a:p>
        </p:txBody>
      </p:sp>
      <p:sp>
        <p:nvSpPr>
          <p:cNvPr id="9" name="Text 5"/>
          <p:cNvSpPr txBox="1"/>
          <p:nvPr/>
        </p:nvSpPr>
        <p:spPr>
          <a:xfrm>
            <a:off x="3000146" y="2562149"/>
            <a:ext cx="113751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기재 없음</a:t>
            </a:r>
            <a:endParaRPr lang="en-US" sz="1875" dirty="0"/>
          </a:p>
        </p:txBody>
      </p:sp>
      <p:sp>
        <p:nvSpPr>
          <p:cNvPr id="10" name="Text 6"/>
          <p:cNvSpPr txBox="1"/>
          <p:nvPr/>
        </p:nvSpPr>
        <p:spPr>
          <a:xfrm>
            <a:off x="1399946" y="30531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명칭</a:t>
            </a:r>
            <a:endParaRPr lang="en-US" sz="1650" dirty="0"/>
          </a:p>
        </p:txBody>
      </p:sp>
      <p:sp>
        <p:nvSpPr>
          <p:cNvPr id="11" name="Text 7"/>
          <p:cNvSpPr txBox="1"/>
          <p:nvPr/>
        </p:nvSpPr>
        <p:spPr>
          <a:xfrm>
            <a:off x="3000146" y="3004718"/>
            <a:ext cx="2996489"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신비의 빛나는 기억 장치</a:t>
            </a:r>
            <a:endParaRPr lang="en-US" sz="1875" dirty="0"/>
          </a:p>
        </p:txBody>
      </p:sp>
      <p:sp>
        <p:nvSpPr>
          <p:cNvPr id="12" name="Text 8"/>
          <p:cNvSpPr txBox="1"/>
          <p:nvPr/>
        </p:nvSpPr>
        <p:spPr>
          <a:xfrm>
            <a:off x="1399946" y="34957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추정 연대</a:t>
            </a:r>
            <a:endParaRPr lang="en-US" sz="1650" dirty="0"/>
          </a:p>
        </p:txBody>
      </p:sp>
      <p:sp>
        <p:nvSpPr>
          <p:cNvPr id="13" name="Text 9"/>
          <p:cNvSpPr txBox="1"/>
          <p:nvPr/>
        </p:nvSpPr>
        <p:spPr>
          <a:xfrm>
            <a:off x="3000146" y="3448202"/>
            <a:ext cx="858622"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2027년</a:t>
            </a:r>
            <a:endParaRPr lang="en-US" sz="1875" dirty="0"/>
          </a:p>
        </p:txBody>
      </p:sp>
      <p:sp>
        <p:nvSpPr>
          <p:cNvPr id="14" name="Text 10"/>
          <p:cNvSpPr txBox="1"/>
          <p:nvPr/>
        </p:nvSpPr>
        <p:spPr>
          <a:xfrm>
            <a:off x="1399946" y="3938321"/>
            <a:ext cx="113111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재질·기법</a:t>
            </a:r>
            <a:endParaRPr lang="en-US" sz="1650" dirty="0"/>
          </a:p>
        </p:txBody>
      </p:sp>
      <p:sp>
        <p:nvSpPr>
          <p:cNvPr id="15" name="Text 11"/>
          <p:cNvSpPr txBox="1"/>
          <p:nvPr/>
        </p:nvSpPr>
        <p:spPr>
          <a:xfrm>
            <a:off x="3000146" y="3890772"/>
            <a:ext cx="2996489"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미지의 합금과 발광 결정</a:t>
            </a:r>
            <a:endParaRPr lang="en-US" sz="1875" dirty="0"/>
          </a:p>
        </p:txBody>
      </p:sp>
      <p:sp>
        <p:nvSpPr>
          <p:cNvPr id="16" name="Text 12"/>
          <p:cNvSpPr txBox="1"/>
          <p:nvPr/>
        </p:nvSpPr>
        <p:spPr>
          <a:xfrm>
            <a:off x="1399946" y="43818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치수</a:t>
            </a:r>
            <a:endParaRPr lang="en-US" sz="1650" dirty="0"/>
          </a:p>
        </p:txBody>
      </p:sp>
      <p:sp>
        <p:nvSpPr>
          <p:cNvPr id="17" name="Text 13"/>
          <p:cNvSpPr txBox="1"/>
          <p:nvPr/>
        </p:nvSpPr>
        <p:spPr>
          <a:xfrm>
            <a:off x="3000146" y="4334256"/>
            <a:ext cx="1427378"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손바닥 크기</a:t>
            </a:r>
            <a:endParaRPr lang="en-US" sz="1875" dirty="0"/>
          </a:p>
        </p:txBody>
      </p:sp>
      <p:sp>
        <p:nvSpPr>
          <p:cNvPr id="18" name="Text 14"/>
          <p:cNvSpPr txBox="1"/>
          <p:nvPr/>
        </p:nvSpPr>
        <p:spPr>
          <a:xfrm>
            <a:off x="1399946" y="482437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수습 경위</a:t>
            </a:r>
            <a:endParaRPr lang="en-US" sz="1650" dirty="0"/>
          </a:p>
        </p:txBody>
      </p:sp>
      <p:sp>
        <p:nvSpPr>
          <p:cNvPr id="19" name="Text 15"/>
          <p:cNvSpPr txBox="1"/>
          <p:nvPr/>
        </p:nvSpPr>
        <p:spPr>
          <a:xfrm>
            <a:off x="3000146" y="4776826"/>
            <a:ext cx="1936699"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땅속에서 발견됨</a:t>
            </a:r>
            <a:endParaRPr lang="en-US" sz="1875" dirty="0"/>
          </a:p>
        </p:txBody>
      </p:sp>
      <p:sp>
        <p:nvSpPr>
          <p:cNvPr id="20" name="Text 16"/>
          <p:cNvSpPr txBox="1"/>
          <p:nvPr/>
        </p:nvSpPr>
        <p:spPr>
          <a:xfrm>
            <a:off x="1399946" y="526694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사용 흔적</a:t>
            </a:r>
            <a:endParaRPr lang="en-US" sz="1650" dirty="0"/>
          </a:p>
        </p:txBody>
      </p:sp>
      <p:sp>
        <p:nvSpPr>
          <p:cNvPr id="21" name="Text 17"/>
          <p:cNvSpPr txBox="1"/>
          <p:nvPr/>
        </p:nvSpPr>
        <p:spPr>
          <a:xfrm>
            <a:off x="3000146" y="5219395"/>
            <a:ext cx="2090318" cy="34290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오래된 느낌이 남</a:t>
            </a:r>
            <a:endParaRPr lang="en-US" sz="1875" dirty="0"/>
          </a:p>
        </p:txBody>
      </p:sp>
      <p:sp>
        <p:nvSpPr>
          <p:cNvPr id="22" name="Text 18"/>
          <p:cNvSpPr txBox="1"/>
          <p:nvPr/>
        </p:nvSpPr>
        <p:spPr>
          <a:xfrm>
            <a:off x="1399946" y="571042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매몰 흔적</a:t>
            </a:r>
            <a:endParaRPr lang="en-US" sz="1650" dirty="0"/>
          </a:p>
        </p:txBody>
      </p:sp>
      <p:sp>
        <p:nvSpPr>
          <p:cNvPr id="23" name="Text 19"/>
          <p:cNvSpPr txBox="1"/>
          <p:nvPr/>
        </p:nvSpPr>
        <p:spPr>
          <a:xfrm>
            <a:off x="3000146" y="5662879"/>
            <a:ext cx="113751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기재 없음</a:t>
            </a:r>
            <a:endParaRPr lang="en-US" sz="1875" dirty="0"/>
          </a:p>
        </p:txBody>
      </p:sp>
      <p:sp>
        <p:nvSpPr>
          <p:cNvPr id="24" name="Text 20"/>
          <p:cNvSpPr txBox="1"/>
          <p:nvPr/>
        </p:nvSpPr>
        <p:spPr>
          <a:xfrm>
            <a:off x="1399946" y="61529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허구 표기</a:t>
            </a:r>
            <a:endParaRPr lang="en-US" sz="1650" dirty="0"/>
          </a:p>
        </p:txBody>
      </p:sp>
      <p:sp>
        <p:nvSpPr>
          <p:cNvPr id="25" name="Text 21"/>
          <p:cNvSpPr txBox="1"/>
          <p:nvPr/>
        </p:nvSpPr>
        <p:spPr>
          <a:xfrm>
            <a:off x="3000146" y="6105449"/>
            <a:ext cx="113751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기재 없음</a:t>
            </a:r>
            <a:endParaRPr lang="en-US" sz="1875" dirty="0"/>
          </a:p>
        </p:txBody>
      </p:sp>
      <p:sp>
        <p:nvSpPr>
          <p:cNvPr id="26" name="Text 22"/>
          <p:cNvSpPr txBox="1"/>
          <p:nvPr/>
        </p:nvSpPr>
        <p:spPr>
          <a:xfrm>
            <a:off x="11620195" y="2343607"/>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일곱 곳이 어긋났다</a:t>
            </a:r>
            <a:endParaRPr lang="en-US" sz="16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1620195" y="2952598"/>
          <a:ext cx="5524805" cy="4724705"/>
        </p:xfrm>
        <a:graphic>
          <a:graphicData uri="http://schemas.openxmlformats.org/drawingml/2006/table">
            <a:tbl>
              <a:tblPr/>
              <a:tblGrid>
                <a:gridCol w="1333195"/>
                <a:gridCol w="4190695"/>
              </a:tblGrid>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명칭</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‘신비의’는 감상어. 네 자리 규칙 위반</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연대</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단일 연도 확정. 추정에는 </a:t>
                      </a:r>
                      <a:pPr indent="0" marL="0">
                        <a:buNone/>
                      </a:pPr>
                      <a:r>
                        <a:rPr lang="en-US" sz="1650" b="1" dirty="0">
                          <a:solidFill>
                            <a:srgbClr val="17150F"/>
                          </a:solidFill>
                          <a:latin typeface="Noto Serif KR" pitchFamily="34" charset="0"/>
                          <a:ea typeface="Noto Serif KR" pitchFamily="34" charset="-122"/>
                          <a:cs typeface="Noto Serif KR" pitchFamily="34" charset="-120"/>
                        </a:rPr>
                        <a:t>폭</a:t>
                      </a:r>
                      <a:pPr indent="0" marL="0">
                        <a:buNone/>
                      </a:pPr>
                      <a:r>
                        <a:rPr lang="en-US" sz="1650" dirty="0">
                          <a:solidFill>
                            <a:srgbClr val="3A362C"/>
                          </a:solidFill>
                          <a:latin typeface="Noto Serif KR" pitchFamily="34" charset="0"/>
                          <a:ea typeface="Noto Serif KR" pitchFamily="34" charset="-122"/>
                          <a:cs typeface="Noto Serif KR" pitchFamily="34" charset="-120"/>
                        </a:rPr>
                        <a:t>이 있어야 함</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재질</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‘미지의 합금’은 검증 불가. 실재 재료여야 함</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치수</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단위 없음. 비교가 불가능</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수습</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장소·층위·동반품 모두 없음</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사용흔</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부위와 방식이 없는 </a:t>
                      </a:r>
                      <a:pPr indent="0" marL="0">
                        <a:buNone/>
                      </a:pPr>
                      <a:r>
                        <a:rPr lang="en-US" sz="1650" b="1" dirty="0">
                          <a:solidFill>
                            <a:srgbClr val="17150F"/>
                          </a:solidFill>
                          <a:latin typeface="Noto Serif KR" pitchFamily="34" charset="0"/>
                          <a:ea typeface="Noto Serif KR" pitchFamily="34" charset="-122"/>
                          <a:cs typeface="Noto Serif KR" pitchFamily="34" charset="-120"/>
                        </a:rPr>
                        <a:t>분위기 서술</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4958">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표기</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허구 표기 누락 — </a:t>
                      </a:r>
                      <a:pPr indent="0" marL="0">
                        <a:buNone/>
                      </a:pPr>
                      <a:r>
                        <a:rPr lang="en-US" sz="1650" b="1" dirty="0">
                          <a:solidFill>
                            <a:srgbClr val="9C2A1F"/>
                          </a:solidFill>
                          <a:latin typeface="Noto Serif KR" pitchFamily="34" charset="0"/>
                          <a:ea typeface="Noto Serif KR" pitchFamily="34" charset="-122"/>
                          <a:cs typeface="Noto Serif KR" pitchFamily="34" charset="-120"/>
                        </a:rPr>
                        <a:t>위조에 해당</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8" name="Shape 23"/>
          <p:cNvSpPr/>
          <p:nvPr/>
        </p:nvSpPr>
        <p:spPr>
          <a:xfrm>
            <a:off x="11620195" y="7848295"/>
            <a:ext cx="5524805" cy="2180844"/>
          </a:xfrm>
          <a:prstGeom prst="rect">
            <a:avLst/>
          </a:prstGeom>
          <a:solidFill>
            <a:srgbClr val="9C2A1F">
              <a:alpha val="6000"/>
            </a:srgbClr>
          </a:solidFill>
          <a:ln w="12700">
            <a:solidFill>
              <a:srgbClr val="9C2A1F"/>
            </a:solidFill>
            <a:prstDash val="solid"/>
          </a:ln>
        </p:spPr>
      </p:sp>
      <p:sp>
        <p:nvSpPr>
          <p:cNvPr id="29" name="Text 24"/>
          <p:cNvSpPr txBox="1"/>
          <p:nvPr/>
        </p:nvSpPr>
        <p:spPr>
          <a:xfrm>
            <a:off x="11896344" y="8048549"/>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카드로 이미지를 만들면</a:t>
            </a:r>
            <a:endParaRPr lang="en-US" sz="1575" dirty="0"/>
          </a:p>
        </p:txBody>
      </p:sp>
      <p:pic>
        <p:nvPicPr>
          <p:cNvPr id="30" name="Image 2" descr="gen-dedup-27ae280773eedb088e0c817c49142db0.png">    </p:cNvPr>
          <p:cNvPicPr>
            <a:picLocks noChangeAspect="1"/>
          </p:cNvPicPr>
          <p:nvPr/>
        </p:nvPicPr>
        <p:blipFill>
          <a:blip r:embed="rId4"/>
          <a:stretch/>
        </p:blipFill>
        <p:spPr>
          <a:xfrm>
            <a:off x="11996054" y="8467344"/>
            <a:ext cx="4773087" cy="9144"/>
          </a:xfrm>
          <a:prstGeom prst="rect">
            <a:avLst/>
          </a:prstGeom>
        </p:spPr>
      </p:pic>
      <p:sp>
        <p:nvSpPr>
          <p:cNvPr id="31" name="Text 25"/>
          <p:cNvSpPr txBox="1"/>
          <p:nvPr/>
        </p:nvSpPr>
        <p:spPr>
          <a:xfrm>
            <a:off x="11896344" y="8630107"/>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게임 아이템처럼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반짝이는 신품</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나온다. 유물로 읽히지 않는다. 정보가 없으면 이미지는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장식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채워진다.</a:t>
            </a:r>
            <a:endParaRPr lang="en-US" sz="1800" dirty="0"/>
          </a:p>
        </p:txBody>
      </p:sp>
      <p:sp>
        <p:nvSpPr>
          <p:cNvPr id="32" name="Text 26"/>
          <p:cNvSpPr txBox="1"/>
          <p:nvPr/>
        </p:nvSpPr>
        <p:spPr>
          <a:xfrm>
            <a:off x="1410005" y="9201607"/>
            <a:ext cx="9544507" cy="419710"/>
          </a:xfrm>
          <a:prstGeom prst="rect">
            <a:avLst/>
          </a:prstGeom>
          <a:noFill/>
          <a:ln/>
        </p:spPr>
        <p:txBody>
          <a:bodyPr wrap="none" lIns="0" tIns="0" rIns="0" bIns="0" rtlCol="0" anchor="ctr"/>
          <a:lstStyle/>
          <a:p>
            <a:pPr algn="l" indent="0" marL="0">
              <a:buNone/>
            </a:pPr>
            <a:r>
              <a:rPr lang="en-US" sz="2100" b="1" dirty="0">
                <a:solidFill>
                  <a:srgbClr val="17150F"/>
                </a:solidFill>
                <a:latin typeface="Noto Serif KR" pitchFamily="34" charset="0"/>
                <a:ea typeface="Noto Serif KR" pitchFamily="34" charset="-122"/>
                <a:cs typeface="Noto Serif KR" pitchFamily="34" charset="-120"/>
              </a:rPr>
              <a:t>이 카드에서 한 칸만 고칠 수 있다면 어느 칸을 고치겠습니까.</a:t>
            </a:r>
            <a:endParaRPr lang="en-US" sz="210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9d35c7734ac74ece7676aa2be7a355c4.jpg">    </p:cNvPr>
          <p:cNvPicPr>
            <a:picLocks noChangeAspect="1"/>
          </p:cNvPicPr>
          <p:nvPr/>
        </p:nvPicPr>
        <p:blipFill>
          <a:blip r:embed="rId2">
            <a:alphaModFix amt="88000"/>
          </a:blip>
          <a:stretch>
            <a:fillRect/>
          </a:stretch>
        </p:blipFill>
        <p:spPr>
          <a:xfrm>
            <a:off x="11239805" y="0"/>
            <a:ext cx="7048195" cy="10292063"/>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정리 · 핵심 발문</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07</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사물이 말하는가,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우리가 말하게 하는가</a:t>
            </a:r>
            <a:endParaRPr lang="en-US" sz="5700" dirty="0"/>
          </a:p>
        </p:txBody>
      </p:sp>
      <p:sp>
        <p:nvSpPr>
          <p:cNvPr id="10" name="Text 4"/>
          <p:cNvSpPr txBox="1"/>
          <p:nvPr/>
        </p:nvSpPr>
        <p:spPr>
          <a:xfrm>
            <a:off x="1143000" y="7181698"/>
            <a:ext cx="9240012"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세 개의 발문으로 이 차시를 닫는다. 답을 정하는 시간이 아니라,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근거를 대는 연습</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을 하는 시간이다.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정리 — 핵심 발문</a:t>
            </a:r>
            <a:endParaRPr lang="en-US" sz="165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3364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① · 흔적과 해석</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발문 1</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01</a:t>
            </a:r>
            <a:endParaRPr lang="en-US" sz="1950" dirty="0"/>
          </a:p>
        </p:txBody>
      </p:sp>
      <p:sp>
        <p:nvSpPr>
          <p:cNvPr id="7"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닳은 자리는 사실인가,</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아니면 사실처럼 읽히는 자국인가.</a:t>
            </a:r>
            <a:endParaRPr lang="en-US" sz="3900" dirty="0"/>
          </a:p>
        </p:txBody>
      </p:sp>
      <p:sp>
        <p:nvSpPr>
          <p:cNvPr id="8" name="Text 4"/>
          <p:cNvSpPr txBox="1"/>
          <p:nvPr/>
        </p:nvSpPr>
        <p:spPr>
          <a:xfrm>
            <a:off x="1143000" y="4114800"/>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15307"/>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활동 1에서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자기가 틀린 추정</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하나 인용한다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흔적이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무엇을 알려 주었고</a:t>
            </a:r>
            <a:pPr algn="l" indent="0" marL="0">
              <a:buNone/>
            </a:pPr>
            <a:r>
              <a:rPr lang="en-US" sz="1875" dirty="0">
                <a:solidFill>
                  <a:srgbClr val="3A362C"/>
                </a:solidFill>
                <a:latin typeface="Noto Serif KR" pitchFamily="34" charset="0"/>
                <a:ea typeface="Noto Serif KR" pitchFamily="34" charset="-122"/>
                <a:cs typeface="Noto Serif KR" pitchFamily="34" charset="-120"/>
              </a:rPr>
              <a:t> 무엇은 알려 주지 않았는지 나눈다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추정을 메운 것이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무엇</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이었는지 말한다 — 지식인가, 습관인가</a:t>
            </a:r>
            <a:endParaRPr lang="en-US" sz="120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3364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② · 명명의 권한</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발문 2</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02</a:t>
            </a:r>
            <a:endParaRPr lang="en-US" sz="1950" dirty="0"/>
          </a:p>
        </p:txBody>
      </p:sp>
      <p:sp>
        <p:nvSpPr>
          <p:cNvPr id="7"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이름을 붙이는 순간</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우리는 무엇을 닫아 버리는가.</a:t>
            </a:r>
            <a:endParaRPr lang="en-US" sz="3900" dirty="0"/>
          </a:p>
        </p:txBody>
      </p:sp>
      <p:sp>
        <p:nvSpPr>
          <p:cNvPr id="8" name="Text 4"/>
          <p:cNvSpPr txBox="1"/>
          <p:nvPr/>
        </p:nvSpPr>
        <p:spPr>
          <a:xfrm>
            <a:off x="1143000" y="4114800"/>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15307"/>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활동 2에서 자기가 정한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④ 기물 이름</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인용한다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이름이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배제한 다른 용도</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하나 이상 말한다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1차시 뒤샹의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명명 행위</a:t>
            </a:r>
            <a:pPr algn="l" indent="0" marL="0">
              <a:buNone/>
            </a:pPr>
            <a:r>
              <a:rPr lang="en-US" sz="1875" dirty="0">
                <a:solidFill>
                  <a:srgbClr val="3A362C"/>
                </a:solidFill>
                <a:latin typeface="Noto Serif KR" pitchFamily="34" charset="0"/>
                <a:ea typeface="Noto Serif KR" pitchFamily="34" charset="-122"/>
                <a:cs typeface="Noto Serif KR" pitchFamily="34" charset="-120"/>
              </a:rPr>
              <a:t>와 비교한다</a:t>
            </a:r>
            <a:endParaRPr lang="en-US" sz="1200" dirty="0"/>
          </a:p>
        </p:txBody>
      </p:sp>
      <p:sp>
        <p:nvSpPr>
          <p:cNvPr id="14" name="Shape 9"/>
          <p:cNvSpPr/>
          <p:nvPr/>
        </p:nvSpPr>
        <p:spPr>
          <a:xfrm>
            <a:off x="9620402" y="4114800"/>
            <a:ext cx="7524598" cy="5086807"/>
          </a:xfrm>
          <a:prstGeom prst="rect">
            <a:avLst/>
          </a:prstGeom>
          <a:solidFill>
            <a:srgbClr val="FFFFFF">
              <a:alpha val="36000"/>
            </a:srgbClr>
          </a:solidFill>
          <a:ln w="12700">
            <a:solidFill>
              <a:srgbClr val="BEB6A5"/>
            </a:solidFill>
            <a:prstDash val="solid"/>
          </a:ln>
        </p:spPr>
      </p:sp>
      <p:sp>
        <p:nvSpPr>
          <p:cNvPr id="18" name="Text 11"/>
          <p:cNvSpPr txBox="1"/>
          <p:nvPr/>
        </p:nvSpPr>
        <p:spPr>
          <a:xfrm>
            <a:off x="9620402" y="4371746"/>
            <a:ext cx="752551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되묻기는 2차시 서식 신뢰 논의로 되돌아간다.</a:t>
            </a:r>
            <a:endParaRPr lang="en-US" sz="1725"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3364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③ · 남기는 일의 책임</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발문 3</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03</a:t>
            </a:r>
            <a:endParaRPr lang="en-US" sz="1950" dirty="0"/>
          </a:p>
        </p:txBody>
      </p:sp>
      <p:sp>
        <p:nvSpPr>
          <p:cNvPr id="7"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가장 많이 남는 것이</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그 시대를 대표하게 되는 것은 정당한가.</a:t>
            </a:r>
            <a:endParaRPr lang="en-US" sz="3900" dirty="0"/>
          </a:p>
        </p:txBody>
      </p:sp>
      <p:sp>
        <p:nvSpPr>
          <p:cNvPr id="8" name="Text 4"/>
          <p:cNvSpPr txBox="1"/>
          <p:nvPr/>
        </p:nvSpPr>
        <p:spPr>
          <a:xfrm>
            <a:off x="1143000" y="4114800"/>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15307"/>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라스제의 발견 중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하나를 근거로</a:t>
            </a:r>
            <a:pPr algn="l" indent="0" marL="0">
              <a:buNone/>
            </a:pPr>
            <a:r>
              <a:rPr lang="en-US" sz="1875" dirty="0">
                <a:solidFill>
                  <a:srgbClr val="3A362C"/>
                </a:solidFill>
                <a:latin typeface="Noto Serif KR" pitchFamily="34" charset="0"/>
                <a:ea typeface="Noto Serif KR" pitchFamily="34" charset="-122"/>
                <a:cs typeface="Noto Serif KR" pitchFamily="34" charset="-120"/>
              </a:rPr>
              <a:t> 인용한다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오늘 교실에서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가장 많이 남을 물건</a:t>
            </a:r>
            <a:pPr algn="l" indent="0" marL="0">
              <a:buNone/>
            </a:pPr>
            <a:r>
              <a:rPr lang="en-US" sz="1875" dirty="0">
                <a:solidFill>
                  <a:srgbClr val="3A362C"/>
                </a:solidFill>
                <a:latin typeface="Noto Serif KR" pitchFamily="34" charset="0"/>
                <a:ea typeface="Noto Serif KR" pitchFamily="34" charset="-122"/>
                <a:cs typeface="Noto Serif KR" pitchFamily="34" charset="-120"/>
              </a:rPr>
              <a:t>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가장 중요한 물건</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각각 든다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둘이 다르다면, 그 차이가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미래의 기록에서 어떻게 왜곡</a:t>
            </a:r>
            <a:pPr algn="l" indent="0" marL="0">
              <a:buNone/>
            </a:pPr>
            <a:r>
              <a:rPr lang="en-US" sz="1875" dirty="0">
                <a:solidFill>
                  <a:srgbClr val="3A362C"/>
                </a:solidFill>
                <a:latin typeface="Noto Serif KR" pitchFamily="34" charset="0"/>
                <a:ea typeface="Noto Serif KR" pitchFamily="34" charset="-122"/>
                <a:cs typeface="Noto Serif KR" pitchFamily="34" charset="-120"/>
              </a:rPr>
              <a:t>될지 말한다</a:t>
            </a:r>
            <a:endParaRPr lang="en-US" sz="1200" dirty="0"/>
          </a:p>
        </p:txBody>
      </p:sp>
      <p:sp>
        <p:nvSpPr>
          <p:cNvPr id="14" name="Shape 9"/>
          <p:cNvSpPr/>
          <p:nvPr/>
        </p:nvSpPr>
        <p:spPr>
          <a:xfrm>
            <a:off x="9620402" y="4114800"/>
            <a:ext cx="7524598" cy="5086807"/>
          </a:xfrm>
          <a:prstGeom prst="rect">
            <a:avLst/>
          </a:prstGeom>
          <a:solidFill>
            <a:srgbClr val="FFFFFF">
              <a:alpha val="36000"/>
            </a:srgbClr>
          </a:solidFill>
          <a:ln w="12700">
            <a:solidFill>
              <a:srgbClr val="BEB6A5"/>
            </a:solidFill>
            <a:prstDash val="solid"/>
          </a:ln>
        </p:spPr>
      </p:sp>
      <p:sp>
        <p:nvSpPr>
          <p:cNvPr id="18" name="Text 11"/>
          <p:cNvSpPr txBox="1"/>
          <p:nvPr/>
        </p:nvSpPr>
        <p:spPr>
          <a:xfrm>
            <a:off x="9620402" y="4371746"/>
            <a:ext cx="7525512"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되묻기가 6차시 전시 구성으로 이어진다.</a:t>
            </a:r>
            <a:endParaRPr lang="en-US" sz="1725"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학습지 안내 · [별지 4] 유물은 어떻게 만들어지는가</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학습지</a:t>
            </a:r>
            <a:endParaRPr lang="en-US" sz="1650" dirty="0"/>
          </a:p>
        </p:txBody>
      </p:sp>
      <p:sp>
        <p:nvSpPr>
          <p:cNvPr id="5"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A4 세로 4면 · 4면이 설계 카드</a:t>
            </a:r>
            <a:endParaRPr lang="en-US" sz="34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143000" y="2266798"/>
          <a:ext cx="16002000" cy="4019702"/>
        </p:xfrm>
        <a:graphic>
          <a:graphicData uri="http://schemas.openxmlformats.org/drawingml/2006/table">
            <a:tbl>
              <a:tblPr/>
              <a:tblGrid>
                <a:gridCol w="1142935"/>
                <a:gridCol w="3238620"/>
                <a:gridCol w="2095685"/>
                <a:gridCol w="9524761"/>
              </a:tblGrid>
              <a:tr h="803940">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면</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작성 시점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기록 내용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0394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① 사물 읽기 기록지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1 · 55–70분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짝의 물건에서 관찰한 마모·광택·잔존물·수리 네 항목과 추정 문장 한 줄. 확인 후 맞았는지 여부와 결정적 흔적 표시.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0394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2면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② 명명 실습</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2 · 100–112분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교실 사물의 네 자리 명칭 초안. 모둠 검증 결과(그림 일치 여부, 삭제한 감상어)를 함께 기록.</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0394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③ 스케치와 치수</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6 · 설계 실습</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정면·측면 두 방향 스케치. 주요 치수를 단위와 함께 기입하고, 흔적 위치를 </a:t>
                      </a:r>
                      <a:pPr indent="0" marL="0">
                        <a:buNone/>
                      </a:pPr>
                      <a:r>
                        <a:rPr lang="en-US" sz="1725" b="1" dirty="0">
                          <a:solidFill>
                            <a:srgbClr val="17150F"/>
                          </a:solidFill>
                          <a:latin typeface="Noto Serif KR" pitchFamily="34" charset="0"/>
                          <a:ea typeface="Noto Serif KR" pitchFamily="34" charset="-122"/>
                          <a:cs typeface="Noto Serif KR" pitchFamily="34" charset="-120"/>
                        </a:rPr>
                        <a:t>화살표로 지시</a:t>
                      </a:r>
                      <a:pPr indent="0" marL="0">
                        <a:buNone/>
                      </a:pPr>
                      <a:r>
                        <a:rPr lang="en-US" sz="1725" dirty="0">
                          <a:solidFill>
                            <a:srgbClr val="3A362C"/>
                          </a:solidFill>
                          <a:latin typeface="Noto Serif KR" pitchFamily="34" charset="0"/>
                          <a:ea typeface="Noto Serif KR" pitchFamily="34" charset="-122"/>
                          <a:cs typeface="Noto Serif KR" pitchFamily="34" charset="-120"/>
                        </a:rPr>
                        <a:t>.</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0394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④ 유물 설계 카드</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⑤ 자기 점검표</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6 · 설계 실습</a:t>
                      </a:r>
                      <a:pPr indent="0" marL="0">
                        <a:buNone/>
                      </a:pPr>
                      <a:endParaRPr lang="en-US" sz="1200" dirty="0"/>
                    </a:p>
                    <a:p>
                      <a:pPr indent="0" marL="0">
                        <a:buNone/>
                      </a:pPr>
                      <a:r>
                        <a:rPr lang="en-US" sz="1725" dirty="0">
                          <a:solidFill>
                            <a:srgbClr val="3A362C"/>
                          </a:solidFill>
                          <a:latin typeface="Noto Serif KR" pitchFamily="34" charset="0"/>
                          <a:ea typeface="Noto Serif KR" pitchFamily="34" charset="-122"/>
                          <a:cs typeface="Noto Serif KR" pitchFamily="34" charset="-120"/>
                        </a:rPr>
                        <a:t>제출 직전</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아홉 칸 카드 본문. 하단에 여덟 개 점검 항목 체크란. </a:t>
                      </a:r>
                      <a:pPr indent="0" marL="0">
                        <a:buNone/>
                      </a:pPr>
                      <a:r>
                        <a:rPr lang="en-US" sz="1725" b="1" dirty="0">
                          <a:solidFill>
                            <a:srgbClr val="9C2A1F"/>
                          </a:solidFill>
                          <a:latin typeface="Noto Serif KR" pitchFamily="34" charset="0"/>
                          <a:ea typeface="Noto Serif KR" pitchFamily="34" charset="-122"/>
                          <a:cs typeface="Noto Serif KR" pitchFamily="34" charset="-120"/>
                        </a:rPr>
                        <a:t>5차시 필수 지참면</a:t>
                      </a:r>
                      <a:pPr indent="0" marL="0">
                        <a:buNone/>
                      </a:pPr>
                      <a:r>
                        <a:rPr lang="en-US" sz="1725" dirty="0">
                          <a:solidFill>
                            <a:srgbClr val="3A362C"/>
                          </a:solidFill>
                          <a:latin typeface="Noto Serif KR" pitchFamily="34" charset="0"/>
                          <a:ea typeface="Noto Serif KR" pitchFamily="34" charset="-122"/>
                          <a:cs typeface="Noto Serif KR" pitchFamily="34" charset="-120"/>
                        </a:rPr>
                        <a:t>.</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7125005"/>
            <a:ext cx="7810805" cy="2619756"/>
          </a:xfrm>
          <a:prstGeom prst="rect">
            <a:avLst/>
          </a:prstGeom>
          <a:solidFill>
            <a:srgbClr val="FFFFFF">
              <a:alpha val="36000"/>
            </a:srgbClr>
          </a:solidFill>
          <a:ln w="12700">
            <a:solidFill>
              <a:srgbClr val="BEB6A5"/>
            </a:solidFill>
            <a:prstDash val="solid"/>
          </a:ln>
        </p:spPr>
      </p:sp>
      <p:sp>
        <p:nvSpPr>
          <p:cNvPr id="8" name="Text 4"/>
          <p:cNvSpPr txBox="1"/>
          <p:nvPr/>
        </p:nvSpPr>
        <p:spPr>
          <a:xfrm>
            <a:off x="1419149" y="7343546"/>
            <a:ext cx="7258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학습지 서식 규격</a:t>
            </a:r>
            <a:endParaRPr lang="en-US" sz="1575" dirty="0"/>
          </a:p>
        </p:txBody>
      </p:sp>
      <p:pic>
        <p:nvPicPr>
          <p:cNvPr id="9" name="Image 1" descr="gen-dedup-33b51af9aeb2dc20dc4043b055bbdfa6.png">    </p:cNvPr>
          <p:cNvPicPr>
            <a:picLocks noChangeAspect="1"/>
          </p:cNvPicPr>
          <p:nvPr/>
        </p:nvPicPr>
        <p:blipFill>
          <a:blip r:embed="rId3"/>
          <a:stretch/>
        </p:blipFill>
        <p:spPr>
          <a:xfrm>
            <a:off x="1564698" y="7763256"/>
            <a:ext cx="6967409" cy="9144"/>
          </a:xfrm>
          <a:prstGeom prst="rect">
            <a:avLst/>
          </a:prstGeom>
        </p:spPr>
      </p:pic>
      <p:sp>
        <p:nvSpPr>
          <p:cNvPr id="10" name="Text 5"/>
          <p:cNvSpPr txBox="1"/>
          <p:nvPr/>
        </p:nvSpPr>
        <p:spPr>
          <a:xfrm>
            <a:off x="1419149" y="7925105"/>
            <a:ext cx="7258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A4 세로(210 × 297 mm) · 본문 11pt 명조 · 여백 20 mm · 상단 러닝헤드에 차시명과 학번·이름 칸 · 각 면 하단에 면 번호. 1~3차시 학습지와 동일 서식을 유지한다. 단 4면은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명제표 서식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조판해 실제 박물관 카드처럼 보이게 한다.</a:t>
            </a:r>
            <a:endParaRPr lang="en-US" sz="1800" dirty="0"/>
          </a:p>
        </p:txBody>
      </p:sp>
      <p:sp>
        <p:nvSpPr>
          <p:cNvPr id="11" name="Shape 6"/>
          <p:cNvSpPr/>
          <p:nvPr/>
        </p:nvSpPr>
        <p:spPr>
          <a:xfrm>
            <a:off x="9620402" y="7125005"/>
            <a:ext cx="7524598" cy="2619756"/>
          </a:xfrm>
          <a:prstGeom prst="rect">
            <a:avLst/>
          </a:prstGeom>
          <a:solidFill>
            <a:srgbClr val="9C2A1F">
              <a:alpha val="6000"/>
            </a:srgbClr>
          </a:solidFill>
          <a:ln w="12700">
            <a:solidFill>
              <a:srgbClr val="9C2A1F"/>
            </a:solidFill>
            <a:prstDash val="solid"/>
          </a:ln>
        </p:spPr>
      </p:sp>
      <p:sp>
        <p:nvSpPr>
          <p:cNvPr id="12" name="Text 7"/>
          <p:cNvSpPr txBox="1"/>
          <p:nvPr/>
        </p:nvSpPr>
        <p:spPr>
          <a:xfrm>
            <a:off x="9896551" y="7343546"/>
            <a:ext cx="69723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회수와 활용</a:t>
            </a:r>
            <a:endParaRPr lang="en-US" sz="1575" dirty="0"/>
          </a:p>
        </p:txBody>
      </p:sp>
      <p:pic>
        <p:nvPicPr>
          <p:cNvPr id="13" name="Image 2" descr="gen-dedup-2a8452eedcda227dc575efe2ff1276a4.png">    </p:cNvPr>
          <p:cNvPicPr>
            <a:picLocks noChangeAspect="1"/>
          </p:cNvPicPr>
          <p:nvPr/>
        </p:nvPicPr>
        <p:blipFill>
          <a:blip r:embed="rId4"/>
          <a:stretch/>
        </p:blipFill>
        <p:spPr>
          <a:xfrm>
            <a:off x="10035976" y="7763256"/>
            <a:ext cx="6693451" cy="9144"/>
          </a:xfrm>
          <a:prstGeom prst="rect">
            <a:avLst/>
          </a:prstGeom>
        </p:spPr>
      </p:pic>
      <p:sp>
        <p:nvSpPr>
          <p:cNvPr id="14" name="Text 8"/>
          <p:cNvSpPr txBox="1"/>
          <p:nvPr/>
        </p:nvSpPr>
        <p:spPr>
          <a:xfrm>
            <a:off x="9896551" y="7925105"/>
            <a:ext cx="6972300"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차시 종료 시 회수하되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3면과 4면은 복사해 돌려준다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5차시 프롬프트는 4면 카드의 문장을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그대로 옮겨</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작성하므로, 카드 없이 온 여러분은 프롬프트를 쓸 수 없다. 3면 스케치는 6차시 전시 배치 계획의 크기 근거가 된다.</a:t>
            </a:r>
            <a:endParaRPr lang="en-US" sz="1800" dirty="0"/>
          </a:p>
        </p:txBody>
      </p:sp>
      <p:sp>
        <p:nvSpPr>
          <p:cNvPr id="16" name="Text 10"/>
          <p:cNvSpPr txBox="1"/>
          <p:nvPr/>
        </p:nvSpPr>
        <p:spPr>
          <a:xfrm>
            <a:off x="1399946" y="9381744"/>
            <a:ext cx="16814902" cy="400507"/>
          </a:xfrm>
          <a:prstGeom prst="rect">
            <a:avLst/>
          </a:prstGeom>
          <a:noFill/>
          <a:ln/>
        </p:spPr>
        <p:txBody>
          <a:bodyPr wrap="none" lIns="0" tIns="0" rIns="0" bIns="0" rtlCol="0" anchor="ctr"/>
          <a:lstStyle/>
          <a:p>
            <a:pPr algn="l" indent="0" marL="0">
              <a:buNone/>
            </a:pPr>
            <a:r>
              <a:rPr lang="en-US" sz="1800" b="1" dirty="0">
                <a:solidFill>
                  <a:srgbClr val="17150F"/>
                </a:solidFill>
                <a:latin typeface="Noto Serif KR" pitchFamily="34" charset="0"/>
                <a:ea typeface="Noto Serif KR" pitchFamily="34" charset="-122"/>
                <a:cs typeface="Noto Serif KR" pitchFamily="34" charset="-120"/>
              </a:rPr>
              <a:t>4면 조판 유의</a:t>
            </a:r>
            <a:pPr algn="l" indent="0" marL="0">
              <a:buNone/>
            </a:pPr>
            <a:r>
              <a:rPr lang="en-US" sz="1800" dirty="0">
                <a:solidFill>
                  <a:srgbClr val="3A362C"/>
                </a:solidFill>
                <a:latin typeface="Noto Serif KR" pitchFamily="34" charset="0"/>
                <a:ea typeface="Noto Serif KR" pitchFamily="34" charset="-122"/>
                <a:cs typeface="Noto Serif KR" pitchFamily="34" charset="-120"/>
              </a:rPr>
              <a:t> ⑨ 허구 표기 칸은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지울 수 없는 인쇄 문구</a:t>
            </a:r>
            <a:pPr algn="l" indent="0" marL="0">
              <a:buNone/>
            </a:pPr>
            <a:r>
              <a:rPr lang="en-US" sz="1800" dirty="0">
                <a:solidFill>
                  <a:srgbClr val="3A362C"/>
                </a:solidFill>
                <a:latin typeface="Noto Serif KR" pitchFamily="34" charset="0"/>
                <a:ea typeface="Noto Serif KR" pitchFamily="34" charset="-122"/>
                <a:cs typeface="Noto Serif KR" pitchFamily="34" charset="-120"/>
              </a:rPr>
              <a:t>로 넣는다. 여러분이 빈칸으로 남기거나 생략할 수 없게 해, 표기 누락을 서식 차원에서 방지한다.</a:t>
            </a:r>
            <a:endParaRPr lang="en-US" sz="18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차시 마무리</a:t>
            </a:r>
            <a:endParaRPr lang="en-US" sz="1800" dirty="0"/>
          </a:p>
        </p:txBody>
      </p:sp>
      <p:sp>
        <p:nvSpPr>
          <p:cNvPr id="4" name="Text 1"/>
          <p:cNvSpPr txBox="1"/>
          <p:nvPr/>
        </p:nvSpPr>
        <p:spPr>
          <a:xfrm>
            <a:off x="12477902" y="629107"/>
            <a:ext cx="466801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04 · 정리</a:t>
            </a:r>
            <a:endParaRPr lang="en-US" sz="1650" dirty="0"/>
          </a:p>
        </p:txBody>
      </p:sp>
      <p:sp>
        <p:nvSpPr>
          <p:cNvPr id="5" name="Text 2"/>
          <p:cNvSpPr txBox="1"/>
          <p:nvPr/>
        </p:nvSpPr>
        <p:spPr>
          <a:xfrm>
            <a:off x="1143000" y="1466698"/>
            <a:ext cx="10668305"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오늘 남길 다섯 문장</a:t>
            </a:r>
            <a:endParaRPr lang="en-US" sz="3750" dirty="0"/>
          </a:p>
        </p:txBody>
      </p:sp>
      <p:sp>
        <p:nvSpPr>
          <p:cNvPr id="6" name="Text 3"/>
          <p:cNvSpPr txBox="1"/>
          <p:nvPr/>
        </p:nvSpPr>
        <p:spPr>
          <a:xfrm>
            <a:off x="1143000" y="2361895"/>
            <a:ext cx="10668305" cy="3300984"/>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01</a:t>
            </a:r>
            <a:pPr algn="l" indent="0" marL="0">
              <a:buNone/>
            </a:pPr>
            <a:r>
              <a:rPr lang="en-US" sz="2175" dirty="0">
                <a:solidFill>
                  <a:srgbClr val="3A362C"/>
                </a:solidFill>
                <a:latin typeface="Noto Serif KR" pitchFamily="34" charset="0"/>
                <a:ea typeface="Noto Serif KR" pitchFamily="34" charset="-122"/>
                <a:cs typeface="Noto Serif KR" pitchFamily="34" charset="-120"/>
              </a:rPr>
              <a:t>사물은 스스로 말하지 않는다. 그러나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닳은 자리</a:t>
            </a:r>
            <a:pPr algn="l" indent="0" marL="0">
              <a:buNone/>
            </a:pPr>
            <a:r>
              <a:rPr lang="en-US" sz="2175" dirty="0">
                <a:solidFill>
                  <a:srgbClr val="3A362C"/>
                </a:solidFill>
                <a:latin typeface="Noto Serif KR" pitchFamily="34" charset="0"/>
                <a:ea typeface="Noto Serif KR" pitchFamily="34" charset="-122"/>
                <a:cs typeface="Noto Serif KR" pitchFamily="34" charset="-120"/>
              </a:rPr>
              <a:t>는 행위를 기록한다.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02</a:t>
            </a:r>
            <a:pPr algn="l" indent="0" marL="0">
              <a:buNone/>
            </a:pPr>
            <a:r>
              <a:rPr lang="en-US" sz="2175" dirty="0">
                <a:solidFill>
                  <a:srgbClr val="3A362C"/>
                </a:solidFill>
                <a:latin typeface="Noto Serif KR" pitchFamily="34" charset="0"/>
                <a:ea typeface="Noto Serif KR" pitchFamily="34" charset="-122"/>
                <a:cs typeface="Noto Serif KR" pitchFamily="34" charset="-120"/>
              </a:rPr>
              <a:t>사용에 의한 흔적과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묻힌 뒤의 흔적</a:t>
            </a:r>
            <a:pPr algn="l" indent="0" marL="0">
              <a:buNone/>
            </a:pPr>
            <a:r>
              <a:rPr lang="en-US" sz="2175" dirty="0">
                <a:solidFill>
                  <a:srgbClr val="3A362C"/>
                </a:solidFill>
                <a:latin typeface="Noto Serif KR" pitchFamily="34" charset="0"/>
                <a:ea typeface="Noto Serif KR" pitchFamily="34" charset="-122"/>
                <a:cs typeface="Noto Serif KR" pitchFamily="34" charset="-120"/>
              </a:rPr>
              <a:t>은 다르다. 둘을 나누는 것이 읽기의 시작이다.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03</a:t>
            </a:r>
            <a:pPr algn="l" indent="0" marL="0">
              <a:buNone/>
            </a:pPr>
            <a:r>
              <a:rPr lang="en-US" sz="2175" dirty="0">
                <a:solidFill>
                  <a:srgbClr val="3A362C"/>
                </a:solidFill>
                <a:latin typeface="Noto Serif KR" pitchFamily="34" charset="0"/>
                <a:ea typeface="Noto Serif KR" pitchFamily="34" charset="-122"/>
                <a:cs typeface="Noto Serif KR" pitchFamily="34" charset="-120"/>
              </a:rPr>
              <a:t>사람의 말과 사물의 기록은 어긋난다.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어긋남 자체가 자료</a:t>
            </a:r>
            <a:pPr algn="l" indent="0" marL="0">
              <a:buNone/>
            </a:pPr>
            <a:r>
              <a:rPr lang="en-US" sz="2175" dirty="0">
                <a:solidFill>
                  <a:srgbClr val="3A362C"/>
                </a:solidFill>
                <a:latin typeface="Noto Serif KR" pitchFamily="34" charset="0"/>
                <a:ea typeface="Noto Serif KR" pitchFamily="34" charset="-122"/>
                <a:cs typeface="Noto Serif KR" pitchFamily="34" charset="-120"/>
              </a:rPr>
              <a:t>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04</a:t>
            </a:r>
            <a:pPr algn="l" indent="0" marL="0">
              <a:buNone/>
            </a:pPr>
            <a:r>
              <a:rPr lang="en-US" sz="2175" dirty="0">
                <a:solidFill>
                  <a:srgbClr val="3A362C"/>
                </a:solidFill>
                <a:latin typeface="Noto Serif KR" pitchFamily="34" charset="0"/>
                <a:ea typeface="Noto Serif KR" pitchFamily="34" charset="-122"/>
                <a:cs typeface="Noto Serif KR" pitchFamily="34" charset="-120"/>
              </a:rPr>
              <a:t>이름은 정보를 더하는 동시에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다른 가능성을 닫는다</a:t>
            </a:r>
            <a:pPr algn="l" indent="0" marL="0">
              <a:buNone/>
            </a:pPr>
            <a:r>
              <a:rPr lang="en-US" sz="2175" dirty="0">
                <a:solidFill>
                  <a:srgbClr val="3A362C"/>
                </a:solidFill>
                <a:latin typeface="Noto Serif KR" pitchFamily="34" charset="0"/>
                <a:ea typeface="Noto Serif KR" pitchFamily="34" charset="-122"/>
                <a:cs typeface="Noto Serif KR" pitchFamily="34" charset="-120"/>
              </a:rPr>
              <a:t>. 명명은 권한이다.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05</a:t>
            </a:r>
            <a:pPr algn="l" indent="0" marL="0">
              <a:buNone/>
            </a:pPr>
            <a:r>
              <a:rPr lang="en-US" sz="2175" dirty="0">
                <a:solidFill>
                  <a:srgbClr val="3A362C"/>
                </a:solidFill>
                <a:latin typeface="Noto Serif KR" pitchFamily="34" charset="0"/>
                <a:ea typeface="Noto Serif KR" pitchFamily="34" charset="-122"/>
                <a:cs typeface="Noto Serif KR" pitchFamily="34" charset="-120"/>
              </a:rPr>
              <a:t>유물의 설득력은 완성도가 아니라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근거의 일관성</a:t>
            </a:r>
            <a:pPr algn="l" indent="0" marL="0">
              <a:buNone/>
            </a:pPr>
            <a:r>
              <a:rPr lang="en-US" sz="2175" dirty="0">
                <a:solidFill>
                  <a:srgbClr val="3A362C"/>
                </a:solidFill>
                <a:latin typeface="Noto Serif KR" pitchFamily="34" charset="0"/>
                <a:ea typeface="Noto Serif KR" pitchFamily="34" charset="-122"/>
                <a:cs typeface="Noto Serif KR" pitchFamily="34" charset="-120"/>
              </a:rPr>
              <a:t>에서 온다.</a:t>
            </a:r>
            <a:endParaRPr lang="en-US" sz="1200" dirty="0"/>
          </a:p>
        </p:txBody>
      </p:sp>
      <p:sp>
        <p:nvSpPr>
          <p:cNvPr id="7" name="Shape 4"/>
          <p:cNvSpPr/>
          <p:nvPr/>
        </p:nvSpPr>
        <p:spPr>
          <a:xfrm>
            <a:off x="12477902" y="2361895"/>
            <a:ext cx="4667098" cy="6972300"/>
          </a:xfrm>
          <a:prstGeom prst="rect">
            <a:avLst/>
          </a:prstGeom>
          <a:solidFill>
            <a:srgbClr val="FFFFFF">
              <a:alpha val="42000"/>
            </a:srgbClr>
          </a:solidFill>
          <a:ln w="12700">
            <a:solidFill>
              <a:srgbClr val="BEB6A5"/>
            </a:solidFill>
            <a:prstDash val="solid"/>
          </a:ln>
        </p:spPr>
      </p:sp>
      <p:sp>
        <p:nvSpPr>
          <p:cNvPr id="8" name="Text 5"/>
          <p:cNvSpPr txBox="1"/>
          <p:nvPr/>
        </p:nvSpPr>
        <p:spPr>
          <a:xfrm>
            <a:off x="12715646" y="2562149"/>
            <a:ext cx="41916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만난 인물·문헌</a:t>
            </a:r>
            <a:endParaRPr lang="en-US" sz="1575" dirty="0"/>
          </a:p>
        </p:txBody>
      </p:sp>
      <p:sp>
        <p:nvSpPr>
          <p:cNvPr id="9" name="Text 6"/>
          <p:cNvSpPr txBox="1"/>
          <p:nvPr/>
        </p:nvSpPr>
        <p:spPr>
          <a:xfrm>
            <a:off x="12715646" y="3047695"/>
            <a:ext cx="77632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1973–</a:t>
            </a:r>
            <a:endParaRPr lang="en-US" sz="1650" dirty="0"/>
          </a:p>
        </p:txBody>
      </p:sp>
      <p:sp>
        <p:nvSpPr>
          <p:cNvPr id="10" name="Text 7"/>
          <p:cNvSpPr txBox="1"/>
          <p:nvPr/>
        </p:nvSpPr>
        <p:spPr>
          <a:xfrm>
            <a:off x="14315846" y="3000146"/>
            <a:ext cx="2524658"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라스제 투손 쓰레기 프로젝트</a:t>
            </a:r>
            <a:endParaRPr lang="en-US" sz="1875" dirty="0"/>
          </a:p>
        </p:txBody>
      </p:sp>
      <p:sp>
        <p:nvSpPr>
          <p:cNvPr id="11" name="Text 8"/>
          <p:cNvSpPr txBox="1"/>
          <p:nvPr/>
        </p:nvSpPr>
        <p:spPr>
          <a:xfrm>
            <a:off x="12715646" y="3847795"/>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1975</a:t>
            </a:r>
            <a:endParaRPr lang="en-US" sz="1650" dirty="0"/>
          </a:p>
        </p:txBody>
      </p:sp>
      <p:sp>
        <p:nvSpPr>
          <p:cNvPr id="12" name="Text 9"/>
          <p:cNvSpPr txBox="1"/>
          <p:nvPr/>
        </p:nvSpPr>
        <p:spPr>
          <a:xfrm>
            <a:off x="14315846" y="3800246"/>
            <a:ext cx="24670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쉬퍼 「행위연쇄 분석」</a:t>
            </a:r>
            <a:endParaRPr lang="en-US" sz="1875" dirty="0"/>
          </a:p>
        </p:txBody>
      </p:sp>
      <p:sp>
        <p:nvSpPr>
          <p:cNvPr id="13" name="Text 10"/>
          <p:cNvSpPr txBox="1"/>
          <p:nvPr/>
        </p:nvSpPr>
        <p:spPr>
          <a:xfrm>
            <a:off x="12715646" y="429127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1982</a:t>
            </a:r>
            <a:endParaRPr lang="en-US" sz="1650" dirty="0"/>
          </a:p>
        </p:txBody>
      </p:sp>
      <p:sp>
        <p:nvSpPr>
          <p:cNvPr id="14" name="Text 11"/>
          <p:cNvSpPr txBox="1"/>
          <p:nvPr/>
        </p:nvSpPr>
        <p:spPr>
          <a:xfrm>
            <a:off x="14315846" y="4243730"/>
            <a:ext cx="24579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브레이 밈브레스 사용흔 연구</a:t>
            </a:r>
            <a:endParaRPr lang="en-US" sz="1875" dirty="0"/>
          </a:p>
        </p:txBody>
      </p:sp>
      <p:sp>
        <p:nvSpPr>
          <p:cNvPr id="15" name="Text 12"/>
          <p:cNvSpPr txBox="1"/>
          <p:nvPr/>
        </p:nvSpPr>
        <p:spPr>
          <a:xfrm>
            <a:off x="12715646" y="5091379"/>
            <a:ext cx="1419149"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1983/1987</a:t>
            </a:r>
            <a:endParaRPr lang="en-US" sz="1650" dirty="0"/>
          </a:p>
        </p:txBody>
      </p:sp>
      <p:sp>
        <p:nvSpPr>
          <p:cNvPr id="16" name="Text 13"/>
          <p:cNvSpPr txBox="1"/>
          <p:nvPr/>
        </p:nvSpPr>
        <p:spPr>
          <a:xfrm>
            <a:off x="14315846" y="5043830"/>
            <a:ext cx="202722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쉬퍼 형성 과정론</a:t>
            </a:r>
            <a:endParaRPr lang="en-US" sz="1875" dirty="0"/>
          </a:p>
        </p:txBody>
      </p:sp>
      <p:sp>
        <p:nvSpPr>
          <p:cNvPr id="17" name="Text 14"/>
          <p:cNvSpPr txBox="1"/>
          <p:nvPr/>
        </p:nvSpPr>
        <p:spPr>
          <a:xfrm>
            <a:off x="12715646" y="5533949"/>
            <a:ext cx="1419149"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1986/2003</a:t>
            </a:r>
            <a:endParaRPr lang="en-US" sz="1650" dirty="0"/>
          </a:p>
        </p:txBody>
      </p:sp>
      <p:sp>
        <p:nvSpPr>
          <p:cNvPr id="18" name="Text 15"/>
          <p:cNvSpPr txBox="1"/>
          <p:nvPr/>
        </p:nvSpPr>
        <p:spPr>
          <a:xfrm>
            <a:off x="14315846" y="5486400"/>
            <a:ext cx="20098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호더 『과거 읽기』</a:t>
            </a:r>
            <a:endParaRPr lang="en-US" sz="1875" dirty="0"/>
          </a:p>
        </p:txBody>
      </p:sp>
      <p:sp>
        <p:nvSpPr>
          <p:cNvPr id="19" name="Text 16"/>
          <p:cNvSpPr txBox="1"/>
          <p:nvPr/>
        </p:nvSpPr>
        <p:spPr>
          <a:xfrm>
            <a:off x="12715646" y="5976518"/>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1988</a:t>
            </a:r>
            <a:endParaRPr lang="en-US" sz="1650" dirty="0"/>
          </a:p>
        </p:txBody>
      </p:sp>
      <p:sp>
        <p:nvSpPr>
          <p:cNvPr id="20" name="Text 17"/>
          <p:cNvSpPr txBox="1"/>
          <p:nvPr/>
        </p:nvSpPr>
        <p:spPr>
          <a:xfrm>
            <a:off x="14315846" y="5928970"/>
            <a:ext cx="24670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베넷 「전시적 복합체」</a:t>
            </a:r>
            <a:endParaRPr lang="en-US" sz="1875" dirty="0"/>
          </a:p>
        </p:txBody>
      </p:sp>
      <p:sp>
        <p:nvSpPr>
          <p:cNvPr id="21" name="Text 18"/>
          <p:cNvSpPr txBox="1"/>
          <p:nvPr/>
        </p:nvSpPr>
        <p:spPr>
          <a:xfrm>
            <a:off x="12715646" y="64200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1992</a:t>
            </a:r>
            <a:endParaRPr lang="en-US" sz="1650" dirty="0"/>
          </a:p>
        </p:txBody>
      </p:sp>
      <p:sp>
        <p:nvSpPr>
          <p:cNvPr id="22" name="Text 19"/>
          <p:cNvSpPr txBox="1"/>
          <p:nvPr/>
        </p:nvSpPr>
        <p:spPr>
          <a:xfrm>
            <a:off x="14315846" y="6372454"/>
            <a:ext cx="15435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라스제·머피 『Rubbish!』</a:t>
            </a:r>
            <a:endParaRPr lang="en-US" sz="1875" dirty="0"/>
          </a:p>
        </p:txBody>
      </p:sp>
      <p:sp>
        <p:nvSpPr>
          <p:cNvPr id="23" name="Text 20"/>
          <p:cNvSpPr txBox="1"/>
          <p:nvPr/>
        </p:nvSpPr>
        <p:spPr>
          <a:xfrm>
            <a:off x="12715646" y="72201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2012</a:t>
            </a:r>
            <a:endParaRPr lang="en-US" sz="1650" dirty="0"/>
          </a:p>
        </p:txBody>
      </p:sp>
      <p:sp>
        <p:nvSpPr>
          <p:cNvPr id="24" name="Text 21"/>
          <p:cNvSpPr txBox="1"/>
          <p:nvPr/>
        </p:nvSpPr>
        <p:spPr>
          <a:xfrm>
            <a:off x="14315846" y="7172554"/>
            <a:ext cx="221010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호더 『Entangled』</a:t>
            </a:r>
            <a:endParaRPr lang="en-US" sz="1875" dirty="0"/>
          </a:p>
        </p:txBody>
      </p:sp>
      <p:sp>
        <p:nvSpPr>
          <p:cNvPr id="25" name="Text 22"/>
          <p:cNvSpPr txBox="1"/>
          <p:nvPr/>
        </p:nvSpPr>
        <p:spPr>
          <a:xfrm>
            <a:off x="14315846" y="7529170"/>
            <a:ext cx="2695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파글렌 「마지막 사진들」</a:t>
            </a:r>
            <a:endParaRPr lang="en-US" sz="1875" dirty="0"/>
          </a:p>
        </p:txBody>
      </p:sp>
      <p:sp>
        <p:nvSpPr>
          <p:cNvPr id="26" name="Text 23"/>
          <p:cNvSpPr txBox="1"/>
          <p:nvPr/>
        </p:nvSpPr>
        <p:spPr>
          <a:xfrm>
            <a:off x="12715646" y="80202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2014</a:t>
            </a:r>
            <a:endParaRPr lang="en-US" sz="1650" dirty="0"/>
          </a:p>
        </p:txBody>
      </p:sp>
      <p:sp>
        <p:nvSpPr>
          <p:cNvPr id="27" name="Text 24"/>
          <p:cNvSpPr txBox="1"/>
          <p:nvPr/>
        </p:nvSpPr>
        <p:spPr>
          <a:xfrm>
            <a:off x="14315846" y="7972654"/>
            <a:ext cx="24579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곤살레스루이발 현대 고고학</a:t>
            </a:r>
            <a:endParaRPr lang="en-US" sz="1875" dirty="0"/>
          </a:p>
        </p:txBody>
      </p:sp>
      <p:sp>
        <p:nvSpPr>
          <p:cNvPr id="28" name="Text 25"/>
          <p:cNvSpPr txBox="1"/>
          <p:nvPr/>
        </p:nvSpPr>
        <p:spPr>
          <a:xfrm>
            <a:off x="12715646" y="88203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2016</a:t>
            </a:r>
            <a:endParaRPr lang="en-US" sz="1650" dirty="0"/>
          </a:p>
        </p:txBody>
      </p:sp>
      <p:sp>
        <p:nvSpPr>
          <p:cNvPr id="29" name="Text 26"/>
          <p:cNvSpPr txBox="1"/>
          <p:nvPr/>
        </p:nvSpPr>
        <p:spPr>
          <a:xfrm>
            <a:off x="14315846" y="8772754"/>
            <a:ext cx="22384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쉬퍼 『행위 고고학』</a:t>
            </a:r>
            <a:endParaRPr lang="en-US" sz="1875" dirty="0"/>
          </a:p>
        </p:txBody>
      </p:sp>
      <p:sp>
        <p:nvSpPr>
          <p:cNvPr id="30" name="Text 27"/>
          <p:cNvSpPr txBox="1"/>
          <p:nvPr/>
        </p:nvSpPr>
        <p:spPr>
          <a:xfrm>
            <a:off x="1410005" y="8477402"/>
            <a:ext cx="10401300" cy="952805"/>
          </a:xfrm>
          <a:prstGeom prst="rect">
            <a:avLst/>
          </a:prstGeom>
          <a:noFill/>
          <a:ln/>
        </p:spPr>
        <p:txBody>
          <a:bodyPr wrap="square" lIns="0" tIns="0" rIns="0" bIns="0" rtlCol="0" anchor="ctr"/>
          <a:lstStyle/>
          <a:p>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마지막 확인 — 내 카드의 </a:t>
            </a:r>
            <a:pPr algn="l" indent="0" marL="0">
              <a:lnSpc>
                <a:spcPts val="3744"/>
              </a:lnSpc>
              <a:buNone/>
            </a:pPr>
            <a:r>
              <a:rPr lang="en-US" sz="2400" b="1" dirty="0">
                <a:solidFill>
                  <a:srgbClr val="9C2A1F"/>
                </a:solidFill>
                <a:latin typeface="Noto Serif KR" pitchFamily="34" charset="0"/>
                <a:ea typeface="Noto Serif KR" pitchFamily="34" charset="-122"/>
                <a:cs typeface="Noto Serif KR" pitchFamily="34" charset="-120"/>
              </a:rPr>
              <a:t>⑧ 매몰 흔적</a:t>
            </a:r>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 칸이 채워져 있는가. 비어 있다면 지금 한 줄 쓴다.</a:t>
            </a:r>
            <a:endParaRPr lang="en-US" sz="2400" dirty="0"/>
          </a:p>
        </p:txBody>
      </p:sp>
      <p:sp>
        <p:nvSpPr>
          <p:cNvPr id="31" name="Text 28"/>
          <p:cNvSpPr txBox="1"/>
          <p:nvPr/>
        </p:nvSpPr>
        <p:spPr>
          <a:xfrm>
            <a:off x="1143000" y="9658807"/>
            <a:ext cx="10668305"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이 칸이 5차시에서 “새 물건처럼 보이는 이미지”를 막는 장치다.</a:t>
            </a:r>
            <a:endParaRPr lang="en-US" sz="165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08ff2ca3b8d6cc29c036071fb8f63e3b.jpg">    </p:cNvPr>
          <p:cNvPicPr>
            <a:picLocks noChangeAspect="1"/>
          </p:cNvPicPr>
          <p:nvPr/>
        </p:nvPicPr>
        <p:blipFill>
          <a:blip r:embed="rId2">
            <a:alphaModFix amt="88000"/>
          </a:blip>
          <a:stretch>
            <a:fillRect/>
          </a:stretch>
        </p:blipFill>
        <p:spPr>
          <a:xfrm>
            <a:off x="11239805" y="0"/>
            <a:ext cx="7048500"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4552798"/>
            <a:ext cx="1255292" cy="47549"/>
          </a:xfrm>
          <a:prstGeom prst="rect">
            <a:avLst/>
          </a:prstGeom>
        </p:spPr>
      </p:pic>
      <p:pic>
        <p:nvPicPr>
          <p:cNvPr id="7" name="Image 4" descr="gen-dedup-5bfc6fce3f09c4e0ffbd7a5e46dfad1b.png">    </p:cNvPr>
          <p:cNvPicPr>
            <a:picLocks noChangeAspect="1"/>
          </p:cNvPicPr>
          <p:nvPr/>
        </p:nvPicPr>
        <p:blipFill>
          <a:blip r:embed="rId4"/>
          <a:stretch/>
        </p:blipFill>
        <p:spPr>
          <a:xfrm>
            <a:off x="1333477" y="7677302"/>
            <a:ext cx="9144351" cy="9144"/>
          </a:xfrm>
          <a:prstGeom prst="rect">
            <a:avLst/>
          </a:prstGeom>
        </p:spPr>
      </p:pic>
      <p:sp>
        <p:nvSpPr>
          <p:cNvPr id="8"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다음 차시 예고</a:t>
            </a:r>
            <a:endParaRPr lang="en-US" sz="1800" dirty="0"/>
          </a:p>
        </p:txBody>
      </p:sp>
      <p:sp>
        <p:nvSpPr>
          <p:cNvPr id="9" name="Text 2"/>
          <p:cNvSpPr txBox="1"/>
          <p:nvPr/>
        </p:nvSpPr>
        <p:spPr>
          <a:xfrm>
            <a:off x="1143000" y="1867205"/>
            <a:ext cx="9525305" cy="324612"/>
          </a:xfrm>
          <a:prstGeom prst="rect">
            <a:avLst/>
          </a:prstGeom>
          <a:noFill/>
          <a:ln/>
        </p:spPr>
        <p:txBody>
          <a:bodyPr wrap="none" lIns="0" tIns="0" rIns="0" bIns="0" rtlCol="0" anchor="ctr"/>
          <a:lstStyle/>
          <a:p>
            <a:pPr algn="l" indent="0" marL="0">
              <a:buNone/>
            </a:pPr>
            <a:r>
              <a:rPr lang="en-US" sz="1725" spc="483" kern="0" dirty="0">
                <a:solidFill>
                  <a:srgbClr val="C0533F"/>
                </a:solidFill>
                <a:latin typeface="IBM Plex Mono" pitchFamily="34" charset="0"/>
                <a:ea typeface="IBM Plex Mono" pitchFamily="34" charset="-122"/>
                <a:cs typeface="IBM Plex Mono" pitchFamily="34" charset="-120"/>
              </a:rPr>
              <a:t>제 5 차시 · 120분 · 제작(AI 사용 시작)</a:t>
            </a:r>
            <a:endParaRPr lang="en-US" sz="1725" dirty="0"/>
          </a:p>
        </p:txBody>
      </p:sp>
      <p:sp>
        <p:nvSpPr>
          <p:cNvPr id="10" name="Text 3"/>
          <p:cNvSpPr txBox="1"/>
          <p:nvPr/>
        </p:nvSpPr>
        <p:spPr>
          <a:xfrm>
            <a:off x="1143000" y="2400300"/>
            <a:ext cx="9620402" cy="1562710"/>
          </a:xfrm>
          <a:prstGeom prst="rect">
            <a:avLst/>
          </a:prstGeom>
          <a:noFill/>
          <a:ln/>
        </p:spPr>
        <p:txBody>
          <a:bodyPr wrap="square" lIns="0" tIns="0" rIns="0" bIns="0" rtlCol="0" anchor="t"/>
          <a:lstStyle/>
          <a:p>
            <a:pPr algn="l" indent="0" marL="0">
              <a:lnSpc>
                <a:spcPct val="124000"/>
              </a:lnSpc>
              <a:buNone/>
            </a:pPr>
            <a:r>
              <a:rPr lang="en-US" sz="4950" b="1" spc="-99" kern="0" dirty="0">
                <a:solidFill>
                  <a:srgbClr val="E4DFD4"/>
                </a:solidFill>
                <a:latin typeface="Noto Serif KR" pitchFamily="34" charset="0"/>
                <a:ea typeface="Noto Serif KR" pitchFamily="34" charset="-122"/>
                <a:cs typeface="Noto Serif KR" pitchFamily="34" charset="-120"/>
              </a:rPr>
              <a:t>문장이 이미지를</a:t>
            </a:r>
            <a:pPr algn="l" indent="0" marL="0">
              <a:lnSpc>
                <a:spcPct val="124000"/>
              </a:lnSpc>
              <a:buNone/>
            </a:pPr>
            <a:endParaRPr lang="en-US" sz="4950" dirty="0"/>
          </a:p>
          <a:p>
            <a:pPr algn="l" indent="0" marL="0">
              <a:lnSpc>
                <a:spcPct val="124000"/>
              </a:lnSpc>
              <a:buNone/>
            </a:pPr>
            <a:r>
              <a:rPr lang="en-US" sz="4950" b="1" spc="-99" kern="0" dirty="0">
                <a:solidFill>
                  <a:srgbClr val="E4DFD4"/>
                </a:solidFill>
                <a:latin typeface="Noto Serif KR" pitchFamily="34" charset="0"/>
                <a:ea typeface="Noto Serif KR" pitchFamily="34" charset="-122"/>
                <a:cs typeface="Noto Serif KR" pitchFamily="34" charset="-120"/>
              </a:rPr>
              <a:t>결정한다</a:t>
            </a:r>
            <a:endParaRPr lang="en-US" sz="4950" dirty="0"/>
          </a:p>
        </p:txBody>
      </p:sp>
      <p:sp>
        <p:nvSpPr>
          <p:cNvPr id="11" name="Text 4"/>
          <p:cNvSpPr txBox="1"/>
          <p:nvPr/>
        </p:nvSpPr>
        <p:spPr>
          <a:xfrm>
            <a:off x="1143000" y="4953305"/>
            <a:ext cx="9525305" cy="1410005"/>
          </a:xfrm>
          <a:prstGeom prst="rect">
            <a:avLst/>
          </a:prstGeom>
          <a:noFill/>
          <a:ln/>
        </p:spPr>
        <p:txBody>
          <a:bodyPr wrap="square" lIns="0" tIns="0" rIns="0" bIns="0" rtlCol="0" anchor="ctr"/>
          <a:lstStyle/>
          <a:p>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단원에서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처음으로 생성형 AI를 사용</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한다. 오늘 만든 설계 카드의 문장을 프롬프트로 옮기고, 결과 이미지가 카드와 맞는지 검증한다. 도구를 배우는 시간이 아니라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기술한 것과 산출된 것의 차이를 읽는</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 시간이다.</a:t>
            </a:r>
            <a:endParaRPr lang="en-US" sz="2175" dirty="0"/>
          </a:p>
        </p:txBody>
      </p:sp>
      <p:sp>
        <p:nvSpPr>
          <p:cNvPr id="12" name="Text 5"/>
          <p:cNvSpPr txBox="1"/>
          <p:nvPr/>
        </p:nvSpPr>
        <p:spPr>
          <a:xfrm>
            <a:off x="1143000" y="7334402"/>
            <a:ext cx="95253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5차시 준비 사항</a:t>
            </a:r>
            <a:endParaRPr lang="en-US" sz="1650" dirty="0"/>
          </a:p>
        </p:txBody>
      </p:sp>
      <p:sp>
        <p:nvSpPr>
          <p:cNvPr id="13" name="Text 6"/>
          <p:cNvSpPr txBox="1"/>
          <p:nvPr/>
        </p:nvSpPr>
        <p:spPr>
          <a:xfrm>
            <a:off x="1143000" y="7925105"/>
            <a:ext cx="9525305" cy="1897380"/>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학습지 </a:t>
            </a:r>
            <a:pPr algn="l" indent="0" marL="0">
              <a:buNone/>
            </a:pPr>
            <a:r>
              <a:rPr lang="en-US" sz="1950" dirty="0">
                <a:solidFill>
                  <a:srgbClr val="FFFFFF"/>
                </a:solidFill>
                <a:latin typeface="Noto Serif KR" pitchFamily="34" charset="0"/>
                <a:ea typeface="Noto Serif KR" pitchFamily="34" charset="-122"/>
                <a:cs typeface="Noto Serif KR" pitchFamily="34" charset="-120"/>
              </a:rPr>
              <a:t>[별지 4] 3면·4면을 반드시 지참</a:t>
            </a:r>
            <a:pPr algn="l" indent="0" marL="0">
              <a:buNone/>
            </a:pPr>
            <a:r>
              <a:rPr lang="en-US" sz="1950" dirty="0">
                <a:solidFill>
                  <a:srgbClr val="A79E8C"/>
                </a:solidFill>
                <a:latin typeface="Noto Serif KR" pitchFamily="34" charset="0"/>
                <a:ea typeface="Noto Serif KR" pitchFamily="34" charset="-122"/>
                <a:cs typeface="Noto Serif KR" pitchFamily="34" charset="-120"/>
              </a:rPr>
              <a:t>한다 — 카드 없이는 작업이 불가능하다</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⑧ 매몰 흔적 칸이 </a:t>
            </a:r>
            <a:pPr algn="l" indent="0" marL="0">
              <a:buNone/>
            </a:pPr>
            <a:r>
              <a:rPr lang="en-US" sz="1950" dirty="0">
                <a:solidFill>
                  <a:srgbClr val="FFFFFF"/>
                </a:solidFill>
                <a:latin typeface="Noto Serif KR" pitchFamily="34" charset="0"/>
                <a:ea typeface="Noto Serif KR" pitchFamily="34" charset="-122"/>
                <a:cs typeface="Noto Serif KR" pitchFamily="34" charset="-120"/>
              </a:rPr>
              <a:t>비어 있으면 오늘 채워 둔다</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사용 도구와 계정 관련 안내는 </a:t>
            </a:r>
            <a:pPr algn="l" indent="0" marL="0">
              <a:buNone/>
            </a:pPr>
            <a:r>
              <a:rPr lang="en-US" sz="1950" dirty="0">
                <a:solidFill>
                  <a:srgbClr val="FFFFFF"/>
                </a:solidFill>
                <a:latin typeface="Noto Serif KR" pitchFamily="34" charset="0"/>
                <a:ea typeface="Noto Serif KR" pitchFamily="34" charset="-122"/>
                <a:cs typeface="Noto Serif KR" pitchFamily="34" charset="-120"/>
              </a:rPr>
              <a:t>5차시 도입에서 함께 확인</a:t>
            </a:r>
            <a:pPr algn="l" indent="0" marL="0">
              <a:buNone/>
            </a:pPr>
            <a:r>
              <a:rPr lang="en-US" sz="1950" dirty="0">
                <a:solidFill>
                  <a:srgbClr val="A79E8C"/>
                </a:solidFill>
                <a:latin typeface="Noto Serif KR" pitchFamily="34" charset="0"/>
                <a:ea typeface="Noto Serif KR" pitchFamily="34" charset="-122"/>
                <a:cs typeface="Noto Serif KR" pitchFamily="34" charset="-120"/>
              </a:rPr>
              <a:t>한다 — 미리 시도하지 않는다</a:t>
            </a:r>
            <a:endParaRPr lang="en-US" sz="1200" dirty="0"/>
          </a:p>
        </p:txBody>
      </p:sp>
      <p:sp>
        <p:nvSpPr>
          <p:cNvPr id="14" name="Text 7"/>
          <p:cNvSpPr txBox="1"/>
          <p:nvPr/>
        </p:nvSpPr>
        <p:spPr>
          <a:xfrm>
            <a:off x="1143000" y="9696298"/>
            <a:ext cx="9525305" cy="277063"/>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04 / 08 → LESSON 05 / 08</a:t>
            </a:r>
            <a:endParaRPr lang="en-US" sz="1650" dirty="0"/>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990371"/>
            <a:ext cx="16002000" cy="19050"/>
          </a:xfrm>
          <a:prstGeom prst="rect">
            <a:avLst/>
          </a:prstGeom>
        </p:spPr>
      </p:pic>
      <p:pic>
        <p:nvPicPr>
          <p:cNvPr id="3" name="Image 1" descr="gen-dedup-5a6964de565ac7af059141652be3bf5a.png">    </p:cNvPr>
          <p:cNvPicPr>
            <a:picLocks noChangeAspect="1"/>
          </p:cNvPicPr>
          <p:nvPr/>
        </p:nvPicPr>
        <p:blipFill>
          <a:blip r:embed="rId3"/>
          <a:stretch/>
        </p:blipFill>
        <p:spPr>
          <a:xfrm>
            <a:off x="1299192" y="1638605"/>
            <a:ext cx="7498421" cy="9144"/>
          </a:xfrm>
          <a:prstGeom prst="rect">
            <a:avLst/>
          </a:prstGeom>
        </p:spPr>
      </p:pic>
      <p:pic>
        <p:nvPicPr>
          <p:cNvPr id="4" name="Image 2" descr="gen-dedup-0d94430e7694d299f9cbe28c044ff9c1.png">    </p:cNvPr>
          <p:cNvPicPr>
            <a:picLocks noChangeAspect="1"/>
          </p:cNvPicPr>
          <p:nvPr/>
        </p:nvPicPr>
        <p:blipFill>
          <a:blip r:embed="rId4"/>
          <a:stretch/>
        </p:blipFill>
        <p:spPr>
          <a:xfrm>
            <a:off x="9770871" y="1638605"/>
            <a:ext cx="7223660" cy="9144"/>
          </a:xfrm>
          <a:prstGeom prst="rect">
            <a:avLst/>
          </a:prstGeom>
        </p:spPr>
      </p:pic>
      <p:sp>
        <p:nvSpPr>
          <p:cNvPr id="5" name="Text 0"/>
          <p:cNvSpPr txBox="1"/>
          <p:nvPr/>
        </p:nvSpPr>
        <p:spPr>
          <a:xfrm>
            <a:off x="1143000" y="571500"/>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출처 및 참고 문헌 · 4차시</a:t>
            </a:r>
            <a:endParaRPr lang="en-US" sz="1800" dirty="0"/>
          </a:p>
        </p:txBody>
      </p:sp>
      <p:sp>
        <p:nvSpPr>
          <p:cNvPr id="6" name="Text 1"/>
          <p:cNvSpPr txBox="1"/>
          <p:nvPr/>
        </p:nvSpPr>
        <p:spPr>
          <a:xfrm>
            <a:off x="12382805" y="571500"/>
            <a:ext cx="4763110" cy="277063"/>
          </a:xfrm>
          <a:prstGeom prst="rect">
            <a:avLst/>
          </a:prstGeom>
          <a:noFill/>
          <a:ln/>
        </p:spPr>
        <p:txBody>
          <a:bodyPr wrap="none" lIns="0" tIns="0" rIns="0" bIns="0" rtlCol="0" anchor="ctr"/>
          <a:lstStyle/>
          <a:p>
            <a:pPr algn="r" indent="0" marL="0">
              <a:buNone/>
            </a:pPr>
            <a:r>
              <a:rPr lang="en-US" sz="1500" spc="150" kern="0" dirty="0">
                <a:solidFill>
                  <a:srgbClr val="918A7A"/>
                </a:solidFill>
                <a:latin typeface="IBM Plex Mono" pitchFamily="34" charset="0"/>
                <a:ea typeface="IBM Plex Mono" pitchFamily="34" charset="-122"/>
                <a:cs typeface="IBM Plex Mono" pitchFamily="34" charset="-120"/>
              </a:rPr>
              <a:t>LESSON 04 / 08 · 출처</a:t>
            </a:r>
            <a:endParaRPr lang="en-US" sz="1500" dirty="0"/>
          </a:p>
        </p:txBody>
      </p:sp>
      <p:sp>
        <p:nvSpPr>
          <p:cNvPr id="7" name="Text 2"/>
          <p:cNvSpPr txBox="1"/>
          <p:nvPr/>
        </p:nvSpPr>
        <p:spPr>
          <a:xfrm>
            <a:off x="1143000" y="1333195"/>
            <a:ext cx="78108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문헌</a:t>
            </a:r>
            <a:endParaRPr lang="en-US" sz="1575" dirty="0"/>
          </a:p>
        </p:txBody>
      </p:sp>
      <p:sp>
        <p:nvSpPr>
          <p:cNvPr id="8" name="Text 3"/>
          <p:cNvSpPr txBox="1"/>
          <p:nvPr/>
        </p:nvSpPr>
        <p:spPr>
          <a:xfrm>
            <a:off x="1143000" y="1848002"/>
            <a:ext cx="7810805" cy="8145475"/>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Ian Hodder,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Reading the Past</a:t>
            </a:r>
            <a:pPr algn="l" indent="0" marL="0">
              <a:buNone/>
            </a:pPr>
            <a:r>
              <a:rPr lang="en-US" sz="1575" dirty="0">
                <a:solidFill>
                  <a:srgbClr val="3A362C"/>
                </a:solidFill>
                <a:latin typeface="Noto Serif KR" pitchFamily="34" charset="0"/>
                <a:ea typeface="Noto Serif KR" pitchFamily="34" charset="-122"/>
                <a:cs typeface="Noto Serif KR" pitchFamily="34" charset="-120"/>
              </a:rPr>
              <a:t>, 1986 초판 / 2003 개정 — PhilPapers 서지, 저자 사이트 ian-hodder.com 연구 소개로 확인.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575" dirty="0">
                <a:solidFill>
                  <a:srgbClr val="3A362C"/>
                </a:solidFill>
                <a:latin typeface="Noto Serif KR" pitchFamily="34" charset="0"/>
                <a:ea typeface="Noto Serif KR" pitchFamily="34" charset="-122"/>
                <a:cs typeface="Noto Serif KR" pitchFamily="34" charset="-120"/>
              </a:rPr>
              <a:t>Ian Hodder, </a:t>
            </a:r>
            <a:pPr algn="l" indent="0" marL="0">
              <a:buNone/>
            </a:pPr>
            <a:r>
              <a:rPr lang="en-US" sz="1575" i="1" dirty="0">
                <a:solidFill>
                  <a:srgbClr val="3A362C"/>
                </a:solidFill>
                <a:latin typeface="Noto Serif KR" pitchFamily="34" charset="0"/>
                <a:ea typeface="Noto Serif KR" pitchFamily="34" charset="-122"/>
                <a:cs typeface="Noto Serif KR" pitchFamily="34" charset="-120"/>
              </a:rPr>
              <a:t>Entangled</a:t>
            </a:r>
            <a:pPr algn="l" indent="0" marL="0">
              <a:buNone/>
            </a:pPr>
            <a:r>
              <a:rPr lang="en-US" sz="1575" dirty="0">
                <a:solidFill>
                  <a:srgbClr val="3A362C"/>
                </a:solidFill>
                <a:latin typeface="Noto Serif KR" pitchFamily="34" charset="0"/>
                <a:ea typeface="Noto Serif KR" pitchFamily="34" charset="-122"/>
                <a:cs typeface="Noto Serif KR" pitchFamily="34" charset="-120"/>
              </a:rPr>
              <a:t>, 2012 — 얽힘entanglement 개념. 차탈회위크 발굴 프로젝트 자료를 함께 참조.</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Michael B. Schiffer, 「Behavioral Chain Analysis」,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American Antiquity</a:t>
            </a:r>
            <a:pPr algn="l" indent="0" marL="0">
              <a:buNone/>
            </a:pPr>
            <a:r>
              <a:rPr lang="en-US" sz="1650" dirty="0">
                <a:solidFill>
                  <a:srgbClr val="3A362C"/>
                </a:solidFill>
                <a:latin typeface="Noto Serif KR" pitchFamily="34" charset="0"/>
                <a:ea typeface="Noto Serif KR" pitchFamily="34" charset="-122"/>
                <a:cs typeface="Noto Serif KR" pitchFamily="34" charset="-120"/>
              </a:rPr>
              <a:t>, 1975 — JSTOR 서지(29782476).</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Michael B. Schiffer, 「Toward the Identification of Formation Processes」, 1983 ·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Formation Processes of the Archaeological Record</a:t>
            </a:r>
            <a:pPr algn="l" indent="0" marL="0">
              <a:buNone/>
            </a:pPr>
            <a:r>
              <a:rPr lang="en-US" sz="1650" dirty="0">
                <a:solidFill>
                  <a:srgbClr val="3A362C"/>
                </a:solidFill>
                <a:latin typeface="Noto Serif KR" pitchFamily="34" charset="0"/>
                <a:ea typeface="Noto Serif KR" pitchFamily="34" charset="-122"/>
                <a:cs typeface="Noto Serif KR" pitchFamily="34" charset="-120"/>
              </a:rPr>
              <a:t>, 1987 — 공개 PDF 전문으로 확인. Bray(1982) 밈브레스 사용흔 연구는 본 논문 내 인용을 경유.</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Michael B. Schiffer,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Behavioral Archaeology: First Principles</a:t>
            </a:r>
            <a:pPr algn="l" indent="0" marL="0">
              <a:buNone/>
            </a:pPr>
            <a:r>
              <a:rPr lang="en-US" sz="1650" dirty="0">
                <a:solidFill>
                  <a:srgbClr val="3A362C"/>
                </a:solidFill>
                <a:latin typeface="Noto Serif KR" pitchFamily="34" charset="0"/>
                <a:ea typeface="Noto Serif KR" pitchFamily="34" charset="-122"/>
                <a:cs typeface="Noto Serif KR" pitchFamily="34" charset="-120"/>
              </a:rPr>
              <a:t>, Routledge, 2016 — Archive.org 서지, Springer 개요.</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William L. Rathje &amp; Cullen Murphy,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Rubbish!: The Archaeology of Garbage</a:t>
            </a:r>
            <a:pPr algn="l" indent="0" marL="0">
              <a:buNone/>
            </a:pPr>
            <a:r>
              <a:rPr lang="en-US" sz="1650" dirty="0">
                <a:solidFill>
                  <a:srgbClr val="3A362C"/>
                </a:solidFill>
                <a:latin typeface="Noto Serif KR" pitchFamily="34" charset="0"/>
                <a:ea typeface="Noto Serif KR" pitchFamily="34" charset="-122"/>
                <a:cs typeface="Noto Serif KR" pitchFamily="34" charset="-120"/>
              </a:rPr>
              <a:t>, 1992 — 투손 쓰레기 프로젝트 백과 항목, Archaeology Southwest 기록, 스탠퍼드 Garbology 자료.</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Alfredo González-Ruibal,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An Archaeology of the Contemporary Past</a:t>
            </a:r>
            <a:pPr algn="l" indent="0" marL="0">
              <a:buNone/>
            </a:pPr>
            <a:r>
              <a:rPr lang="en-US" sz="1650" dirty="0">
                <a:solidFill>
                  <a:srgbClr val="3A362C"/>
                </a:solidFill>
                <a:latin typeface="Noto Serif KR" pitchFamily="34" charset="0"/>
                <a:ea typeface="Noto Serif KR" pitchFamily="34" charset="-122"/>
                <a:cs typeface="Noto Serif KR" pitchFamily="34" charset="-120"/>
              </a:rPr>
              <a:t>, Pearson, 2014 — 현대 물질문화로의 확장.</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Tony Bennett, 「The Exhibitionary Complex」,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New Formations</a:t>
            </a:r>
            <a:pPr algn="l" indent="0" marL="0">
              <a:buNone/>
            </a:pPr>
            <a:r>
              <a:rPr lang="en-US" sz="1650" dirty="0">
                <a:solidFill>
                  <a:srgbClr val="3A362C"/>
                </a:solidFill>
                <a:latin typeface="Noto Serif KR" pitchFamily="34" charset="0"/>
                <a:ea typeface="Noto Serif KR" pitchFamily="34" charset="-122"/>
                <a:cs typeface="Noto Serif KR" pitchFamily="34" charset="-120"/>
              </a:rPr>
              <a:t> No. 4, 1988 — 저널 공개 원문.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Trevor Paglen,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The Last Pictures</a:t>
            </a:r>
            <a:pPr algn="l" indent="0" marL="0">
              <a:buNone/>
            </a:pPr>
            <a:r>
              <a:rPr lang="en-US" sz="1650" dirty="0">
                <a:solidFill>
                  <a:srgbClr val="3A362C"/>
                </a:solidFill>
                <a:latin typeface="Noto Serif KR" pitchFamily="34" charset="0"/>
                <a:ea typeface="Noto Serif KR" pitchFamily="34" charset="-122"/>
                <a:cs typeface="Noto Serif KR" pitchFamily="34" charset="-120"/>
              </a:rPr>
              <a:t>, University of California Press, 2012 — Creative Time 프로젝트 페이지, paglen.studio, e-flux journal #37 인터뷰.</a:t>
            </a:r>
            <a:endParaRPr lang="en-US" sz="1200" dirty="0"/>
          </a:p>
        </p:txBody>
      </p:sp>
      <p:sp>
        <p:nvSpPr>
          <p:cNvPr id="9" name="Text 4"/>
          <p:cNvSpPr txBox="1"/>
          <p:nvPr/>
        </p:nvSpPr>
        <p:spPr>
          <a:xfrm>
            <a:off x="9620402" y="1333195"/>
            <a:ext cx="752551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기관 소장 기록 및 도판 출처</a:t>
            </a:r>
            <a:endParaRPr lang="en-US" sz="1575" dirty="0"/>
          </a:p>
        </p:txBody>
      </p:sp>
      <p:sp>
        <p:nvSpPr>
          <p:cNvPr id="10" name="Text 5"/>
          <p:cNvSpPr txBox="1"/>
          <p:nvPr/>
        </p:nvSpPr>
        <p:spPr>
          <a:xfrm>
            <a:off x="9620402" y="1848002"/>
            <a:ext cx="7525512" cy="6889090"/>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4—03</a:t>
            </a:r>
            <a:pPr algn="l" indent="0" marL="0">
              <a:buNone/>
            </a:pPr>
            <a:r>
              <a:rPr lang="en-US" sz="1650" dirty="0">
                <a:solidFill>
                  <a:srgbClr val="3A362C"/>
                </a:solidFill>
                <a:latin typeface="Noto Serif KR" pitchFamily="34" charset="0"/>
                <a:ea typeface="Noto Serif KR" pitchFamily="34" charset="-122"/>
                <a:cs typeface="Noto Serif KR" pitchFamily="34" charset="-120"/>
              </a:rPr>
              <a:t> 차탈회위크 발굴 현장 — 연구 프로젝트 공식 사이트 catalhoyuk.com, 저자 사이트 ian-hodder.com, Cabinet Magazine 「Neolithic Joy」 인터뷰.</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4—04</a:t>
            </a:r>
            <a:pPr algn="l" indent="0" marL="0">
              <a:buNone/>
            </a:pPr>
            <a:r>
              <a:rPr lang="en-US" sz="1650" dirty="0">
                <a:solidFill>
                  <a:srgbClr val="3A362C"/>
                </a:solidFill>
                <a:latin typeface="Noto Serif KR" pitchFamily="34" charset="0"/>
                <a:ea typeface="Noto Serif KR" pitchFamily="34" charset="-122"/>
                <a:cs typeface="Noto Serif KR" pitchFamily="34" charset="-120"/>
              </a:rPr>
              <a:t> 석기 표면 사용흔 검출 — Nature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Scientific Reports</a:t>
            </a:r>
            <a:pPr algn="l" indent="0" marL="0">
              <a:buNone/>
            </a:pPr>
            <a:r>
              <a:rPr lang="en-US" sz="1650" dirty="0">
                <a:solidFill>
                  <a:srgbClr val="3A362C"/>
                </a:solidFill>
                <a:latin typeface="Noto Serif KR" pitchFamily="34" charset="0"/>
                <a:ea typeface="Noto Serif KR" pitchFamily="34" charset="-122"/>
                <a:cs typeface="Noto Serif KR" pitchFamily="34" charset="-120"/>
              </a:rPr>
              <a:t> 「Optimization of use-wear detection and characterization on stone tool surfaces」 수록 도판.</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4—05</a:t>
            </a:r>
            <a:pPr algn="l" indent="0" marL="0">
              <a:buNone/>
            </a:pPr>
            <a:r>
              <a:rPr lang="en-US" sz="1650" dirty="0">
                <a:solidFill>
                  <a:srgbClr val="3A362C"/>
                </a:solidFill>
                <a:latin typeface="Noto Serif KR" pitchFamily="34" charset="0"/>
                <a:ea typeface="Noto Serif KR" pitchFamily="34" charset="-122"/>
                <a:cs typeface="Noto Serif KR" pitchFamily="34" charset="-120"/>
              </a:rPr>
              <a:t> 쓰레기 분류 작업 — 쓰레기 고고학(garbology) 교육 자료 도판. 라스제 투손 프로젝트 관련 공개 자료.</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4—06</a:t>
            </a:r>
            <a:pPr algn="l" indent="0" marL="0">
              <a:buNone/>
            </a:pPr>
            <a:r>
              <a:rPr lang="en-US" sz="1650" dirty="0">
                <a:solidFill>
                  <a:srgbClr val="3A362C"/>
                </a:solidFill>
                <a:latin typeface="Noto Serif KR" pitchFamily="34" charset="0"/>
                <a:ea typeface="Noto Serif KR" pitchFamily="34" charset="-122"/>
                <a:cs typeface="Noto Serif KR" pitchFamily="34" charset="-120"/>
              </a:rPr>
              <a:t> 전시 명제표 — 명제표 제작 실무 자료 도판. 항목 구성은 국립중앙박물관 소장품 정보 서식을 참조.</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4—07</a:t>
            </a:r>
            <a:pPr algn="l" indent="0" marL="0">
              <a:buNone/>
            </a:pPr>
            <a:r>
              <a:rPr lang="en-US" sz="1650" dirty="0">
                <a:solidFill>
                  <a:srgbClr val="3A362C"/>
                </a:solidFill>
                <a:latin typeface="Noto Serif KR" pitchFamily="34" charset="0"/>
                <a:ea typeface="Noto Serif KR" pitchFamily="34" charset="-122"/>
                <a:cs typeface="Noto Serif KR" pitchFamily="34" charset="-120"/>
              </a:rPr>
              <a:t> 청자 상감 운학문 매병 — 국립중앙박물관 소장품 검색, 국가유산포털. 명명 관례는 국립중앙박물관 고려청자 전시 영문 설명(sculpted celadon), Smarthistory 「Korean celadons of the Goryeo dynasty」, IJKAA 상형청자 연구로 확인.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4—08</a:t>
            </a:r>
            <a:pPr algn="l" indent="0" marL="0">
              <a:buNone/>
            </a:pPr>
            <a:r>
              <a:rPr lang="en-US" sz="1650" dirty="0">
                <a:solidFill>
                  <a:srgbClr val="3A362C"/>
                </a:solidFill>
                <a:latin typeface="Noto Serif KR" pitchFamily="34" charset="0"/>
                <a:ea typeface="Noto Serif KR" pitchFamily="34" charset="-122"/>
                <a:cs typeface="Noto Serif KR" pitchFamily="34" charset="-120"/>
              </a:rPr>
              <a:t> 파글렌 「마지막 사진들」 — Creative Time, paglen.studio, e-flux journal #37.</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4—09</a:t>
            </a:r>
            <a:pPr algn="l" indent="0" marL="0">
              <a:buNone/>
            </a:pPr>
            <a:r>
              <a:rPr lang="en-US" sz="1650" dirty="0">
                <a:solidFill>
                  <a:srgbClr val="3A362C"/>
                </a:solidFill>
                <a:latin typeface="Noto Serif KR" pitchFamily="34" charset="0"/>
                <a:ea typeface="Noto Serif KR" pitchFamily="34" charset="-122"/>
                <a:cs typeface="Noto Serif KR" pitchFamily="34" charset="-120"/>
              </a:rPr>
              <a:t> 핵폐기물 처분장 장기 표지 — 공개 보도 및 전시 자료. 아래 미확인 항목 참조.</a:t>
            </a:r>
            <a:endParaRPr lang="en-US" sz="1200" dirty="0"/>
          </a:p>
        </p:txBody>
      </p:sp>
      <p:sp>
        <p:nvSpPr>
          <p:cNvPr id="11" name="Shape 6"/>
          <p:cNvSpPr/>
          <p:nvPr/>
        </p:nvSpPr>
        <p:spPr>
          <a:xfrm>
            <a:off x="1143000" y="7677302"/>
            <a:ext cx="7810805" cy="2247595"/>
          </a:xfrm>
          <a:prstGeom prst="rect">
            <a:avLst/>
          </a:prstGeom>
          <a:solidFill>
            <a:srgbClr val="9C2A1F">
              <a:alpha val="6000"/>
            </a:srgbClr>
          </a:solidFill>
          <a:ln w="12700">
            <a:solidFill>
              <a:srgbClr val="9C2A1F"/>
            </a:solidFill>
            <a:prstDash val="solid"/>
          </a:ln>
        </p:spPr>
      </p:sp>
      <p:sp>
        <p:nvSpPr>
          <p:cNvPr id="12" name="Text 7"/>
          <p:cNvSpPr txBox="1"/>
          <p:nvPr/>
        </p:nvSpPr>
        <p:spPr>
          <a:xfrm>
            <a:off x="1362456" y="7839151"/>
            <a:ext cx="7372807" cy="1924812"/>
          </a:xfrm>
          <a:prstGeom prst="rect">
            <a:avLst/>
          </a:prstGeom>
          <a:noFill/>
          <a:ln/>
        </p:spPr>
        <p:txBody>
          <a:bodyPr wrap="square" lIns="0" tIns="0" rIns="0" bIns="0" rtlCol="0" anchor="ctr"/>
          <a:lstStyle/>
          <a:p>
            <a:pPr algn="l" indent="0" marL="0">
              <a:lnSpc>
                <a:spcPts val="2520"/>
              </a:lnSpc>
              <a:buNone/>
            </a:pPr>
            <a:r>
              <a:rPr lang="en-US" sz="1575" b="1" dirty="0">
                <a:solidFill>
                  <a:srgbClr val="9C2A1F"/>
                </a:solidFill>
                <a:latin typeface="Noto Serif KR" pitchFamily="34" charset="0"/>
                <a:ea typeface="Noto Serif KR" pitchFamily="34" charset="-122"/>
                <a:cs typeface="Noto Serif KR" pitchFamily="34" charset="-120"/>
              </a:rPr>
              <a:t>미확인 항목 표기</a:t>
            </a:r>
            <a:pPr algn="l" indent="0" marL="0">
              <a:lnSpc>
                <a:spcPts val="2520"/>
              </a:lnSpc>
              <a:buNone/>
            </a:pPr>
            <a:r>
              <a:rPr lang="en-US" sz="1575" dirty="0">
                <a:solidFill>
                  <a:srgbClr val="3A362C"/>
                </a:solidFill>
                <a:latin typeface="Noto Serif KR" pitchFamily="34" charset="0"/>
                <a:ea typeface="Noto Serif KR" pitchFamily="34" charset="-122"/>
                <a:cs typeface="Noto Serif KR" pitchFamily="34" charset="-120"/>
              </a:rPr>
              <a:t> ① 핵폐기물 표지 설계의 핵 기호학nuclear semiotics 연구, ② 롱나우 재단 10,000년 시계 프로젝트, ③ Susan Crane 『Museums and Memory』(2000)와 Eilean Hooper-Greenhill의 소통적 전환 논의, ④ 박물관화musealization 논쟁의 1차 학술 인용은 본 자료에서 </a:t>
            </a:r>
            <a:pPr algn="l" indent="0" marL="0">
              <a:lnSpc>
                <a:spcPts val="2520"/>
              </a:lnSpc>
              <a:buNone/>
            </a:pPr>
            <a:r>
              <a:rPr lang="en-US" sz="1575" b="1" dirty="0">
                <a:solidFill>
                  <a:srgbClr val="17150F"/>
                </a:solidFill>
                <a:latin typeface="Noto Serif KR" pitchFamily="34" charset="0"/>
                <a:ea typeface="Noto Serif KR" pitchFamily="34" charset="-122"/>
                <a:cs typeface="Noto Serif KR" pitchFamily="34" charset="-120"/>
              </a:rPr>
              <a:t>개요 수준</a:t>
            </a:r>
            <a:pPr algn="l" indent="0" marL="0">
              <a:lnSpc>
                <a:spcPts val="2520"/>
              </a:lnSpc>
              <a:buNone/>
            </a:pPr>
            <a:r>
              <a:rPr lang="en-US" sz="1575" dirty="0">
                <a:solidFill>
                  <a:srgbClr val="3A362C"/>
                </a:solidFill>
                <a:latin typeface="Noto Serif KR" pitchFamily="34" charset="0"/>
                <a:ea typeface="Noto Serif KR" pitchFamily="34" charset="-122"/>
                <a:cs typeface="Noto Serif KR" pitchFamily="34" charset="-120"/>
              </a:rPr>
              <a:t>으로만 사용하며, 학생 배포 자료에는 인용하지 않는다. ⑤ Bray(1982) 원문은 쉬퍼의 인용을 경유해 확인한 것이므로, 원 논문 확인 후 서지를 보완한다.</a:t>
            </a:r>
            <a:endParaRPr lang="en-US" sz="1575" dirty="0"/>
          </a:p>
        </p:txBody>
      </p:sp>
      <p:sp>
        <p:nvSpPr>
          <p:cNvPr id="14" name="Text 9"/>
          <p:cNvSpPr txBox="1"/>
          <p:nvPr/>
        </p:nvSpPr>
        <p:spPr>
          <a:xfrm>
            <a:off x="9620402" y="9163202"/>
            <a:ext cx="7525512" cy="648310"/>
          </a:xfrm>
          <a:prstGeom prst="rect">
            <a:avLst/>
          </a:prstGeom>
          <a:noFill/>
          <a:ln/>
        </p:spPr>
        <p:txBody>
          <a:bodyPr wrap="square" lIns="0" tIns="0" rIns="0" bIns="0" rtlCol="0" anchor="ctr"/>
          <a:lstStyle/>
          <a:p>
            <a:pPr algn="l" indent="0" marL="0">
              <a:lnSpc>
                <a:spcPts val="2520"/>
              </a:lnSpc>
              <a:buNone/>
            </a:pPr>
            <a:r>
              <a:rPr lang="en-US" sz="1575" b="1" dirty="0">
                <a:solidFill>
                  <a:srgbClr val="17150F"/>
                </a:solidFill>
                <a:latin typeface="Noto Serif KR" pitchFamily="34" charset="0"/>
                <a:ea typeface="Noto Serif KR" pitchFamily="34" charset="-122"/>
                <a:cs typeface="Noto Serif KR" pitchFamily="34" charset="-120"/>
              </a:rPr>
              <a:t>수업 운영상 주의</a:t>
            </a:r>
            <a:pPr algn="l" indent="0" marL="0">
              <a:lnSpc>
                <a:spcPts val="2520"/>
              </a:lnSpc>
              <a:buNone/>
            </a:pPr>
            <a:r>
              <a:rPr lang="en-US" sz="1575" dirty="0">
                <a:solidFill>
                  <a:srgbClr val="3A362C"/>
                </a:solidFill>
                <a:latin typeface="Noto Serif KR" pitchFamily="34" charset="0"/>
                <a:ea typeface="Noto Serif KR" pitchFamily="34" charset="-122"/>
                <a:cs typeface="Noto Serif KR" pitchFamily="34" charset="-120"/>
              </a:rPr>
              <a:t> 설계 단계에서 실존 인물의 유품이나 실제 재난·사고를 연상시키는 사물을 소재로 삼지 않도록 안내한다. 3차시 재현 윤리 논의를 근거로 제시한다.</a:t>
            </a:r>
            <a:endParaRPr lang="en-US" sz="15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2026-08-25T01:53:10Z</dcterms:created>
  <dcterms:modified xsi:type="dcterms:W3CDTF">2026-08-25T01:53:10Z</dcterms:modified>
</cp:coreProperties>
</file>