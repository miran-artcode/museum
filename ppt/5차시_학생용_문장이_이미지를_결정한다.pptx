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2" r:id="rId53"/>
    <p:sldId id="303" r:id="rId54"/>
    <p:sldId id="304" r:id="rId55"/>
    <p:sldId id="305" r:id="rId56"/>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5차시입니다. 오늘 처음으로 생성형 AI를 사용합니다. 그 전에 사진이 왜 믿기는지, 그 믿음이 어디에서 오는지 확인합니다. 4차시 설계 카드를 프롬프트로 옮기고 결과가 카드와 맞는지 검증합니다. 도구를 배우는 시간이 아니고, 내가 쓴 문장과 나온 화면의 차이를 읽는 시간입니다.</a:t>
            </a:r>
          </a:p>
          <a:p>
            <a:r>
              <a:rPr lang="ko-KR" dirty="0"/>
              <a:t>오른쪽은 1863년 알렉산더 가드너가 게티스버그에서 찍은 사진입니다. 오랫동안 전쟁의 기록으로 쓰였습니다. 이 사진에 어떤 일이 있었는지 도입에서 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다섯입니다. 사진이 신뢰를 얻는 근거를 지표성으로 설명하기. 사진 조작의 역사적 사례를 들어 기계 이미지의 진실 주장이 사회적으로 조정된다는 점을 말하기. 설계 카드의 항목을 검증 가능한 프롬프트 문장으로 변환하기. 생성 결과를 카드와 대조 검증하고 재작성 지점을 판단하기. AI 생성물의 저자성 논의를 근거를 들어 설명하기.</a:t>
            </a:r>
          </a:p>
          <a:p>
            <a:r>
              <a:rPr lang="ko-KR" dirty="0"/>
              <a:t>오늘의 산출물은 이미지 한 점과 세 번의 프롬프트 기록입니다. 준비물은 4차시 카드, 학습지 5, 그리고 안내한 도구 계정입니다.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4차시를 회상하고 가드너 사진을 두고 이 사진은 사실입니까를 묻습니다. 전개 1은 지표성으로 바르트, 퍼스, 크라우스입니다. 전개 2는 조작의 역사로 가드너, 카파, 업계 규정입니다. 전개 3은 기계 이미지 논쟁으로 벤야민, 버거, 미첼, 거닝입니다. 전개 4가 AI 사용 시작으로 40분입니다. 전개 5는 저자성이고 법과 판례를 봅니다.</a:t>
            </a:r>
          </a:p>
          <a:p>
            <a:r>
              <a:rPr lang="ko-KR" dirty="0"/>
              <a:t>생성 시간이 길어지면 전개 5가 사라집니다. 1인 3회로 상한을 정합니다. 마음에 들지 않아도 검증 단계로 넘어갑니다. 재생성은 6차시 도입에서 허용합니다.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카드에 이미 답이 적혀 있습니다. 오늘 우리는 새로 상상하지 않습니다. 4차시에 쓴 카드의 문장을 이미지가 알아들을 수 있는 형태로 옮깁니다. 카드가 설계도이고 프롬프트는 그 설계도의 번역입니다.</a:t>
            </a:r>
          </a:p>
          <a:p>
            <a:r>
              <a:rPr lang="ko-KR" dirty="0"/>
              <a:t>1차시에서 선택과 명명과 전시가 미술의 권한임을 확인했습니다. 2차시에서 미술은 제도가 승인하며 허구는 표기로만 비평이 된다는 것을 확인했습니다. 3차시에서 보여 주는 방식이 누구의 시선을 전제하는지 확인했습니다. 4차시에서 흔적이 행위를 기록한다는 것을 확인하고 카드를 썼습니다.</a:t>
            </a:r>
          </a:p>
          <a:p>
            <a:r>
              <a:rPr lang="ko-KR" dirty="0"/>
              <a:t>지참물 점검 3분입니다. 짝과 카드를 교환해 아홉 칸이 다 채워졌는지, 매몰 흔적 칸이 비어 있지 않은지 확인합니다.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 사진은 사실입니까. 1863년 게티스버그. 알렉산더 가드너가 촬영한 이 사진은 오랫동안 전쟁의 참상을 증언하는 기록으로 쓰였습니다. 그런데 1961년 한 연구자가 같은 시신이 다른 위치에서도 촬영되었다는 사실을 확인했습니다. 시신은 약 40야드 옮겨졌고 소총은 따로 놓인 것이었습니다.</a:t>
            </a:r>
          </a:p>
          <a:p>
            <a:r>
              <a:rPr lang="ko-KR" dirty="0"/>
              <a:t>순서대로 묻습니다. 답을 정하지 않습니다. 첫째, 이 사람은 실제로 죽었습니다. 그럼 이 사진은 거짓입니까. 둘째, 촬영자가 옮긴 것은 사실이 아니고 위치입니다. 그것도 조작입니까. 셋째, 오늘 우리가 만들 이미지에는 시신도 소총도 카메라도 없습니다. 그것은 이 사진보다 더 거짓입니까, 덜 거짓입니까.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사진이 그림보다 믿기는 이유는 잘 그렸기 때문이 아닙니다. 대상에서 나온 빛이 실제로 감광면에 닿았다는 물리적 연결 때문입니다. 이 연결을 이론은 지표성이라 부릅니다.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롤랑 바르트의 『밝은 방』, 1980년, 저자의 마지막 책입니다. 사진의 노에마는 그것은-존재했음이다. 노에마는 본질이라는 뜻의 철학 용어입니다. 바르트는 사진이 말하는 단 하나의 문장이 그것이 거기 있었다라고 보았습니다.</a:t>
            </a:r>
          </a:p>
          <a:p>
            <a:r>
              <a:rPr lang="ko-KR" dirty="0"/>
              <a:t>그림은 없는 것을 그릴 수 있습니다. 사진은 카메라 앞에 있던 것만 찍습니다. 그래서 사진 한 장은 언제나 과거의 어느 순간에 그 대상이 존재했음을 증언합니다. 이 증언이 사진의 힘이고 신문과 재판이 사진을 쓰는 이유입니다.</a:t>
            </a:r>
          </a:p>
          <a:p>
            <a:r>
              <a:rPr lang="ko-KR" dirty="0"/>
              <a:t>우리 이미지에는 이 문장이 없습니다. 거기 아무것도 없었습니다. 그런데도 사진처럼 읽힙니다. 왜 그런지가 오늘 전개 1의 결론입니다.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바르트는 사진을 보는 경험을 두 층으로 나눴습니다. 스투디움은 사진의 대상에 대해 문화적으로 반응하게 만드는 일반적 흥미입니다. 배워서 알 수 있는 층입니다. 가드너 사진에서 이것은 남북전쟁이다, 저격병이다, 게티스버그다가 스투디움입니다. 푼크툼은 예기치 않게 찔리는 순간입니다. 배울 수 없고 사람마다 다릅니다. 가드너 사진에서 어떤 사람은 벗겨진 신발에, 어떤 사람은 손의 위치에 찔립니다.</a:t>
            </a:r>
          </a:p>
          <a:p>
            <a:r>
              <a:rPr lang="ko-KR" dirty="0"/>
              <a:t>우리 전시에서 작품 캡션과 수습 경위는 스투디움을 만듭니다. 관람자가 배워서 읽는 층입니다. 푼크툼은 우리가 만들 수 없습니다. 흔적의 어느 부분이 관람자를 찌를지는 관람자가 정합니다. 8차시에 관람 기록에서 이것을 확인합니다.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퍼스의 기호 삼분법입니다. 닮음, 연결, 약속. 기호가 대상과 성질의 공통성으로 연결되면 도상입니다. 그림, 지도, 초상. 기호와 대상 사이에 실제 연결이 있으면 지표입니다. 발자국, 연기, 그림자, 사진. 부여된 성격으로 연결되면 상징입니다. 글자, 신호등, 국기.</a:t>
            </a:r>
          </a:p>
          <a:p>
            <a:r>
              <a:rPr lang="ko-KR" dirty="0"/>
              <a:t>사진은 지표이면서 도상입니다. 대상을 닮았고 동시에 대상의 빛이 실제로 닿았습니다. 우리 생성 이미지는 도상이지만 지표가 아닙니다. 닮았지만 연결이 없습니다. 학습지 5의 1번에서 여러 이미지를 세 유형으로 분류해 봅니다. 사진, 그림, 생성 이미지, 지문, 기념비.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로절린드 크라우스의 「지표에 관한 노트」, 1977년입니다. 크라우스는 퍼스의 지표 개념을 1970년대 미국 미술 분석에 끌어왔습니다. 그가 주목한 것은 회화적 재현이 아니고 물리적 접촉이 남긴 것들이었습니다. 주조, 그림자, 자국, 프로타주, 그리고 사진.</a:t>
            </a:r>
          </a:p>
          <a:p>
            <a:r>
              <a:rPr lang="ko-KR" dirty="0"/>
              <a:t>1970년대 작가들은 무언가를 그리는 대신 무언가가 닿은 자국을 작품으로 삼았습니다. 몸을 종이에 찍고, 그림자를 벽에 남기고, 바닥을 문질렀습니다. 크라우스는 이 흐름을 지표의 미술이라 불렀습니다.</a:t>
            </a:r>
          </a:p>
          <a:p>
            <a:r>
              <a:rPr lang="ko-KR" dirty="0"/>
              <a:t>4차시에서 배운 사용흔이 바로 지표입니다. 닳은 자리는 손이 닿았다는 지표입니다. 우리 이미지에는 지표가 없지만, 우리는 지표처럼 보이는 흔적을 설계합니다. 이 차이를 분명히 알고 시작합니다.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믿음은 어디에서 오는가. 세 겹의 신뢰입니다. 물리적 층은 대상에서 나온 빛이 감광면에 실제로 닿았다는 것입니다. 사진에는 있고 우리 AI 이미지에는 없습니다. 형식적 층은 사진처럼 보이는 해상도, 심도, 조명, 색조입니다. 사진에도 있고 우리 이미지도 모방할 수 있습니다. 제도적 층은 작품 캡션, 유물번호, 소장 기관 등 서식이 주는 권위입니다. 사진에도 있고 우리 이미지도 2차시에서 확인했듯 갖출 수 있습니다.</a:t>
            </a:r>
          </a:p>
          <a:p>
            <a:r>
              <a:rPr lang="ko-KR" dirty="0"/>
              <a:t>우리 이미지는 첫 층 없이 두 층으로 믿음을 만듭니다. 그래서 허구 표기가 필요합니다. 첫 층이 없다는 사실을 관람자에게 알려야 하기 때문입니다.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사진은 발명된 순간부터 연출되고 편집되었습니다. 조작은 AI와 함께 오지 않았습니다. 그렇다면 어디까지가 편집이고 어디부터가 조작일까요. 이 선을 우리 손으로 그어 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가드너의 「반란군 저격병의 집」, 1863년입니다. 시카고 미술관과 미국 의회도서관 남북전쟁 유리 원판 컬렉션에 있습니다. 1961년 한 기사에서 시신 이동 사실이 처음 지적되었습니다.</a:t>
            </a:r>
          </a:p>
          <a:p>
            <a:r>
              <a:rPr lang="ko-KR" dirty="0"/>
              <a:t>첫째, 이 장면에서 연출로 보이는 요소를 찾아봅시다. 소총의 위치, 시신의 자세, 돌담과의 관계. 둘째, 가드너는 사진집에 이 사람이 저격병이었다는 설명을 붙였습니다. 사진과 설명 중 어느 쪽이 먼저 우리를 믿게 합니까. 셋째, 이 사진이 150년 동안 교과서에 실렸습니다. 그 150년은 무엇이었습니까.</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무엇이 확인되었는지 봅시다. 시신은 약 40야드 떨어진 다른 지점에서 옮겨진 것으로 정리되었습니다. 소총은 저격병이 쓰는 종류가 아니었고 촬영 소품으로 보입니다. 같은 시신을 다른 자리에서 찍은 사진이 함께 남아 있습니다. 가드너는 사진집 설명에 이 사람을 저격병으로 서술했습니다.</a:t>
            </a:r>
          </a:p>
          <a:p>
            <a:r>
              <a:rPr lang="ko-KR" dirty="0"/>
              <a:t>개입의 단계를 다섯으로 나눕니다. 촬영 각도를 고른다. 누구나 합니다. 밝기와 대비를 조정한다. 보도 사진도 허용합니다. 피사체를 옮긴다. 여기서 논쟁이 시작됩니다. 화면에서 요소를 지우거나 더한다. 보도에서 금지입니다. 장면 자체를 생성한다. 우리가 하는 일입니다.</a:t>
            </a:r>
          </a:p>
          <a:p>
            <a:r>
              <a:rPr lang="ko-KR" dirty="0"/>
              <a:t>우리는 다섯 번째 단계에 있습니다. 그래서 첫 단계부터 넷째 단계까지의 논쟁이 우리에게 그대로 적용됩니다.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결론이 나지 않은 논쟁입니다. 로버트 카파가 1936년 스페인 내전에서 찍은 「쓰러지는 병사」는 20세기 가장 유명한 전쟁 사진 중 하나입니다. 1970년대부터 연출 여부를 둘러싼 논쟁이 시작되었고 현재까지 학계의 확정 결론은 없습니다.</a:t>
            </a:r>
          </a:p>
          <a:p>
            <a:r>
              <a:rPr lang="ko-KR" dirty="0"/>
              <a:t>가설 1, 사진은 그 자리에서 실제로 촬영되었다. 가설 2, 동료 기자의 증언과 지형 분석에 따르면 전투가 없던 곳에서 훈련 장면을 찍은 것이다.</a:t>
            </a:r>
          </a:p>
          <a:p>
            <a:r>
              <a:rPr lang="ko-KR" dirty="0"/>
              <a:t>이 구조가 우리 전시와 같습니다. 이미지만으로는 판정할 수 없고, 판정의 근거는 이미지 밖의 기록에서 옵니다. 촬영 장소, 동행자의 증언, 필름의 순서. 우리 전시에서 그 기록이 작품 캡션과 프롬프트 이력입니다.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업계는 선을 어떻게 그었을까요. 월드 프레스 포토 출품 규정입니다. 사진은 화면 안의 사람이나 사물을 더하거나, 재배치하거나, 반전하거나, 왜곡하거나, 제거하는 방식으로 변경되어서는 안 된다.</a:t>
            </a:r>
          </a:p>
          <a:p>
            <a:r>
              <a:rPr lang="ko-KR" dirty="0"/>
              <a:t>허용되는 것은 밝기, 대비, 색 조정, 자르기입니다. 금지되는 것은 화면 안 요소의 추가와 제거, 위치 이동입니다. 기준은 카메라 앞에 있던 것을 그대로 두었는가입니다. 지표를 지키는 규정입니다.</a:t>
            </a:r>
          </a:p>
          <a:p>
            <a:r>
              <a:rPr lang="ko-KR" dirty="0"/>
              <a:t>2020년대 들어 여러 보도 기관이 생성 이미지 사용 규정을 따로 만들었습니다. 공통점은 생성 사실을 표기하고 보도 사진과 구분한다는 것입니다. 우리 규약과 같은 방향입니다.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 반의 기준선을 직접 정합니다. 정답은 없습니다. 다만 기준을 정한 사람만이 자기 작업을 설명할 수 있습니다. 세 입장 중 자신의 것을 고르고 근거를 한 줄 적습니다.</a:t>
            </a:r>
          </a:p>
          <a:p>
            <a:r>
              <a:rPr lang="ko-KR" dirty="0"/>
              <a:t>A 지표 중심. 화면 안의 요소를 바꾸면 조작이고 밝기 조정까지만 편집입니다. 보도사진의 기존 관행을 허용합니다. 약점은 프레이밍과 촬영 시점 선택도 이미 개입이라는 것입니다. B 의도 중심. 속이려는 의도가 있으면 조작이고 없으면 편집입니다. 예술 사진의 연출을 허용합니다. 약점은 의도를 누가 판정하는가입니다. C 표기 중심. 무엇을 했는지 밝히면 편집이고 숨기면 조작입니다. 생성 이미지도 표기하면 허용합니다. 약점은 표기가 관람자에게 닿지 않을 때입니다.</a:t>
            </a:r>
          </a:p>
          <a:p>
            <a:r>
              <a:rPr lang="ko-KR" dirty="0"/>
              <a:t>우리 단원은 C에 가깝습니다. 그래서 6차시에 표기를 확정합니다. 학습지 5의 2번에 자기 입장을 적습니다.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기계가 만든 이미지는 처음이 아닙니다. 사진이 발명되었을 때도 사람들은 손을 쓰지 않은 그림을 어떻게 볼지 논쟁했습니다. 벤야민, 버거, 미첼, 거닝의 논의를 따라가면 지금 우리가 하는 논쟁이 100년 된 것임을 알게 됩니다.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발터 벤야민의 「기술복제시대의 예술작품」, 1936년입니다. 회화적 재현의 과정에서 처음으로, 사진은 가장 중요한 예술적 기능들로부터 손을 해방시켰고, 그 기능들은 이제 렌즈를 들여다보는 눈에만 맡겨졌다.</a:t>
            </a:r>
          </a:p>
          <a:p>
            <a:r>
              <a:rPr lang="ko-KR" dirty="0"/>
              <a:t>손에서 눈으로. 벤야민은 사진이 손의 노동을 눈의 판단으로 바꿨다고 보았습니다. 그리고 복제가 아우라, 곧 원본의 유일성을 무너뜨리지만 대신 전시 가치를 올린다고 했습니다. 원본이 없어도 이미지는 전시될 수 있습니다.</a:t>
            </a:r>
          </a:p>
          <a:p>
            <a:r>
              <a:rPr lang="ko-KR" dirty="0"/>
              <a:t>우리 작업의 성립 조건이 여기 있습니다. 우리 이미지에는 원본이 없습니다. 벤야민의 논리로는 그것이 전시를 막지 않습니다.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존 버거의 『다른 방식으로 보기』, 1972년 BBC 4부작이자 책입니다. 현대의 복제 수단이 한 일은 미술의 권위를 파괴하고 그것을, 정확히는 복제된 이미지를, 어떤 보호 구역에서도 떼어 낸 것이다.</a:t>
            </a:r>
          </a:p>
          <a:p>
            <a:r>
              <a:rPr lang="ko-KR" dirty="0"/>
              <a:t>버거는 벤야민에서 한 걸음 나갑니다. 복제된 이미지는 권위를 잃는 대신 그 이미지에 말을 붙이는 사람에게 권위를 옮깁니다. 같은 그림도 광고 옆에 놓이면 광고가 되고 교과서에 실리면 교육이 됩니다.</a:t>
            </a:r>
          </a:p>
          <a:p>
            <a:r>
              <a:rPr lang="ko-KR" dirty="0"/>
              <a:t>6차시로 이어지는 문장입니다. 작품 캡션을 쓰는 우리가 그 권위를 갖습니다. 그래서 작품 캡션 문장 하나가 작품 전체를 바꿉니다.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윌리엄 미첼의 『재구성된 눈』, 1992년 MIT 출판부입니다. 미첼은 디지털 이미지가 사진의 핵심을 잃어버렸다고 진단했습니다. 그가 지목한 핵심은 셋입니다. 물리적 참조, 진술의 권위, 지표성. 픽셀은 값이고 값은 흔적 없이 고쳐 쓸 수 있습니다.</a:t>
            </a:r>
          </a:p>
          <a:p>
            <a:r>
              <a:rPr lang="ko-KR" dirty="0"/>
              <a:t>1992년은 포토샵 초기입니다. 미첼은 그때 이미 사진 이후의 시대를 선언했습니다. 우리가 지금 생성 이미지를 두고 하는 진단과 같은 말입니다. 30년 전에 나온 진단이라는 사실을 기억하세요.</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톰 거닝의 반론, 2004년입니다. 진실을 말하기 위해 사진은 일련의 담론에 종속되어야 한다.</a:t>
            </a:r>
          </a:p>
          <a:p>
            <a:r>
              <a:rPr lang="ko-KR" dirty="0"/>
              <a:t>거닝은 미첼에게 이렇게 답합니다. 사진이 믿긴 것은 지표 때문만이 아니고, 사진을 둘러싼 제도와 말 때문이었다. 신문의 캡션, 법정의 절차, 과학의 검증. 그 담론이 없으면 지표가 있어도 아무도 믿지 않는다. 그렇다면 디지털 이미지가 지표를 잃었다고 해서 진실이 사라지는 것은 아니다. 담론을 다시 세우면 된다.</a:t>
            </a:r>
          </a:p>
          <a:p>
            <a:r>
              <a:rPr lang="ko-KR" dirty="0"/>
              <a:t>우리 단원은 거닝의 자리에 있습니다. 지표가 없는 이미지에 작품 캡션, 수습 경위, 허구 표기라는 담론을 붙입니다. 그 담론이 무엇을 믿게 하고 무엇을 믿지 않게 하는지 관찰합니다.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100년의 논쟁을 세 문장으로 정리합니다. 1936년 벤야민, 복제는 아우라를 무너뜨리지만 전시 가치를 올립니다. 원본 없는 이미지도 전시될 수 있습니다. 1972년 버거, 복제는 권위를 파괴하는 대신 맥락을 붙이는 사람에게 옮깁니다. 작품 캡션을 쓰는 우리가 그 권위를 갖습니다. 1992년 미첼과 2004년 거닝, 지표가 끊어졌다는 진단과 담론이 진실을 만든다는 반론입니다. 우리는 담론을 직접 짓습니다.</a:t>
            </a:r>
          </a:p>
          <a:p>
            <a:r>
              <a:rPr lang="ko-KR" dirty="0"/>
              <a:t>도구가 바뀔 때마다 같은 질문이 돌아왔습니다. 손이 빠졌을 때, 원본이 사라졌을 때, 픽셀이 되었을 때. 그리고 지금 대상이 사라졌을 때. 질문은 같고 답을 세우는 일이 우리 몫입니다.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 AI 사용 시작입니다. 프롬프트는 주문서가 아니고 명세서입니다. 무엇을 원하는지 말하는 것이 아니고 어떤 조건을 충족해야 하는지 적습니다. 카드의 아홉 칸이 그 조건입니다.</a:t>
            </a:r>
          </a:p>
          <a:p>
            <a:r>
              <a:rPr lang="ko-KR" dirty="0"/>
              <a:t>(도구 계정과 연령 정책은 학교 지침에 따른다. 필요하면 선생님 계정으로 시연하고 여러분이 선생님 기기에서 순서대로 생성하는 방식도 가능하다. 어느 방식이든 프롬프트는 여러분이 손으로 쓴다.)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카드 아홉 칸이 프롬프트 여섯 자리로 들어갑니다. 1번 사물 지정은 카드의 명칭과 재질에서 옵니다. 재질, 형태, 크기감을 쓰고 용도는 쓰지 않습니다. 2번 사용 흔적은 카드의 사용 흔적에서 옵니다. 부위와 방식을 한 문장으로, 위치를 반드시 지정합니다. 3번 매몰 흔적은 카드의 매몰 흔적에서 옵니다. 300년간 흙 속에 있었던 상태처럼 시간의 결과를 씁니다. 4번 촬영 조건은 전 학급 공통입니다. 박물관 소장품 촬영, 정면, 균일한 확산광. 5번 배경은 공통입니다. 중립 회색, 스케일 바. 6번 금지 조건도 공통입니다. 발광, 문양, 후광, 인물, 문자 없음.</a:t>
            </a:r>
          </a:p>
          <a:p>
            <a:r>
              <a:rPr lang="ko-KR" dirty="0"/>
              <a:t>카드의 유물번호, 연대, 수습 경위, 용도는 프롬프트에 넣지 않습니다. 그것은 작품 캡션으로 갑니다. 이미지가 말할 것과 글이 말할 것을 나눕니다.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작성 규칙 다섯입니다. 검증할 수 있게 씁니다. 첫째, 부위를 씁니다. 낡고 오래된 느낌 대신 오른쪽 테두리 3분의 1이 매끄럽게 닳음. 둘째, 실재 재료만 씁니다. 미지의 합금 대신 구리 합금, 표면 산화. 셋째, 용도를 감춥니다. 충전 케이블 대신 양 끝에 금속 단자가 달린 피복 선. 넷째, 한 문장에 한 흔적. 여러 흔적을 한 문장에 겹치면 도구가 하나를 버립니다. 다섯째, 형용사 대신 상태. 아름다운, 신비로운 대신 변색된, 눌린, 갈라진.</a:t>
            </a:r>
          </a:p>
          <a:p>
            <a:r>
              <a:rPr lang="ko-KR" dirty="0"/>
              <a:t>이 다섯 규칙이 짝 점검표입니다. 규칙에 걸리는 문장은 도구가 아니고 문장을 고칩니다.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프롬프트 작성 틀입니다. 여섯 줄로 씁니다. 1번, 무슨 재질로 만든 어떤 형태, 길이 약 몇 센티미터. 2번, 어느 부위가 어떤 방식으로 닳아 있음. 3번, 300년간 흙 속에 있어 어떻게 변화된 상태. 4번, 박물관 소장품 촬영, 정면, 균일한 확산광. 5번, 중립 회색 배경, 스케일 바. 6번, 발광, 문양, 후광, 인물, 문자 없음.</a:t>
            </a:r>
          </a:p>
          <a:p>
            <a:r>
              <a:rPr lang="ko-KR" dirty="0"/>
              <a:t>쓰는 순서가 있습니다. 2번과 3번 흔적 두 줄을 먼저 확정합니다. 카드에서 그대로 옮깁니다. 그 다음 1번을 씁니다. 2번과 3번의 흔적이 가능한 재질인지 확인합니다. 4, 5, 6번은 전 학급 공통이므로 그대로 붙입니다. 학습지 별지 5의 1면 빈칸 서식에 씁니다.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개인 작업 20분. 프롬프트를 쓰고 세 번만 생성합니다. 생성 횟수를 1인 3회로 제한합니다. 마음에 들지 않아도 3회에서 멈추고 검증 단계로 넘어갑니다. 이 제한이 문장을 고치는 훈련을 만듭니다.</a:t>
            </a:r>
          </a:p>
          <a:p>
            <a:r>
              <a:rPr lang="ko-KR" dirty="0"/>
              <a:t>70분부터 78분까지 학습지 1면에 여섯 줄 프롬프트를 손으로 씁니다. 78분부터 82분까지 짝과 교환해 다섯 규칙으로 점검하고 빨간 펜으로 표시합니다. 82분부터 88분까지 수정 후 1차 생성, 기록, 2차, 3차. 88분부터 90분까지 최종 한 점을 고르고 이유를 한 줄 적습니다.</a:t>
            </a:r>
          </a:p>
          <a:p>
            <a:r>
              <a:rPr lang="ko-KR" dirty="0"/>
              <a:t>짝 점검표는 다섯 규칙만 봅니다. 부위가 있는가, 실재 재료인가, 용도가 감춰졌는가, 한 문장에 한 흔적인가, 형용사 대신 상태인가. 마음에 드는가는 보지 않습니다.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번의 생성을 모두 남깁니다. 버리는 결과도 기록의 일부입니다. 무엇이 어떻게 어긋났는지가 8차시 성찰문의 자료가 됩니다.</a:t>
            </a:r>
          </a:p>
          <a:p>
            <a:r>
              <a:rPr lang="ko-KR" dirty="0"/>
              <a:t>1차는 작성한 여섯 줄을 그대로 넣습니다. 고치지 않습니다. 결과 이미지와 카드와 다른 점 한 가지를 기록합니다. 흔한 문제는 새 물건처럼 나오는 것입니다. 3번 매몰 줄이 약한 것입니다. 2차는 1차에서 어긋난 줄 하나만 고칩니다. 한 번에 한 줄입니다. 고친 줄 번호와 달라진 점을 기록합니다. 흔한 문제는 흔적이 엉뚱한 부위에 나오는 것입니다. 2번의 부위 지정이 모호한 것입니다. 3차는 2차에서 남은 문제 하나를 고칩니다. 최종 선택과 이유를 기록합니다.</a:t>
            </a:r>
          </a:p>
          <a:p>
            <a:r>
              <a:rPr lang="ko-KR" dirty="0"/>
              <a:t>한 회차에 여러 줄을 함께 고치면 무엇이 효과를 냈는지 알 수 없습니다. 클로스가 칸 하나씩 그린 것과 같은 절차입니다.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결과를 카드와 대조하는 세 단계입니다. 있는가, 맞는가, 남는가.</a:t>
            </a:r>
          </a:p>
          <a:p>
            <a:r>
              <a:rPr lang="ko-KR" dirty="0"/>
              <a:t>1단계 존재. 카드에 적은 흔적이 이미지에 보이는가. 사용 흔적과 매몰 흔적이 각각 확인되면 통과입니다. 실패하면 2번과 3번 줄에서 부위를 더 구체적으로 씁니다. 2단계 일관성. 그 흔적이 그 재질에 생길 수 있는가. 4차시 세 축이 어긋나지 않으면 통과입니다. 실패하면 1번 줄에서 재질을 흔적에 맞게 조정합니다. 3단계 잔존. 지시하지 않은 것이 화면에 남아 있는가. 발광, 문양, 문자, 인물이 없으면 통과입니다. 실패하면 6번 줄에 그 항목을 추가합니다.</a:t>
            </a:r>
          </a:p>
          <a:p>
            <a:r>
              <a:rPr lang="ko-KR" dirty="0"/>
              <a:t>세 단계 모두 실패 시 고칠 줄이 정해져 있습니다. 도구를 탓하는 대신 줄 번호를 말하는 것이 오늘의 훈련입니다.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모둠 교차 검증 13분. 짝에게 이미지만 보여 줍니다. 카드는 뒤집어 둡니다. 짝이 이미지를 보고 카드의 내용을 역으로 추정한 뒤 카드를 펼쳐 대조합니다.</a:t>
            </a:r>
          </a:p>
          <a:p>
            <a:r>
              <a:rPr lang="ko-KR" dirty="0"/>
              <a:t>짝이 답하는 네 가지, 5분입니다. 재질, 무엇으로 만들어졌다고 보입니까. 사용 흔적, 어디가 어떻게 닳았습니까. 매몰 흔적, 얼마나 오래 묻혀 있었다고 보입니까. 용도, 무엇에 썼다고 보입니까.</a:t>
            </a:r>
          </a:p>
          <a:p>
            <a:r>
              <a:rPr lang="ko-KR" dirty="0"/>
              <a:t>대조 후 판정 5분입니다. 네 항목 중 카드와 맞은 것과 어긋난 것을 표시합니다. 어긋난 항목이 이미지 탓인지 카드 탓인지 함께 판단합니다. 이 기록이 6차시 작품 캡션 작성의 출발 자료입니다. 관람자가 이미지만 보고 무엇을 오해했는지가 작품 캡션이 채워야 할 자리이기 때문입니다.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결과가 어긋나는 방식은 정해져 있습니다. 다섯 가지 실패 유형과 처방입니다.</a:t>
            </a:r>
          </a:p>
          <a:p>
            <a:r>
              <a:rPr lang="ko-KR" dirty="0"/>
              <a:t>새 물건처럼 번들거린다. 3번 매몰 줄이 없거나 약합니다. 도구는 기본값으로 신품을 만듭니다. 3번에 변색, 경화, 압착 중 두 가지를 명시합니다. 게임 아이템처럼 보인다. 6번 금지 조건이 빠졌습니다. 도구가 빈자리를 장식으로 채웁니다. 6번에 발광, 문양, 후광 없음을 씁니다. 흔적이 엉뚱한 곳에 있다. 2번의 부위 지정이 모호합니다. 왼쪽, 오른쪽, 위, 아래, 몇 분의 몇을 씁니다. 부품이 떠 있거나 구조가 틀렸다. 1번의 형태 기술이 부족합니다. 어디에 무엇이 어떻게 붙어 있는지 씁니다. 사진이 아니고 그림처럼 보인다. 4번과 5번이 빠졌습니다. 공통 줄을 그대로 붙입니다.</a:t>
            </a:r>
          </a:p>
          <a:p>
            <a:r>
              <a:rPr lang="ko-KR" dirty="0"/>
              <a:t>(시연. 일부러 3번 매몰 줄을 뺀 프롬프트로 1회 생성하고, 한 줄 추가 후 다시 생성해 한 줄의 효과를 눈으로 확인시킨다.)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이 이미지의 저자는 누구입니까. 감상이 아니고 이미 내려진 결정들을 봅니다. 미국 저작권청은 네 차례, 법원은 한 차례 판단했습니다. 한국은 2026년부터 표시를 의무화했습니다.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『새벽의 자리야』 부분 취소 사건입니다. 2022년 9월 크리스 카슈타노바가 미드저니로 만든 이미지를 포함한 그래픽 노블을 저작권 등록했습니다. 2023년 2월 미국 저작권청이 AI 생성 이미지 18점의 저작권을 부분 취소했습니다. 인정된 부분은 텍스트, 그리고 이미지의 선택과 배열과 조정입니다. 인간이 한 일입니다. 취소된 부분은 이미지 자체입니다. 프롬프트만으로는 인간의 창작적 통제가 부족하다고 보았습니다.</a:t>
            </a:r>
          </a:p>
          <a:p>
            <a:r>
              <a:rPr lang="ko-KR" dirty="0"/>
              <a:t>이미지는 취소, 배열은 인정. 1차시의 다섯 조작 목록을 떠올려 보세요. 선택, 명명, 배치가 법이 인정한 창작이었습니다.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미국 저작권청 등록 지침, 2023년과 2025년입니다. 신청자는 제출하는 저작물에 AI 생성 콘텐츠가 포함되어 있음을 고지할 의무가 있다.</a:t>
            </a:r>
          </a:p>
          <a:p>
            <a:r>
              <a:rPr lang="ko-KR" dirty="0"/>
              <a:t>고지 의무입니다. 무엇을 AI가 생성했고 무엇을 인간이 기여했는지 구분해 밝혀야 합니다. 2025년 보고서는 프롬프트만으로는 저자성이 인정되지 않고, 선택, 배열, 수정 같은 인간의 창작적 기여가 충분할 때 그 부분에 한해 보호된다고 정리했습니다.</a:t>
            </a:r>
          </a:p>
          <a:p>
            <a:r>
              <a:rPr lang="ko-KR" dirty="0"/>
              <a:t>6차시 작품 캡션의 제작 과정 칸이 이 구분을 적는 자리입니다. 무엇을 도구가 했고 무엇을 내가 했는지.</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세일러 대 펄머터, 2025년 연방항소법원 판결입니다. 스티븐 세일러는 자신의 AI 시스템 크리에이티비티 머신을 저자로 해서 「낙원으로의 최근 입구」를 등록 신청했습니다. 저작권청이 거절했고 법원이 이를 유지했습니다. 저작권법은 보호 대상이 되는 모든 저작물이 인간에 의해 저작될 것을 요구한다.</a:t>
            </a:r>
          </a:p>
          <a:p>
            <a:r>
              <a:rPr lang="ko-KR" dirty="0"/>
              <a:t>저자는 인간이어야 합니다. 세일러는 기계가 만들었으니 기계가 저자라고 주장했고, 법원은 그렇다면 저작권 대상이 아니라고 답했습니다. 인간이 저자라고 주장했다면 결과가 달랐을 수 있습니다.</a:t>
            </a:r>
          </a:p>
          <a:p>
            <a:r>
              <a:rPr lang="ko-KR" dirty="0"/>
              <a:t>우리 단원에서 저자는 여러분입니다. 그 주장의 근거를 어디서 세우는지가 오늘 세 번째 발문입니다.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상은 받았지만 등록은 거절된 사례입니다. 제이슨 앨런의 「우주 오페라 극장」. 2022년 9월 콜로라도 주 박람회 디지털 아트 부문에서 1위를 받았습니다. 판정 근거는 제출된 이미지의 완성도와 부문 규정 충족입니다. 이 제도가 묻는 질문은 이 이미지는 좋은가입니다. 2023년 미국 저작권청은 등록을 거절했습니다. 판정 근거는 미드저니가 생성한 부분에 인간의 창작적 통제가 부족하다는 것입니다. 이 제도가 묻는 질문은 누가 만들었는가입니다.</a:t>
            </a:r>
          </a:p>
          <a:p>
            <a:r>
              <a:rPr lang="ko-KR" dirty="0"/>
              <a:t>같은 작품이 두 제도에서 정반대 판정을 받았습니다. 두 제도가 보는 것이 다르기 때문입니다. 우리 8차시 비평은 어느 쪽 질문을 묻는지 미리 생각해 보세요.</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대한민국 AI 기본법입니다. 정식 명칭은 인공지능 발전과 신뢰 기반 조성 등에 관한 기본법, 법률 제20771호, 2025년 1월 공포, 2026년 1월 22일 시행입니다. 생성형 인공지능에 의하여 생성되었다는 사실을 표시하여야 한다.</a:t>
            </a:r>
          </a:p>
          <a:p>
            <a:r>
              <a:rPr lang="ko-KR" dirty="0"/>
              <a:t>표시는 이제 법적 의무입니다. EU도 같은 방향입니다. EU AI법 제50조는 합성 이미지, 영상, 음성, 텍스트에 기계 판독 가능한 형식으로 인공 생성 사실을 표시하도록 요구하고 2026년 8월부터 적용됩니다.</a:t>
            </a:r>
          </a:p>
          <a:p>
            <a:r>
              <a:rPr lang="ko-KR" dirty="0"/>
              <a:t>2차시에 우리가 세운 표기 원칙이 법과 같은 방향에 있습니다. 6차시에 확정할 문구가 이 법의 표시 의무를 충족하는지도 함께 봅니다.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우연을 재료로 쓴 작가들의 계보입니다. 뒤샹의 「세 개의 표준 정지」입니다. 1미터 길이의 실을 1미터 높이에서 떨어뜨려 생긴 곡선을 그대로 고정했습니다. 그는 이를 우연의 통조림이라 불렀습니다. 되돌릴 수 없는 우연을 표준으로 만드는 시도였습니다. 존 케이지는 이렇게 말했습니다. 우연 조작을 사용함으로써 나는 내가 얻은 것을 받아들인다. 나를 표현하는 대신 나를 바꾼다. 게르하르트 리히터는 물감을 긁어내는 과정에서 통제할 수 없는 결과를 작품으로 받아들였습니다.</a:t>
            </a:r>
          </a:p>
          <a:p>
            <a:r>
              <a:rPr lang="ko-KR" dirty="0"/>
              <a:t>세 작가 모두 결과를 통제하지 않았습니다. 그러나 조건을 정했고 결과를 받아들일지 판단했습니다. 우리도 같습니다. 생성 결과를 통제할 수 없지만 여섯 줄이라는 조건을 정하고 세 번 중 하나를 고릅니다. 우연을 쓰는 일이 저자성을 없애지 않는다는 근거가 이 계보입니다.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내 입장을 한 문장으로 정합니다. 네 입장 중 하나를 고릅니다.</a:t>
            </a:r>
          </a:p>
          <a:p>
            <a:r>
              <a:rPr lang="ko-KR" dirty="0"/>
              <a:t>A 저자 없음. 도구가 만들었으므로 저자는 없다. 근거는 세일러 판결이고, 약점은 그럼 고른 사람의 결정은 무엇인가입니다. B 부분 저자. 선택, 명명, 배열 부분만 내 것이다. 근거는 자리야 결정이고, 약점은 이미지가 작품의 대부분인 경우는 어떻게 되는가입니다. C 조건 저자. 조건을 정하고 판단한 사람이 저자다. 근거는 르윗과 케이지의 계보이고, 약점은 조건이 너무 느슨하면 누구나 저자가 된다는 것입니다. D 공동 저자. 도구와 사람이 함께 만들었다. 근거는 실제 작업 과정이고, 약점은 도구는 책임을 질 수 없다는 것입니다.</a:t>
            </a:r>
          </a:p>
          <a:p>
            <a:r>
              <a:rPr lang="ko-KR" dirty="0"/>
              <a:t>학습지 5의 4번에 입장과 근거 한 줄을 적습니다. 8차시 작가 노트에 이 문장이 들어갑니다.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개의 발문으로 오늘을 닫습니다. 문장을 고쳤는가, 기대를 고쳤는가. 오늘의 근거는 방금 생성한 이미지와 세 번의 프롬프트입니다. 먼저 학습지에 쓰고 그 다음 말합니다.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빛이 닿지 않은 이미지가 사진처럼 믿기는 이유는 무엇인가.</a:t>
            </a:r>
          </a:p>
          <a:p>
            <a:r>
              <a:rPr lang="ko-KR" dirty="0"/>
              <a:t>답변에 반드시 포함할 것 셋입니다. 전개 1의 세 층 중 하나를 지목합니다. 자기 이미지에서 그 층에 해당하는 요소를 듭니다. 짝이 오해한 지점을 근거로 인용합니다.</a:t>
            </a:r>
          </a:p>
          <a:p>
            <a:r>
              <a:rPr lang="ko-KR" dirty="0"/>
              <a:t>(되묻기. 진짜처럼 잘 만들어서. 그럼 어설프게 만든 사진은 안 믿기는가, 가드너 사진은 왜 믿겼는가. 사진 형식이라서. 좋다, 그 형식의 어느 요소를 여섯 줄 중 어느 줄이 만들었는가. 짝이 믿었으니까. 짝이 무엇을 보고 믿었는지 짝에게 직접 물어보라.)</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결과가 카드와 달랐을 때 여러분은 무엇을 고쳤는가.</a:t>
            </a:r>
          </a:p>
          <a:p>
            <a:r>
              <a:rPr lang="ko-KR" dirty="0"/>
              <a:t>답변에 반드시 포함할 것 셋입니다. 1차와 2차 프롬프트에서 고친 줄 번호를 말합니다. 그 결과 무엇이 달라졌는지 이미지에서 지목합니다. 혹시 카드를 고쳤다면 그 사실도 밝힙니다.</a:t>
            </a:r>
          </a:p>
          <a:p>
            <a:r>
              <a:rPr lang="ko-KR" dirty="0"/>
              <a:t>(되묻기. 매몰 줄을 고쳤다. 고친 뒤 무엇이 보이게 되었는가, 손가락으로 가리켜 보라. 계속 안 나와서 포기했다. 세 번째 프롬프트와 첫 번째 프롬프트의 차이가 무엇인가, 없다면 무엇을 고치지 않은 것인가. AI가 다 했어요. 그럼 네가 쓴 여섯 줄은 무엇이니. 도구 성능을 탓하면 문장에서 고칠 곳이 하나도 없는지 묻는다.)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발문입니다. 이 이미지를 여러분의 작품이라고 말할 수 있는가.</a:t>
            </a:r>
          </a:p>
          <a:p>
            <a:r>
              <a:rPr lang="ko-KR" dirty="0"/>
              <a:t>답변에 반드시 포함할 것 셋입니다. A부터 D 중 자기 입장을 밝힙니다. 오늘 배운 결정 하나를 근거로 인용합니다. 1차시 뒤샹과 비교하거나 구별합니다.</a:t>
            </a:r>
          </a:p>
          <a:p>
            <a:r>
              <a:rPr lang="ko-KR" dirty="0"/>
              <a:t>(되묻기. 내가 시켰으니 내 것. 저작권청은 프롬프트만으로는 부족하다고 보았다, 너는 왜 다르게 보는가. 도구가 만들었으니 아니다. 그럼 뒤샹의 「샘」은 공장이 만들었는데 왜 뒤샹의 작품인가. 반반이다. 어느 반이 네 것인지 여섯 줄에서 골라 보라.)</a:t>
            </a:r>
          </a:p>
          <a:p>
            <a:r>
              <a:rPr lang="ko-KR" dirty="0"/>
              <a:t>칠판에 근거의 종류만 분류해 남깁니다. 프롬프트 근거, 판례 근거, 작품 근거, 논리 근거. 결론은 내리지 않습니다. 8차시 작가 노트에 자기 답을 씁니다.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5의 구성입니다. 1면은 프롬프트 3회 기록으로 활동 1에서 씁니다. 여섯 줄 서식에 1, 2, 3차를 각각 기록하고 고친 줄에 밑줄, 옆에 무엇이 달라졌는가 한 줄을 씁니다. 2면은 3단 검증표와 짝의 추정 기록으로 활동 2에서 씁니다. 3면은 기준선 입장과 기호 분류로 전개 1과 2에서 씁니다. 4면은 저자성 입장과 세 발문 답으로 전개 5와 정리에서 씁니다. 2면의 짝의 추정 기록은 6차시에 반드시 가져옵니다.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사진이 믿기는 이유는 빛이 실제로 닿았기 때문입니다. 둘째, 그 물리적 연결이 없어도 형식과 서식만으로 관람자는 믿습니다. 셋째, 조작은 AI와 함께 오지 않았습니다. 사진은 처음부터 연출되었습니다. 넷째, 결과가 어긋나면 고칠 것은 내 문장입니다. 다섯째, 법이 인정한 창작은 선택, 명명, 배열이었습니다. 1차시의 목록과 같습니다.</a:t>
            </a:r>
          </a:p>
          <a:p>
            <a:r>
              <a:rPr lang="ko-KR" dirty="0"/>
              <a:t>아래는 오늘 만난 인물과 문헌입니다.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6차시, 캡션이 작품을 바꾼다입니다. 같은 이미지에 세 개의 다른 캡션을 붙여 봅니다. 이미지는 그대로인데 관람자가 보는 것이 달라집니다. 그리고 마지막 줄에 넣을 허구 표기의 문구와 위치를 확정합니다.</a:t>
            </a:r>
          </a:p>
          <a:p>
            <a:r>
              <a:rPr lang="ko-KR" dirty="0"/>
              <a:t>준비 사항입니다. 최종 선택 이미지를 인쇄해 옵니다. A5 크기 흑백 인쇄도 됩니다. 학습지 별지 5의 2면, 짝의 추정 기록을 반드시 가져옵니다. 4차시 카드도 함께 가져옵니다. 작품 캡션은 카드에서 나옵니다.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 판례, 법령, 도판 출처입니다. 바르트, 퍼스, 크라우스, 벤야민, 버거, 미첼, 거닝의 원문과 미국 저작권청 결정문, 세일러 판결문, AI 기본법 조문, 의회도서관과 시카고 미술관의 소장 기록입니다.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4.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3.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3.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3.png"/><Relationship Id="rId5" Type="http://schemas.openxmlformats.org/officeDocument/2006/relationships/image" Target="../media/image-27-5.png"/><Relationship Id="rId6" Type="http://schemas.openxmlformats.org/officeDocument/2006/relationships/image" Target="../media/image-27-5.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4.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3.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4.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15-3.png"/><Relationship Id="rId5" Type="http://schemas.openxmlformats.org/officeDocument/2006/relationships/image" Target="../media/image-8-3.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jpe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5-4.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image" Target="../media/image-7-4.png"/><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image" Target="../media/image-7-6.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image" Target="../media/image3.jpg"/><Relationship Id="rId7" Type="http://schemas.openxmlformats.org/officeDocument/2006/relationships/image" Target="../media/image4.png"/><Relationship Id="rId8" Type="http://schemas.openxmlformats.org/officeDocument/2006/relationships/image" Target="../media/image-4-5.png"/><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8-3.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e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5-4.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e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5-4.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3.png"/><Relationship Id="rId4" Type="http://schemas.openxmlformats.org/officeDocument/2006/relationships/image" Target="../media/image12.png"/><Relationship Id="rId5"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36bed125e1b14c175401b9d2da63bc91.png">    </p:cNvPr>
          <p:cNvPicPr>
            <a:picLocks noChangeAspect="1"/>
          </p:cNvPicPr>
          <p:nvPr/>
        </p:nvPicPr>
        <p:blipFill>
          <a:blip r:embed="rId1"/>
          <a:stretch/>
        </p:blipFill>
        <p:spPr>
          <a:xfrm>
            <a:off x="1143000" y="1200683"/>
            <a:ext cx="9620402" cy="19050"/>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839005"/>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6baafe6aa64aa9376926de1ee7ee3d5a.jpg">    </p:cNvPr>
          <p:cNvPicPr>
            <a:picLocks noChangeAspect="1"/>
          </p:cNvPicPr>
          <p:nvPr/>
        </p:nvPicPr>
        <p:blipFill>
          <a:blip r:embed="rId3"/>
          <a:stretch>
            <a:fillRect/>
          </a:stretch>
        </p:blipFill>
        <p:spPr>
          <a:xfrm>
            <a:off x="11811305" y="0"/>
            <a:ext cx="6482443" cy="10287000"/>
          </a:xfrm>
          <a:prstGeom prst="rect">
            <a:avLst/>
          </a:prstGeom>
        </p:spPr>
      </p:pic>
      <p:sp>
        <p:nvSpPr>
          <p:cNvPr id="6" name="Shape 1"/>
          <p:cNvSpPr/>
          <p:nvPr/>
        </p:nvSpPr>
        <p:spPr>
          <a:xfrm>
            <a:off x="11811305" y="8134502"/>
            <a:ext cx="6476695" cy="1914754"/>
          </a:xfrm>
          <a:prstGeom prst="rect">
            <a:avLst/>
          </a:prstGeom>
          <a:solidFill>
            <a:srgbClr val="1A1915">
              <a:alpha val="82000"/>
            </a:srgbClr>
          </a:solidFill>
          <a:ln w="12700">
            <a:solidFill>
              <a:srgbClr val="FFFFFF">
                <a:alpha val="0"/>
              </a:srgbClr>
            </a:solidFill>
            <a:prstDash val="solid"/>
          </a:ln>
        </p:spPr>
      </p:sp>
      <p:sp>
        <p:nvSpPr>
          <p:cNvPr id="7" name="Text 2"/>
          <p:cNvSpPr txBox="1"/>
          <p:nvPr/>
        </p:nvSpPr>
        <p:spPr>
          <a:xfrm>
            <a:off x="12115800" y="8382305"/>
            <a:ext cx="5867705" cy="267005"/>
          </a:xfrm>
          <a:prstGeom prst="rect">
            <a:avLst/>
          </a:prstGeom>
          <a:noFill/>
          <a:ln/>
        </p:spPr>
        <p:txBody>
          <a:bodyPr wrap="none" lIns="0" tIns="0" rIns="0" bIns="0" rtlCol="0" anchor="ctr"/>
          <a:lstStyle/>
          <a:p>
            <a:pPr algn="l" indent="0" marL="0">
              <a:buNone/>
            </a:pPr>
            <a:r>
              <a:rPr lang="en-US" sz="1575" spc="315" kern="0" dirty="0">
                <a:solidFill>
                  <a:srgbClr val="C0533F"/>
                </a:solidFill>
                <a:latin typeface="IBM Plex Mono" pitchFamily="34" charset="0"/>
                <a:ea typeface="IBM Plex Mono" pitchFamily="34" charset="-122"/>
                <a:cs typeface="IBM Plex Mono" pitchFamily="34" charset="-120"/>
              </a:rPr>
              <a:t>PLATE 5—01</a:t>
            </a:r>
            <a:endParaRPr lang="en-US" sz="1575" dirty="0"/>
          </a:p>
        </p:txBody>
      </p:sp>
      <p:sp>
        <p:nvSpPr>
          <p:cNvPr id="8" name="Text 3"/>
          <p:cNvSpPr txBox="1"/>
          <p:nvPr/>
        </p:nvSpPr>
        <p:spPr>
          <a:xfrm>
            <a:off x="12115800" y="8744407"/>
            <a:ext cx="5867705" cy="1057961"/>
          </a:xfrm>
          <a:prstGeom prst="rect">
            <a:avLst/>
          </a:prstGeom>
          <a:noFill/>
          <a:ln/>
        </p:spPr>
        <p:txBody>
          <a:bodyPr wrap="square" lIns="0" tIns="0" rIns="0" bIns="0" rtlCol="0" anchor="ctr"/>
          <a:lstStyle/>
          <a:p>
            <a:pPr algn="l" indent="0" marL="0">
              <a:lnSpc>
                <a:spcPts val="2760"/>
              </a:lnSpc>
              <a:buNone/>
            </a:pPr>
            <a:r>
              <a:rPr lang="en-US" sz="1725" dirty="0">
                <a:solidFill>
                  <a:srgbClr val="E4DFD4"/>
                </a:solidFill>
                <a:latin typeface="Noto Serif KR" pitchFamily="34" charset="0"/>
                <a:ea typeface="Noto Serif KR" pitchFamily="34" charset="-122"/>
                <a:cs typeface="Noto Serif KR" pitchFamily="34" charset="-120"/>
              </a:rPr>
              <a:t>알렉산더 가드너, 「반란군 저격병의 집Home of a Rebel Sharpshooter, Gettysburg」, 1863. 시신을 옮겨 배치한 뒤 촬영한 것으로 확인된 사진.</a:t>
            </a:r>
            <a:endParaRPr lang="en-US" sz="1725" dirty="0"/>
          </a:p>
        </p:txBody>
      </p:sp>
      <p:sp>
        <p:nvSpPr>
          <p:cNvPr id="9" name="Text 4"/>
          <p:cNvSpPr txBox="1"/>
          <p:nvPr/>
        </p:nvSpPr>
        <p:spPr>
          <a:xfrm>
            <a:off x="1143000" y="800100"/>
            <a:ext cx="9620402" cy="324612"/>
          </a:xfrm>
          <a:prstGeom prst="rect">
            <a:avLst/>
          </a:prstGeom>
          <a:noFill/>
          <a:ln/>
        </p:spPr>
        <p:txBody>
          <a:bodyPr wrap="none" lIns="0" tIns="0" rIns="0" bIns="0" rtlCol="0" anchor="ctr"/>
          <a:lstStyle/>
          <a:p>
            <a:pPr algn="l" indent="0" marL="0">
              <a:buNone/>
            </a:pPr>
            <a:r>
              <a:rPr lang="en-US" sz="1725" spc="414" kern="0" dirty="0">
                <a:solidFill>
                  <a:srgbClr val="918A7A"/>
                </a:solidFill>
                <a:latin typeface="Noto Sans KR" pitchFamily="34" charset="0"/>
                <a:ea typeface="Noto Sans KR" pitchFamily="34" charset="-122"/>
                <a:cs typeface="Noto Sans KR" pitchFamily="34" charset="-120"/>
              </a:rPr>
              <a:t>미술과 창작 교육에서 생성형 AI 활용 교수·학습 과정안</a:t>
            </a:r>
            <a:endParaRPr lang="en-US" sz="1725" dirty="0"/>
          </a:p>
        </p:txBody>
      </p:sp>
      <p:sp>
        <p:nvSpPr>
          <p:cNvPr id="10" name="Text 5"/>
          <p:cNvSpPr txBox="1"/>
          <p:nvPr/>
        </p:nvSpPr>
        <p:spPr>
          <a:xfrm>
            <a:off x="1143000" y="1638605"/>
            <a:ext cx="9620402" cy="305410"/>
          </a:xfrm>
          <a:prstGeom prst="rect">
            <a:avLst/>
          </a:prstGeom>
          <a:noFill/>
          <a:ln/>
        </p:spPr>
        <p:txBody>
          <a:bodyPr wrap="none" lIns="0" tIns="0" rIns="0" bIns="0" rtlCol="0" anchor="ctr"/>
          <a:lstStyle/>
          <a:p>
            <a:pPr algn="l" indent="0" marL="0">
              <a:buNone/>
            </a:pPr>
            <a:r>
              <a:rPr lang="en-US" sz="1800" spc="504" kern="0" dirty="0">
                <a:solidFill>
                  <a:srgbClr val="9C2A1F"/>
                </a:solidFill>
                <a:latin typeface="IBM Plex Mono" pitchFamily="34" charset="0"/>
                <a:ea typeface="IBM Plex Mono" pitchFamily="34" charset="-122"/>
                <a:cs typeface="IBM Plex Mono" pitchFamily="34" charset="-120"/>
              </a:rPr>
              <a:t>LESSON 05 / 08</a:t>
            </a:r>
            <a:endParaRPr lang="en-US" sz="1800" dirty="0"/>
          </a:p>
        </p:txBody>
      </p:sp>
      <p:sp>
        <p:nvSpPr>
          <p:cNvPr id="11" name="Text 6"/>
          <p:cNvSpPr txBox="1"/>
          <p:nvPr/>
        </p:nvSpPr>
        <p:spPr>
          <a:xfrm>
            <a:off x="1143000" y="2190902"/>
            <a:ext cx="10096805" cy="1953158"/>
          </a:xfrm>
          <a:prstGeom prst="rect">
            <a:avLst/>
          </a:prstGeom>
          <a:noFill/>
          <a:ln/>
        </p:spPr>
        <p:txBody>
          <a:bodyPr wrap="square" lIns="0" tIns="0" rIns="0" bIns="0" rtlCol="0" anchor="t"/>
          <a:lstStyle/>
          <a:p>
            <a:pPr algn="l" indent="0" marL="0">
              <a:lnSpc>
                <a:spcPct val="116000"/>
              </a:lnSpc>
              <a:buNone/>
            </a:pPr>
            <a:r>
              <a:rPr lang="en-US" sz="6600" b="1" spc="-132" kern="0" dirty="0">
                <a:solidFill>
                  <a:srgbClr val="17150F"/>
                </a:solidFill>
                <a:latin typeface="Noto Serif KR" pitchFamily="34" charset="0"/>
                <a:ea typeface="Noto Serif KR" pitchFamily="34" charset="-122"/>
                <a:cs typeface="Noto Serif KR" pitchFamily="34" charset="-120"/>
              </a:rPr>
              <a:t>문장이 이미지를</a:t>
            </a:r>
            <a:pPr algn="l" indent="0" marL="0">
              <a:lnSpc>
                <a:spcPct val="116000"/>
              </a:lnSpc>
              <a:buNone/>
            </a:pPr>
            <a:endParaRPr lang="en-US" sz="6600" dirty="0"/>
          </a:p>
          <a:p>
            <a:pPr algn="l" indent="0" marL="0">
              <a:lnSpc>
                <a:spcPct val="116000"/>
              </a:lnSpc>
              <a:buNone/>
            </a:pPr>
            <a:r>
              <a:rPr lang="en-US" sz="6600" b="1" spc="-132" kern="0" dirty="0">
                <a:solidFill>
                  <a:srgbClr val="17150F"/>
                </a:solidFill>
                <a:latin typeface="Noto Serif KR" pitchFamily="34" charset="0"/>
                <a:ea typeface="Noto Serif KR" pitchFamily="34" charset="-122"/>
                <a:cs typeface="Noto Serif KR" pitchFamily="34" charset="-120"/>
              </a:rPr>
              <a:t>결정한다</a:t>
            </a:r>
            <a:endParaRPr lang="en-US" sz="6600" dirty="0"/>
          </a:p>
        </p:txBody>
      </p:sp>
      <p:sp>
        <p:nvSpPr>
          <p:cNvPr id="12" name="Text 7"/>
          <p:cNvSpPr txBox="1"/>
          <p:nvPr/>
        </p:nvSpPr>
        <p:spPr>
          <a:xfrm>
            <a:off x="1143000" y="5257800"/>
            <a:ext cx="9620402" cy="1571854"/>
          </a:xfrm>
          <a:prstGeom prst="rect">
            <a:avLst/>
          </a:prstGeom>
          <a:noFill/>
          <a:ln/>
        </p:spPr>
        <p:txBody>
          <a:bodyPr wrap="square" lIns="0" tIns="0" rIns="0" bIns="0" rtlCol="0" anchor="ctr"/>
          <a:lstStyle/>
          <a:p>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사진이 왜 믿기는지, 그 믿음이 어디에서 오는지 확인한 뒤 </a:t>
            </a:r>
            <a:pPr algn="l" indent="0" marL="0">
              <a:lnSpc>
                <a:spcPts val="4109"/>
              </a:lnSpc>
              <a:buNone/>
            </a:pPr>
            <a:r>
              <a:rPr lang="en-US" sz="2475" b="1" dirty="0">
                <a:solidFill>
                  <a:srgbClr val="17150F"/>
                </a:solidFill>
                <a:latin typeface="Noto Serif KR" pitchFamily="34" charset="0"/>
                <a:ea typeface="Noto Serif KR" pitchFamily="34" charset="-122"/>
                <a:cs typeface="Noto Serif KR" pitchFamily="34" charset="-120"/>
              </a:rPr>
              <a:t>처음으로 생성형 AI를 사용</a:t>
            </a:r>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한다. 4차시 설계 카드를 프롬프트로 옮기고, 결과가 카드와 맞는지 검증한다.</a:t>
            </a:r>
            <a:endParaRPr lang="en-US" sz="2475" dirty="0"/>
          </a:p>
        </p:txBody>
      </p:sp>
      <p:sp>
        <p:nvSpPr>
          <p:cNvPr id="13" name="Shape 8"/>
          <p:cNvSpPr/>
          <p:nvPr/>
        </p:nvSpPr>
        <p:spPr>
          <a:xfrm>
            <a:off x="1143000" y="7200900"/>
            <a:ext cx="9620402" cy="2124151"/>
          </a:xfrm>
          <a:prstGeom prst="rect">
            <a:avLst/>
          </a:prstGeom>
          <a:solidFill>
            <a:srgbClr val="FFFFFF">
              <a:alpha val="42000"/>
            </a:srgbClr>
          </a:solidFill>
          <a:ln w="12700">
            <a:solidFill>
              <a:srgbClr val="BEB6A5"/>
            </a:solidFill>
            <a:prstDash val="solid"/>
          </a:ln>
        </p:spPr>
      </p:sp>
      <p:sp>
        <p:nvSpPr>
          <p:cNvPr id="14" name="Text 9"/>
          <p:cNvSpPr txBox="1"/>
          <p:nvPr/>
        </p:nvSpPr>
        <p:spPr>
          <a:xfrm>
            <a:off x="1399946" y="74679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5" name="Text 10"/>
          <p:cNvSpPr txBox="1"/>
          <p:nvPr/>
        </p:nvSpPr>
        <p:spPr>
          <a:xfrm>
            <a:off x="3000146" y="7420356"/>
            <a:ext cx="272308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a:t>
            </a:r>
            <a:endParaRPr lang="en-US" sz="1875" dirty="0"/>
          </a:p>
        </p:txBody>
      </p:sp>
      <p:sp>
        <p:nvSpPr>
          <p:cNvPr id="16" name="Text 11"/>
          <p:cNvSpPr txBox="1"/>
          <p:nvPr/>
        </p:nvSpPr>
        <p:spPr>
          <a:xfrm>
            <a:off x="1399946" y="79104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차시</a:t>
            </a:r>
            <a:endParaRPr lang="en-US" sz="1650" dirty="0"/>
          </a:p>
        </p:txBody>
      </p:sp>
      <p:sp>
        <p:nvSpPr>
          <p:cNvPr id="17" name="Text 12"/>
          <p:cNvSpPr txBox="1"/>
          <p:nvPr/>
        </p:nvSpPr>
        <p:spPr>
          <a:xfrm>
            <a:off x="3000146" y="7862926"/>
            <a:ext cx="32196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8차시 중 제 5차시 · 120분</a:t>
            </a:r>
            <a:endParaRPr lang="en-US" sz="1875" dirty="0"/>
          </a:p>
        </p:txBody>
      </p:sp>
      <p:sp>
        <p:nvSpPr>
          <p:cNvPr id="18" name="Text 13"/>
          <p:cNvSpPr txBox="1"/>
          <p:nvPr/>
        </p:nvSpPr>
        <p:spPr>
          <a:xfrm>
            <a:off x="1399946" y="835304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중점</a:t>
            </a:r>
            <a:endParaRPr lang="en-US" sz="1650" dirty="0"/>
          </a:p>
        </p:txBody>
      </p:sp>
      <p:sp>
        <p:nvSpPr>
          <p:cNvPr id="19" name="Text 14"/>
          <p:cNvSpPr txBox="1"/>
          <p:nvPr/>
        </p:nvSpPr>
        <p:spPr>
          <a:xfrm>
            <a:off x="3000146" y="8305495"/>
            <a:ext cx="3391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제작 — 생성형 AI 사용 시작</a:t>
            </a:r>
            <a:endParaRPr lang="en-US" sz="1875" dirty="0"/>
          </a:p>
        </p:txBody>
      </p:sp>
      <p:sp>
        <p:nvSpPr>
          <p:cNvPr id="20" name="Text 15"/>
          <p:cNvSpPr txBox="1"/>
          <p:nvPr/>
        </p:nvSpPr>
        <p:spPr>
          <a:xfrm>
            <a:off x="1399946" y="879652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지참물</a:t>
            </a:r>
            <a:endParaRPr lang="en-US" sz="1650" dirty="0"/>
          </a:p>
        </p:txBody>
      </p:sp>
      <p:sp>
        <p:nvSpPr>
          <p:cNvPr id="21" name="Text 16"/>
          <p:cNvSpPr txBox="1"/>
          <p:nvPr/>
        </p:nvSpPr>
        <p:spPr>
          <a:xfrm>
            <a:off x="3000146" y="8748979"/>
            <a:ext cx="433151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학습지 [별지 4] 3면·4면(설계 카드)</a:t>
            </a:r>
            <a:endParaRPr lang="en-US" sz="1875" dirty="0"/>
          </a:p>
        </p:txBody>
      </p:sp>
      <p:sp>
        <p:nvSpPr>
          <p:cNvPr id="22" name="Text 17"/>
          <p:cNvSpPr txBox="1"/>
          <p:nvPr/>
        </p:nvSpPr>
        <p:spPr>
          <a:xfrm>
            <a:off x="1143000" y="9696298"/>
            <a:ext cx="9620402" cy="277063"/>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08</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48102"/>
            <a:ext cx="9418234" cy="9144"/>
          </a:xfrm>
          <a:prstGeom prst="rect">
            <a:avLst/>
          </a:prstGeom>
        </p:spPr>
      </p:pic>
      <p:pic>
        <p:nvPicPr>
          <p:cNvPr id="4" name="Image 2" descr="gen-dedup-7cde0152aae0e987b34280df86a6917f.png">    </p:cNvPr>
          <p:cNvPicPr>
            <a:picLocks noChangeAspect="1"/>
          </p:cNvPicPr>
          <p:nvPr/>
        </p:nvPicPr>
        <p:blipFill>
          <a:blip r:embed="rId3"/>
          <a:stretch/>
        </p:blipFill>
        <p:spPr>
          <a:xfrm>
            <a:off x="1339182" y="6858000"/>
            <a:ext cx="9418234" cy="9144"/>
          </a:xfrm>
          <a:prstGeom prst="rect">
            <a:avLst/>
          </a:prstGeom>
        </p:spPr>
      </p:pic>
      <p:pic>
        <p:nvPicPr>
          <p:cNvPr id="5" name="Image 3" descr="gen-dedup-6e10be3fd3a51797c631fbd3836d7c7a.png">    </p:cNvPr>
          <p:cNvPicPr>
            <a:picLocks noChangeAspect="1"/>
          </p:cNvPicPr>
          <p:nvPr/>
        </p:nvPicPr>
        <p:blipFill>
          <a:blip r:embed="rId4"/>
          <a:stretch/>
        </p:blipFill>
        <p:spPr>
          <a:xfrm>
            <a:off x="11637479" y="4933188"/>
            <a:ext cx="5395140" cy="9144"/>
          </a:xfrm>
          <a:prstGeom prst="rect">
            <a:avLst/>
          </a:prstGeom>
        </p:spPr>
      </p:pic>
      <p:sp>
        <p:nvSpPr>
          <p:cNvPr id="6"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7"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개요</a:t>
            </a:r>
            <a:endParaRPr lang="en-US" sz="1650" dirty="0"/>
          </a:p>
        </p:txBody>
      </p:sp>
      <p:sp>
        <p:nvSpPr>
          <p:cNvPr id="8" name="Text 2"/>
          <p:cNvSpPr txBox="1"/>
          <p:nvPr/>
        </p:nvSpPr>
        <p:spPr>
          <a:xfrm>
            <a:off x="1143000" y="1466698"/>
            <a:ext cx="10478110"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사진 이론·기계 이미지·저자성</a:t>
            </a:r>
            <a:endParaRPr lang="en-US" sz="3300" dirty="0"/>
          </a:p>
        </p:txBody>
      </p:sp>
      <p:sp>
        <p:nvSpPr>
          <p:cNvPr id="9" name="Text 3"/>
          <p:cNvSpPr txBox="1"/>
          <p:nvPr/>
        </p:nvSpPr>
        <p:spPr>
          <a:xfrm>
            <a:off x="1143000" y="2305202"/>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학습 목표</a:t>
            </a:r>
            <a:endParaRPr lang="en-US" sz="1650" dirty="0"/>
          </a:p>
        </p:txBody>
      </p:sp>
      <p:sp>
        <p:nvSpPr>
          <p:cNvPr id="10" name="Text 4"/>
          <p:cNvSpPr txBox="1"/>
          <p:nvPr/>
        </p:nvSpPr>
        <p:spPr>
          <a:xfrm>
            <a:off x="1143000" y="2915107"/>
            <a:ext cx="9811512" cy="317662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사진이 신뢰를 얻는 근거를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지표성</a:t>
            </a:r>
            <a:pPr algn="l" indent="0" marL="0">
              <a:buNone/>
            </a:pPr>
            <a:r>
              <a:rPr lang="en-US" sz="1875" dirty="0">
                <a:solidFill>
                  <a:srgbClr val="3A362C"/>
                </a:solidFill>
                <a:latin typeface="Noto Serif KR" pitchFamily="34" charset="0"/>
                <a:ea typeface="Noto Serif KR" pitchFamily="34" charset="-122"/>
                <a:cs typeface="Noto Serif KR" pitchFamily="34" charset="-120"/>
              </a:rPr>
              <a:t>으로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사진 조작의 역사적 사례를 들어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기계 이미지의 진실 주장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 사회적으로 조정된다는 점을 말할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설계 카드의 항목을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검증 가능한 프롬프트 문장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으로 변환할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75" dirty="0">
                <a:solidFill>
                  <a:srgbClr val="3A362C"/>
                </a:solidFill>
                <a:latin typeface="Noto Serif KR" pitchFamily="34" charset="0"/>
                <a:ea typeface="Noto Serif KR" pitchFamily="34" charset="-122"/>
                <a:cs typeface="Noto Serif KR" pitchFamily="34" charset="-120"/>
              </a:rPr>
              <a:t>생성 결과를 카드와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대조 검증</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하고 재작성 지점을 판단할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5</a:t>
            </a:r>
            <a:pPr algn="l" indent="0" marL="0">
              <a:buNone/>
            </a:pPr>
            <a:r>
              <a:rPr lang="en-US" sz="1875" dirty="0">
                <a:solidFill>
                  <a:srgbClr val="3A362C"/>
                </a:solidFill>
                <a:latin typeface="Noto Serif KR" pitchFamily="34" charset="0"/>
                <a:ea typeface="Noto Serif KR" pitchFamily="34" charset="-122"/>
                <a:cs typeface="Noto Serif KR" pitchFamily="34" charset="-120"/>
              </a:rPr>
              <a:t>AI 생성물의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저자성 논의</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근거를 들어 설명할 수 있다.</a:t>
            </a:r>
            <a:endParaRPr lang="en-US" sz="1200" dirty="0"/>
          </a:p>
        </p:txBody>
      </p:sp>
      <p:sp>
        <p:nvSpPr>
          <p:cNvPr id="11" name="Text 5"/>
          <p:cNvSpPr txBox="1"/>
          <p:nvPr/>
        </p:nvSpPr>
        <p:spPr>
          <a:xfrm>
            <a:off x="1143000" y="6515100"/>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차시의 전환점 — AI를 처음 사용한다</a:t>
            </a:r>
            <a:endParaRPr lang="en-US" sz="1650" dirty="0"/>
          </a:p>
        </p:txBody>
      </p:sp>
      <p:sp>
        <p:nvSpPr>
          <p:cNvPr id="12" name="Shape 6"/>
          <p:cNvSpPr/>
          <p:nvPr/>
        </p:nvSpPr>
        <p:spPr>
          <a:xfrm>
            <a:off x="1143000" y="7125005"/>
            <a:ext cx="9810598" cy="1723644"/>
          </a:xfrm>
          <a:prstGeom prst="rect">
            <a:avLst/>
          </a:prstGeom>
          <a:solidFill>
            <a:srgbClr val="9C2A1F">
              <a:alpha val="6000"/>
            </a:srgbClr>
          </a:solidFill>
          <a:ln w="12700">
            <a:solidFill>
              <a:srgbClr val="9C2A1F"/>
            </a:solidFill>
            <a:prstDash val="solid"/>
          </a:ln>
        </p:spPr>
      </p:sp>
      <p:sp>
        <p:nvSpPr>
          <p:cNvPr id="13" name="Text 7"/>
          <p:cNvSpPr txBox="1"/>
          <p:nvPr/>
        </p:nvSpPr>
        <p:spPr>
          <a:xfrm>
            <a:off x="1438351" y="7362749"/>
            <a:ext cx="9220810"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1~4차시는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AI를 쓰지 않았다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도구를 늦게 도입한 이유는 하나다 —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무엇을 만들지 정하지 않은 상태에서 도구를 쓰면 도구가 결정을 대신한다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오늘은 카드에 이미 적힌 결정을 문장으로 옮기는 작업이다.</a:t>
            </a:r>
            <a:endParaRPr lang="en-US" sz="1875" dirty="0"/>
          </a:p>
        </p:txBody>
      </p:sp>
      <p:sp>
        <p:nvSpPr>
          <p:cNvPr id="14" name="Shape 8"/>
          <p:cNvSpPr/>
          <p:nvPr/>
        </p:nvSpPr>
        <p:spPr>
          <a:xfrm>
            <a:off x="11525098" y="2305202"/>
            <a:ext cx="5619902" cy="4505249"/>
          </a:xfrm>
          <a:prstGeom prst="rect">
            <a:avLst/>
          </a:prstGeom>
          <a:solidFill>
            <a:srgbClr val="FFFFFF">
              <a:alpha val="42000"/>
            </a:srgbClr>
          </a:solidFill>
          <a:ln w="12700">
            <a:solidFill>
              <a:srgbClr val="BEB6A5"/>
            </a:solidFill>
            <a:prstDash val="solid"/>
          </a:ln>
        </p:spPr>
      </p:sp>
      <p:sp>
        <p:nvSpPr>
          <p:cNvPr id="16" name="Shape 10"/>
          <p:cNvSpPr/>
          <p:nvPr/>
        </p:nvSpPr>
        <p:spPr>
          <a:xfrm>
            <a:off x="11782044" y="3813962"/>
            <a:ext cx="5105095" cy="9144"/>
          </a:xfrm>
          <a:prstGeom prst="rect">
            <a:avLst/>
          </a:prstGeom>
          <a:solidFill>
            <a:srgbClr val="BEB6A5"/>
          </a:solidFill>
          <a:ln w="12700">
            <a:solidFill>
              <a:srgbClr val="BEB6A5">
                <a:alpha val="0"/>
              </a:srgbClr>
            </a:solidFill>
            <a:prstDash val="solid"/>
          </a:ln>
        </p:spPr>
      </p:sp>
      <p:sp>
        <p:nvSpPr>
          <p:cNvPr id="17" name="Text 11"/>
          <p:cNvSpPr txBox="1"/>
          <p:nvPr/>
        </p:nvSpPr>
        <p:spPr>
          <a:xfrm>
            <a:off x="11782044" y="3937406"/>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성취기준 번호는 2022 개정 교육과정 기준. 정확한 본문은 국가교육과정정보센터에서 확인 필요</a:t>
            </a:r>
            <a:endParaRPr lang="en-US" sz="1650" dirty="0"/>
          </a:p>
        </p:txBody>
      </p:sp>
      <p:sp>
        <p:nvSpPr>
          <p:cNvPr id="22" name="Text 16"/>
          <p:cNvSpPr txBox="1"/>
          <p:nvPr/>
        </p:nvSpPr>
        <p:spPr>
          <a:xfrm>
            <a:off x="11782044" y="2571293"/>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[12미02-01]</a:t>
            </a:r>
            <a:endParaRPr lang="en-US" sz="1650" dirty="0"/>
          </a:p>
        </p:txBody>
      </p:sp>
      <p:sp>
        <p:nvSpPr>
          <p:cNvPr id="23" name="Text 17"/>
          <p:cNvSpPr txBox="1"/>
          <p:nvPr/>
        </p:nvSpPr>
        <p:spPr>
          <a:xfrm>
            <a:off x="13382244" y="2523744"/>
            <a:ext cx="33631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작품의 맥락을 이해하고 감상</a:t>
            </a:r>
            <a:endParaRPr lang="en-US" sz="1875" dirty="0"/>
          </a:p>
        </p:txBody>
      </p:sp>
      <p:sp>
        <p:nvSpPr>
          <p:cNvPr id="24" name="Text 18"/>
          <p:cNvSpPr txBox="1"/>
          <p:nvPr/>
        </p:nvSpPr>
        <p:spPr>
          <a:xfrm>
            <a:off x="11782044" y="3013862"/>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[12미03-04]</a:t>
            </a:r>
            <a:endParaRPr lang="en-US" sz="1650" dirty="0"/>
          </a:p>
        </p:txBody>
      </p:sp>
      <p:sp>
        <p:nvSpPr>
          <p:cNvPr id="25" name="Text 19"/>
          <p:cNvSpPr txBox="1"/>
          <p:nvPr/>
        </p:nvSpPr>
        <p:spPr>
          <a:xfrm>
            <a:off x="13382244" y="2966314"/>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미술과 사회의 관계 속에서 윤리적 태도 형성</a:t>
            </a:r>
            <a:endParaRPr lang="en-US" sz="1875" dirty="0"/>
          </a:p>
        </p:txBody>
      </p:sp>
      <p:sp>
        <p:nvSpPr>
          <p:cNvPr id="26" name="Text 20"/>
          <p:cNvSpPr txBox="1"/>
          <p:nvPr/>
        </p:nvSpPr>
        <p:spPr>
          <a:xfrm>
            <a:off x="11525098" y="459028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이론 근거</a:t>
            </a:r>
            <a:endParaRPr lang="en-US" sz="1650" dirty="0"/>
          </a:p>
        </p:txBody>
      </p:sp>
      <p:sp>
        <p:nvSpPr>
          <p:cNvPr id="27" name="Text 21"/>
          <p:cNvSpPr txBox="1"/>
          <p:nvPr/>
        </p:nvSpPr>
        <p:spPr>
          <a:xfrm>
            <a:off x="11525098" y="5200193"/>
            <a:ext cx="5619902" cy="2830068"/>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바르트 『밝은 방』(1980) — 그것은-존재했음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퍼스 기호 삼분법 — 도상·지표·상징</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크라우스 「지표에 관한 노트」(1977)</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벤야민(1936) · 버거(1972) · 미첼(1992) · 거닝(2004)</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미국 저작권청 결정 4건 · 한국 AI 기본법</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운영</a:t>
            </a:r>
            <a:endParaRPr lang="en-US" sz="16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1619402"/>
          <a:ext cx="16002000" cy="6277356"/>
        </p:xfrm>
        <a:graphic>
          <a:graphicData uri="http://schemas.openxmlformats.org/drawingml/2006/table">
            <a:tbl>
              <a:tblPr/>
              <a:tblGrid>
                <a:gridCol w="1238098"/>
                <a:gridCol w="2190902"/>
                <a:gridCol w="5715000"/>
                <a:gridCol w="6858000"/>
              </a:tblGrid>
              <a:tr h="697484">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4차시 회상 → 가드너 사진 제시 후 “이 사진은 사실입니까” 발문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카드 지참 확인, 짝과 카드 교환 점검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지표성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바르트 ‘그것은-존재했음’ · 퍼스 삼분법 · 크라우스 지표 개념 해설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5 ① — 세 기호 유형 분류 연습</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35–50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조작의 역사</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가드너·카파 사례와 세계보도사진전 규정 비교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“어디까지가 편집이고 어디부터가 조작인가” 기준선 작성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50–62</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기계 이미지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벤야민 아우라 · 버거 복제 · 미첼/거닝 논쟁 요약</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5 ② — 진실 주장은 어디서 오는가 한 문장</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62–90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프롬프트 작성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9C2A1F"/>
                          </a:solidFill>
                          <a:latin typeface="Noto Serif KR" pitchFamily="34" charset="0"/>
                          <a:ea typeface="Noto Serif KR" pitchFamily="34" charset="-122"/>
                          <a:cs typeface="Noto Serif KR" pitchFamily="34" charset="-120"/>
                        </a:rPr>
                        <a:t>AI 사용 시작</a:t>
                      </a:r>
                      <a:pPr indent="0" marL="0">
                        <a:buNone/>
                      </a:pPr>
                      <a:r>
                        <a:rPr lang="en-US" sz="1725" dirty="0">
                          <a:solidFill>
                            <a:srgbClr val="3A362C"/>
                          </a:solidFill>
                          <a:latin typeface="Noto Serif KR" pitchFamily="34" charset="0"/>
                          <a:ea typeface="Noto Serif KR" pitchFamily="34" charset="-122"/>
                          <a:cs typeface="Noto Serif KR" pitchFamily="34" charset="-120"/>
                        </a:rPr>
                        <a:t> — 카드→프롬프트 변환 규칙 시연, 생성 절차 안내</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프롬프트 작성 및 1차 생성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90–103</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검증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3단 검증표 배포, 모둠 교차 검증 진행</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짝의 결과를 카드와 대조, 재작성 지점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103–115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5</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저자성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미국 저작권청 4건 · 한국 AI 기본법 · 우연의 미학</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5 ③ — “이 이미지의 저자는 누구인가” 입장 작성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115–120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발문 및 6차시 예고 — 캡션 작업 안내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생성 파일 저장 규칙 확인 후 제출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6" name="Shape 2"/>
          <p:cNvSpPr/>
          <p:nvPr/>
        </p:nvSpPr>
        <p:spPr>
          <a:xfrm>
            <a:off x="1143000" y="9430207"/>
            <a:ext cx="16002000" cy="1057046"/>
          </a:xfrm>
          <a:prstGeom prst="rect">
            <a:avLst/>
          </a:prstGeom>
          <a:solidFill>
            <a:srgbClr val="9C2A1F">
              <a:alpha val="6000"/>
            </a:srgbClr>
          </a:solidFill>
          <a:ln w="12700">
            <a:solidFill>
              <a:srgbClr val="9C2A1F"/>
            </a:solidFill>
            <a:prstDash val="solid"/>
          </a:ln>
        </p:spPr>
      </p:sp>
      <p:sp>
        <p:nvSpPr>
          <p:cNvPr id="7" name="Text 3"/>
          <p:cNvSpPr txBox="1"/>
          <p:nvPr/>
        </p:nvSpPr>
        <p:spPr>
          <a:xfrm>
            <a:off x="1419149" y="9572854"/>
            <a:ext cx="15449702"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운영 유의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생성 시간이 길어지면 전개 5가 사라진다.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1인 3회 생성으로 상한을 정하고</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마음에 들지 않아도 검증 단계로 넘어가게 한다. 재생성은 6차시 도입에서 허용한다.</a:t>
            </a:r>
            <a:endParaRPr lang="en-US" sz="17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4190695"/>
            <a:ext cx="5395140"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지난 차시 확인</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도입</a:t>
            </a:r>
            <a:endParaRPr lang="en-US" sz="1650" dirty="0"/>
          </a:p>
        </p:txBody>
      </p:sp>
      <p:sp>
        <p:nvSpPr>
          <p:cNvPr id="7"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카드에 이미 답이 적혀 있다</a:t>
            </a:r>
            <a:endParaRPr lang="en-US" sz="3450" dirty="0"/>
          </a:p>
        </p:txBody>
      </p:sp>
      <p:sp>
        <p:nvSpPr>
          <p:cNvPr id="8" name="Text 3"/>
          <p:cNvSpPr txBox="1"/>
          <p:nvPr/>
        </p:nvSpPr>
        <p:spPr>
          <a:xfrm>
            <a:off x="1143000" y="2381098"/>
            <a:ext cx="9811512"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오늘 우리는 새로 상상하지 않는다. 4차시에 쓴 카드의 문장을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이미지가 알아들을 수 있는 형태로 옮긴다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카드가 곧 설계도이고, 프롬프트는 그 설계도의 번역이다.</a:t>
            </a:r>
            <a:endParaRPr lang="en-US" sz="2175" dirty="0"/>
          </a:p>
        </p:txBody>
      </p:sp>
      <p:sp>
        <p:nvSpPr>
          <p:cNvPr id="9" name="Text 4"/>
          <p:cNvSpPr txBox="1"/>
          <p:nvPr/>
        </p:nvSpPr>
        <p:spPr>
          <a:xfrm>
            <a:off x="1143000" y="384779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1~4차시가 쌓아 온 것</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9811512" cy="2686507"/>
        </p:xfrm>
        <a:graphic>
          <a:graphicData uri="http://schemas.openxmlformats.org/drawingml/2006/table">
            <a:tbl>
              <a:tblPr/>
              <a:tblGrid>
                <a:gridCol w="1238098"/>
                <a:gridCol w="8572500"/>
              </a:tblGrid>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선택·명명·전시</a:t>
                      </a:r>
                      <a:pPr indent="0" marL="0">
                        <a:buNone/>
                      </a:pPr>
                      <a:r>
                        <a:rPr lang="en-US" sz="1875" dirty="0">
                          <a:solidFill>
                            <a:srgbClr val="3A362C"/>
                          </a:solidFill>
                          <a:latin typeface="Noto Serif KR" pitchFamily="34" charset="0"/>
                          <a:ea typeface="Noto Serif KR" pitchFamily="34" charset="-122"/>
                          <a:cs typeface="Noto Serif KR" pitchFamily="34" charset="-120"/>
                        </a:rPr>
                        <a:t>가 미술의 권한임을 확인했다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미술은 </a:t>
                      </a:r>
                      <a:pPr indent="0" marL="0">
                        <a:buNone/>
                      </a:pPr>
                      <a:r>
                        <a:rPr lang="en-US" sz="1875" b="1" dirty="0">
                          <a:solidFill>
                            <a:srgbClr val="17150F"/>
                          </a:solidFill>
                          <a:latin typeface="Noto Serif KR" pitchFamily="34" charset="0"/>
                          <a:ea typeface="Noto Serif KR" pitchFamily="34" charset="-122"/>
                          <a:cs typeface="Noto Serif KR" pitchFamily="34" charset="-120"/>
                        </a:rPr>
                        <a:t>제도가 승인</a:t>
                      </a:r>
                      <a:pPr indent="0" marL="0">
                        <a:buNone/>
                      </a:pPr>
                      <a:r>
                        <a:rPr lang="en-US" sz="1875" dirty="0">
                          <a:solidFill>
                            <a:srgbClr val="3A362C"/>
                          </a:solidFill>
                          <a:latin typeface="Noto Serif KR" pitchFamily="34" charset="0"/>
                          <a:ea typeface="Noto Serif KR" pitchFamily="34" charset="-122"/>
                          <a:cs typeface="Noto Serif KR" pitchFamily="34" charset="-120"/>
                        </a:rPr>
                        <a:t>하며, 허구는 </a:t>
                      </a:r>
                      <a:pPr indent="0" marL="0">
                        <a:buNone/>
                      </a:pPr>
                      <a:r>
                        <a:rPr lang="en-US" sz="1875" b="1" dirty="0">
                          <a:solidFill>
                            <a:srgbClr val="17150F"/>
                          </a:solidFill>
                          <a:latin typeface="Noto Serif KR" pitchFamily="34" charset="0"/>
                          <a:ea typeface="Noto Serif KR" pitchFamily="34" charset="-122"/>
                          <a:cs typeface="Noto Serif KR" pitchFamily="34" charset="-120"/>
                        </a:rPr>
                        <a:t>표기</a:t>
                      </a:r>
                      <a:pPr indent="0" marL="0">
                        <a:buNone/>
                      </a:pPr>
                      <a:r>
                        <a:rPr lang="en-US" sz="1875" dirty="0">
                          <a:solidFill>
                            <a:srgbClr val="3A362C"/>
                          </a:solidFill>
                          <a:latin typeface="Noto Serif KR" pitchFamily="34" charset="0"/>
                          <a:ea typeface="Noto Serif KR" pitchFamily="34" charset="-122"/>
                          <a:cs typeface="Noto Serif KR" pitchFamily="34" charset="-120"/>
                        </a:rPr>
                        <a:t>로만 비평이 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보여 주는 방식이 </a:t>
                      </a:r>
                      <a:pPr indent="0" marL="0">
                        <a:buNone/>
                      </a:pPr>
                      <a:r>
                        <a:rPr lang="en-US" sz="1875" b="1" dirty="0">
                          <a:solidFill>
                            <a:srgbClr val="17150F"/>
                          </a:solidFill>
                          <a:latin typeface="Noto Serif KR" pitchFamily="34" charset="0"/>
                          <a:ea typeface="Noto Serif KR" pitchFamily="34" charset="-122"/>
                          <a:cs typeface="Noto Serif KR" pitchFamily="34" charset="-120"/>
                        </a:rPr>
                        <a:t>누구의 말을 들리게</a:t>
                      </a:r>
                      <a:pPr indent="0" marL="0">
                        <a:buNone/>
                      </a:pPr>
                      <a:r>
                        <a:rPr lang="en-US" sz="1875" dirty="0">
                          <a:solidFill>
                            <a:srgbClr val="3A362C"/>
                          </a:solidFill>
                          <a:latin typeface="Noto Serif KR" pitchFamily="34" charset="0"/>
                          <a:ea typeface="Noto Serif KR" pitchFamily="34" charset="-122"/>
                          <a:cs typeface="Noto Serif KR" pitchFamily="34" charset="-120"/>
                        </a:rPr>
                        <a:t> 하는지 결정한다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4차시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유물의 설득력은 </a:t>
                      </a:r>
                      <a:pPr indent="0" marL="0">
                        <a:buNone/>
                      </a:pPr>
                      <a:r>
                        <a:rPr lang="en-US" sz="1875" b="1" dirty="0">
                          <a:solidFill>
                            <a:srgbClr val="9C2A1F"/>
                          </a:solidFill>
                          <a:latin typeface="Noto Serif KR" pitchFamily="34" charset="0"/>
                          <a:ea typeface="Noto Serif KR" pitchFamily="34" charset="-122"/>
                          <a:cs typeface="Noto Serif KR" pitchFamily="34" charset="-120"/>
                        </a:rPr>
                        <a:t>근거의 일관성</a:t>
                      </a:r>
                      <a:pPr indent="0" marL="0">
                        <a:buNone/>
                      </a:pPr>
                      <a:r>
                        <a:rPr lang="en-US" sz="1875" dirty="0">
                          <a:solidFill>
                            <a:srgbClr val="3A362C"/>
                          </a:solidFill>
                          <a:latin typeface="Noto Serif KR" pitchFamily="34" charset="0"/>
                          <a:ea typeface="Noto Serif KR" pitchFamily="34" charset="-122"/>
                          <a:cs typeface="Noto Serif KR" pitchFamily="34" charset="-120"/>
                        </a:rPr>
                        <a:t>에서 온다 — 카드 9칸</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315200"/>
            <a:ext cx="9810598" cy="1886407"/>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552944"/>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처음 등장하는 질문</a:t>
            </a:r>
            <a:endParaRPr lang="en-US" sz="1575" dirty="0"/>
          </a:p>
        </p:txBody>
      </p:sp>
      <p:pic>
        <p:nvPicPr>
          <p:cNvPr id="13" name="Image 3" descr="gen-dedup-7cde0152aae0e987b34280df86a6917f.png">    </p:cNvPr>
          <p:cNvPicPr>
            <a:picLocks noChangeAspect="1"/>
          </p:cNvPicPr>
          <p:nvPr/>
        </p:nvPicPr>
        <p:blipFill>
          <a:blip r:embed="rId4"/>
          <a:stretch/>
        </p:blipFill>
        <p:spPr>
          <a:xfrm>
            <a:off x="1622721" y="7972654"/>
            <a:ext cx="8851156" cy="9144"/>
          </a:xfrm>
          <a:prstGeom prst="rect">
            <a:avLst/>
          </a:prstGeom>
        </p:spPr>
      </p:pic>
      <p:sp>
        <p:nvSpPr>
          <p:cNvPr id="14" name="Text 7"/>
          <p:cNvSpPr txBox="1"/>
          <p:nvPr/>
        </p:nvSpPr>
        <p:spPr>
          <a:xfrm>
            <a:off x="1438351" y="8134502"/>
            <a:ext cx="922081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4차시까지는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우리가 만든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이었다. 오늘부터 이미지는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기계가 만든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그렇다면 이 작업의 저자는 누구인가. 이 질문에 답하는 것이 전개 5의 과제다.</a:t>
            </a:r>
            <a:endParaRPr lang="en-US" sz="1875" dirty="0"/>
          </a:p>
        </p:txBody>
      </p:sp>
      <p:sp>
        <p:nvSpPr>
          <p:cNvPr id="15" name="Text 8"/>
          <p:cNvSpPr txBox="1"/>
          <p:nvPr/>
        </p:nvSpPr>
        <p:spPr>
          <a:xfrm>
            <a:off x="11525098" y="384779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지참물 점검 — 3분</a:t>
            </a:r>
            <a:endParaRPr lang="en-US" sz="1650" dirty="0"/>
          </a:p>
        </p:txBody>
      </p:sp>
      <p:sp>
        <p:nvSpPr>
          <p:cNvPr id="16" name="Text 9"/>
          <p:cNvSpPr txBox="1"/>
          <p:nvPr/>
        </p:nvSpPr>
        <p:spPr>
          <a:xfrm>
            <a:off x="11525098" y="4457700"/>
            <a:ext cx="5619902" cy="290413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[별지 4]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4면 카드</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꺼내 책상 위에 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⑦ 사용 흔적 · ⑧ 매몰 흔적 칸이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비어 있지 않은지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 확인한다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비어 있다면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지금 5분 안에</a:t>
            </a:r>
            <a:pPr algn="l" indent="0" marL="0">
              <a:buNone/>
            </a:pPr>
            <a:r>
              <a:rPr lang="en-US" sz="1800" dirty="0">
                <a:solidFill>
                  <a:srgbClr val="3A362C"/>
                </a:solidFill>
                <a:latin typeface="Noto Serif KR" pitchFamily="34" charset="0"/>
                <a:ea typeface="Noto Serif KR" pitchFamily="34" charset="-122"/>
                <a:cs typeface="Noto Serif KR" pitchFamily="34" charset="-120"/>
              </a:rPr>
              <a:t> 채운다. 프롬프트를 쓸 수 없다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짝과 카드를 교환해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읽을 수 있는지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 확인받는다</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0000"/>
            </a:srgbClr>
          </a:solidFill>
          <a:ln w="12700">
            <a:solidFill>
              <a:srgbClr val="FFFFFF">
                <a:alpha val="0"/>
              </a:srgbClr>
            </a:solidFill>
            <a:prstDash val="solid"/>
          </a:ln>
        </p:spPr>
      </p:sp>
      <p:pic>
        <p:nvPicPr>
          <p:cNvPr id="3" name="Image 0" descr="gen-dedup-370a40d18ccfa9c65deab7871a8d7580.jpg">    </p:cNvPr>
          <p:cNvPicPr>
            <a:picLocks noChangeAspect="1"/>
          </p:cNvPicPr>
          <p:nvPr/>
        </p:nvPicPr>
        <p:blipFill>
          <a:blip r:embed="rId1">
            <a:alphaModFix amt="88000"/>
          </a:blip>
          <a:stretch>
            <a:fillRect/>
          </a:stretch>
        </p:blipFill>
        <p:spPr>
          <a:xfrm>
            <a:off x="10477195" y="0"/>
            <a:ext cx="7810805" cy="10294575"/>
          </a:xfrm>
          <a:prstGeom prst="rect">
            <a:avLst/>
          </a:prstGeom>
        </p:spPr>
      </p:pic>
      <p:pic>
        <p:nvPicPr>
          <p:cNvPr id="4" name="Image 1" descr="gen-dedup-7c8056c315ca4d18aba75248b832c329.png">    </p:cNvPr>
          <p:cNvPicPr>
            <a:picLocks noChangeAspect="1"/>
          </p:cNvPicPr>
          <p:nvPr/>
        </p:nvPicPr>
        <p:blipFill>
          <a:blip r:embed="rId2"/>
          <a:stretch/>
        </p:blipFill>
        <p:spPr>
          <a:xfrm>
            <a:off x="10477351" y="0"/>
            <a:ext cx="7810493" cy="10287000"/>
          </a:xfrm>
          <a:prstGeom prst="rect">
            <a:avLst/>
          </a:prstGeom>
        </p:spPr>
      </p:pic>
      <p:pic>
        <p:nvPicPr>
          <p:cNvPr id="5" name="Image 2" descr="gen-dedup-38ed6cd1d56bc3569e39913e8227a592.png">    </p:cNvPr>
          <p:cNvPicPr>
            <a:picLocks noChangeAspect="1"/>
          </p:cNvPicPr>
          <p:nvPr/>
        </p:nvPicPr>
        <p:blipFill>
          <a:blip r:embed="rId3"/>
          <a:stretch/>
        </p:blipFill>
        <p:spPr>
          <a:xfrm>
            <a:off x="1322049" y="1238098"/>
            <a:ext cx="8595708"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4190695"/>
            <a:ext cx="1255292" cy="47549"/>
          </a:xfrm>
          <a:prstGeom prst="rect">
            <a:avLst/>
          </a:prstGeom>
        </p:spPr>
      </p:pic>
      <p:pic>
        <p:nvPicPr>
          <p:cNvPr id="7" name="Image 4" descr="gen-dedup-38ed6cd1d56bc3569e39913e8227a592.png">    </p:cNvPr>
          <p:cNvPicPr>
            <a:picLocks noChangeAspect="1"/>
          </p:cNvPicPr>
          <p:nvPr/>
        </p:nvPicPr>
        <p:blipFill>
          <a:blip r:embed="rId5"/>
          <a:stretch/>
        </p:blipFill>
        <p:spPr>
          <a:xfrm>
            <a:off x="1322049" y="7391095"/>
            <a:ext cx="8595708" cy="9144"/>
          </a:xfrm>
          <a:prstGeom prst="rect">
            <a:avLst/>
          </a:prstGeom>
        </p:spPr>
      </p:pic>
      <p:sp>
        <p:nvSpPr>
          <p:cNvPr id="8" name="Text 1"/>
          <p:cNvSpPr txBox="1"/>
          <p:nvPr/>
        </p:nvSpPr>
        <p:spPr>
          <a:xfrm>
            <a:off x="1143000" y="800100"/>
            <a:ext cx="89538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00–10분</a:t>
            </a:r>
            <a:endParaRPr lang="en-US" sz="1800" dirty="0"/>
          </a:p>
        </p:txBody>
      </p:sp>
      <p:sp>
        <p:nvSpPr>
          <p:cNvPr id="9" name="Text 2"/>
          <p:cNvSpPr txBox="1"/>
          <p:nvPr/>
        </p:nvSpPr>
        <p:spPr>
          <a:xfrm>
            <a:off x="1143000" y="2018995"/>
            <a:ext cx="9144000" cy="1495958"/>
          </a:xfrm>
          <a:prstGeom prst="rect">
            <a:avLst/>
          </a:prstGeom>
          <a:noFill/>
          <a:ln/>
        </p:spPr>
        <p:txBody>
          <a:bodyPr wrap="square" lIns="0" tIns="0" rIns="0" bIns="0" rtlCol="0" anchor="t"/>
          <a:lstStyle/>
          <a:p>
            <a:pPr algn="l" indent="0" marL="0">
              <a:lnSpc>
                <a:spcPct val="126000"/>
              </a:lnSpc>
              <a:buNone/>
            </a:pPr>
            <a:r>
              <a:rPr lang="en-US" sz="4650" b="1" spc="-93" kern="0" dirty="0">
                <a:solidFill>
                  <a:srgbClr val="E4DFD4"/>
                </a:solidFill>
                <a:latin typeface="Noto Serif KR" pitchFamily="34" charset="0"/>
                <a:ea typeface="Noto Serif KR" pitchFamily="34" charset="-122"/>
                <a:cs typeface="Noto Serif KR" pitchFamily="34" charset="-120"/>
              </a:rPr>
              <a:t>이 사진은</a:t>
            </a:r>
            <a:pPr algn="l" indent="0" marL="0">
              <a:lnSpc>
                <a:spcPct val="126000"/>
              </a:lnSpc>
              <a:buNone/>
            </a:pPr>
            <a:endParaRPr lang="en-US" sz="4650" dirty="0"/>
          </a:p>
          <a:p>
            <a:pPr algn="l" indent="0" marL="0">
              <a:lnSpc>
                <a:spcPct val="126000"/>
              </a:lnSpc>
              <a:buNone/>
            </a:pPr>
            <a:r>
              <a:rPr lang="en-US" sz="4650" b="1" spc="-93" kern="0" dirty="0">
                <a:solidFill>
                  <a:srgbClr val="E4DFD4"/>
                </a:solidFill>
                <a:latin typeface="Noto Serif KR" pitchFamily="34" charset="0"/>
                <a:ea typeface="Noto Serif KR" pitchFamily="34" charset="-122"/>
                <a:cs typeface="Noto Serif KR" pitchFamily="34" charset="-120"/>
              </a:rPr>
              <a:t>사실입니까.</a:t>
            </a:r>
            <a:endParaRPr lang="en-US" sz="4650" dirty="0"/>
          </a:p>
        </p:txBody>
      </p:sp>
      <p:sp>
        <p:nvSpPr>
          <p:cNvPr id="10" name="Text 3"/>
          <p:cNvSpPr txBox="1"/>
          <p:nvPr/>
        </p:nvSpPr>
        <p:spPr>
          <a:xfrm>
            <a:off x="1143000" y="4610405"/>
            <a:ext cx="8953805" cy="1886407"/>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1863년 게티스버그. 알렉산더 가드너가 촬영한 이 사진은 오랫동안 전쟁의 참상을 증언하는 기록으로 쓰였다. 그런데 1961년, 한 연구자가 같은 시신이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다른 위치에서도 촬영되었다</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는 사실을 확인했다. 시신은 약 40야드 옮겨졌고, 소총은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따로 놓인 것</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이었다.</a:t>
            </a:r>
            <a:endParaRPr lang="en-US" sz="2175" dirty="0"/>
          </a:p>
        </p:txBody>
      </p:sp>
      <p:sp>
        <p:nvSpPr>
          <p:cNvPr id="11" name="Text 4"/>
          <p:cNvSpPr txBox="1"/>
          <p:nvPr/>
        </p:nvSpPr>
        <p:spPr>
          <a:xfrm>
            <a:off x="1143000" y="7048195"/>
            <a:ext cx="89538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묻는 순서 — 답을 정하지 않는다</a:t>
            </a:r>
            <a:endParaRPr lang="en-US" sz="1650" dirty="0"/>
          </a:p>
        </p:txBody>
      </p:sp>
      <p:sp>
        <p:nvSpPr>
          <p:cNvPr id="12" name="Text 5"/>
          <p:cNvSpPr txBox="1"/>
          <p:nvPr/>
        </p:nvSpPr>
        <p:spPr>
          <a:xfrm>
            <a:off x="1143000" y="7658100"/>
            <a:ext cx="8953805" cy="1897380"/>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1</a:t>
            </a:r>
            <a:pPr algn="l" indent="0" marL="0">
              <a:buNone/>
            </a:pPr>
            <a:r>
              <a:rPr lang="en-US" sz="1950" dirty="0">
                <a:solidFill>
                  <a:srgbClr val="A79E8C"/>
                </a:solidFill>
                <a:latin typeface="Noto Serif KR" pitchFamily="34" charset="0"/>
                <a:ea typeface="Noto Serif KR" pitchFamily="34" charset="-122"/>
                <a:cs typeface="Noto Serif KR" pitchFamily="34" charset="-120"/>
              </a:rPr>
              <a:t>이 사람은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실제로 죽었습니다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그럼 이 사진은 거짓입니까.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2</a:t>
            </a:r>
            <a:pPr algn="l" indent="0" marL="0">
              <a:buNone/>
            </a:pPr>
            <a:r>
              <a:rPr lang="en-US" sz="1950" dirty="0">
                <a:solidFill>
                  <a:srgbClr val="A79E8C"/>
                </a:solidFill>
                <a:latin typeface="Noto Serif KR" pitchFamily="34" charset="0"/>
                <a:ea typeface="Noto Serif KR" pitchFamily="34" charset="-122"/>
                <a:cs typeface="Noto Serif KR" pitchFamily="34" charset="-120"/>
              </a:rPr>
              <a:t>촬영자가 옮긴 것은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사실이 아니라 위치</a:t>
            </a:r>
            <a:pPr algn="l" indent="0" marL="0">
              <a:buNone/>
            </a:pPr>
            <a:r>
              <a:rPr lang="en-US" sz="1950" dirty="0">
                <a:solidFill>
                  <a:srgbClr val="A79E8C"/>
                </a:solidFill>
                <a:latin typeface="Noto Serif KR" pitchFamily="34" charset="0"/>
                <a:ea typeface="Noto Serif KR" pitchFamily="34" charset="-122"/>
                <a:cs typeface="Noto Serif KR" pitchFamily="34" charset="-120"/>
              </a:rPr>
              <a:t>입니다. 그것도 조작입니까.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3</a:t>
            </a:r>
            <a:pPr algn="l" indent="0" marL="0">
              <a:buNone/>
            </a:pPr>
            <a:r>
              <a:rPr lang="en-US" sz="1950" dirty="0">
                <a:solidFill>
                  <a:srgbClr val="A79E8C"/>
                </a:solidFill>
                <a:latin typeface="Noto Serif KR" pitchFamily="34" charset="0"/>
                <a:ea typeface="Noto Serif KR" pitchFamily="34" charset="-122"/>
                <a:cs typeface="Noto Serif KR" pitchFamily="34" charset="-120"/>
              </a:rPr>
              <a:t>오늘 우리가 만들 이미지는 </a:t>
            </a:r>
            <a:pPr algn="l" indent="0" marL="0">
              <a:buNone/>
            </a:pPr>
            <a:r>
              <a:rPr lang="en-US" sz="1950" dirty="0">
                <a:solidFill>
                  <a:srgbClr val="FFFFFF"/>
                </a:solidFill>
                <a:latin typeface="Noto Serif KR" pitchFamily="34" charset="0"/>
                <a:ea typeface="Noto Serif KR" pitchFamily="34" charset="-122"/>
                <a:cs typeface="Noto Serif KR" pitchFamily="34" charset="-120"/>
              </a:rPr>
              <a:t>아무것도 실재하지 않습니다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그럼 무엇이 다릅니까.</a:t>
            </a:r>
            <a:endParaRPr lang="en-US" sz="1200" dirty="0"/>
          </a:p>
        </p:txBody>
      </p:sp>
      <p:sp>
        <p:nvSpPr>
          <p:cNvPr id="13" name="Text 6"/>
          <p:cNvSpPr txBox="1"/>
          <p:nvPr/>
        </p:nvSpPr>
        <p:spPr>
          <a:xfrm>
            <a:off x="1143000" y="9753905"/>
            <a:ext cx="8953805" cy="609905"/>
          </a:xfrm>
          <a:prstGeom prst="rect">
            <a:avLst/>
          </a:prstGeom>
          <a:noFill/>
          <a:ln/>
        </p:spPr>
        <p:txBody>
          <a:bodyPr wrap="squar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도입 — 출처: Library of Congress, Art Institute of Chicago 소장 기록</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1">
            <a:alphaModFix amt="88000"/>
          </a:blip>
          <a:stretch>
            <a:fillRect/>
          </a:stretch>
        </p:blipFill>
        <p:spPr>
          <a:xfrm>
            <a:off x="11239805" y="0"/>
            <a:ext cx="7053943"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10–35분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빛이 닿았다는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물리적 사실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사진이 그림보다 믿기는 이유는 잘 그렸기 때문이 아니다.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대상에서 나온 빛이 실제로 감광면에 닿았다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는 물리적 연결 때문이다. 이 연결을 이론은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지표성</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이라 부른다.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1 — 지표성</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515307"/>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롤랑 바르트 『밝은 방』(1980)</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①</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사진이 말하는 단 하나의 문장</a:t>
            </a:r>
            <a:endParaRPr lang="en-US" sz="3450" dirty="0"/>
          </a:p>
        </p:txBody>
      </p:sp>
      <p:sp>
        <p:nvSpPr>
          <p:cNvPr id="7" name="Text 3"/>
          <p:cNvSpPr txBox="1"/>
          <p:nvPr/>
        </p:nvSpPr>
        <p:spPr>
          <a:xfrm>
            <a:off x="1143000" y="2381098"/>
            <a:ext cx="9811512" cy="448056"/>
          </a:xfrm>
          <a:prstGeom prst="rect">
            <a:avLst/>
          </a:prstGeom>
          <a:noFill/>
          <a:ln/>
        </p:spPr>
        <p:txBody>
          <a:bodyPr wrap="none" lIns="0" tIns="0" rIns="0" bIns="0" rtlCol="0" anchor="ctr"/>
          <a:lstStyle/>
          <a:p>
            <a:pPr algn="l" indent="0" marL="0">
              <a:buNone/>
            </a:pPr>
            <a:r>
              <a:rPr lang="en-US" sz="2175" i="1" dirty="0">
                <a:solidFill>
                  <a:srgbClr val="17150F"/>
                </a:solidFill>
                <a:latin typeface="Noto Serif KR" pitchFamily="34" charset="0"/>
                <a:ea typeface="Noto Serif KR" pitchFamily="34" charset="-122"/>
                <a:cs typeface="Noto Serif KR" pitchFamily="34" charset="-120"/>
              </a:rPr>
              <a:t>“Photography's noeme is </a:t>
            </a:r>
            <a:pPr algn="l" indent="0" marL="0">
              <a:buNone/>
            </a:pPr>
            <a:r>
              <a:rPr lang="en-US" sz="2175" i="1" dirty="0">
                <a:solidFill>
                  <a:srgbClr val="17150F"/>
                </a:solidFill>
                <a:latin typeface="Noto Serif KR" pitchFamily="34" charset="0"/>
                <a:ea typeface="Noto Serif KR" pitchFamily="34" charset="-122"/>
                <a:cs typeface="Noto Serif KR" pitchFamily="34" charset="-120"/>
              </a:rPr>
              <a:t>that-has-been</a:t>
            </a:r>
            <a:pPr algn="l" indent="0" marL="0">
              <a:buNone/>
            </a:pPr>
            <a:r>
              <a:rPr lang="en-US" sz="2175" i="1" dirty="0">
                <a:solidFill>
                  <a:srgbClr val="17150F"/>
                </a:solidFill>
                <a:latin typeface="Noto Serif KR" pitchFamily="34" charset="0"/>
                <a:ea typeface="Noto Serif KR" pitchFamily="34" charset="-122"/>
                <a:cs typeface="Noto Serif KR" pitchFamily="34" charset="-120"/>
              </a:rPr>
              <a:t> (ça-a-été).”</a:t>
            </a:r>
            <a:endParaRPr lang="en-US" sz="2175" dirty="0"/>
          </a:p>
        </p:txBody>
      </p:sp>
      <p:sp>
        <p:nvSpPr>
          <p:cNvPr id="8" name="Text 4"/>
          <p:cNvSpPr txBox="1"/>
          <p:nvPr/>
        </p:nvSpPr>
        <p:spPr>
          <a:xfrm>
            <a:off x="1143000" y="2961742"/>
            <a:ext cx="9811512" cy="448056"/>
          </a:xfrm>
          <a:prstGeom prst="rect">
            <a:avLst/>
          </a:prstGeom>
          <a:noFill/>
          <a:ln/>
        </p:spPr>
        <p:txBody>
          <a:bodyPr wrap="none" lIns="0" tIns="0" rIns="0" bIns="0" rtlCol="0" anchor="ctr"/>
          <a:lstStyle/>
          <a:p>
            <a:pPr algn="l" indent="0" marL="0">
              <a:buNone/>
            </a:pPr>
            <a:r>
              <a:rPr lang="en-US" sz="2025" dirty="0">
                <a:solidFill>
                  <a:srgbClr val="3A362C"/>
                </a:solidFill>
                <a:latin typeface="Noto Serif KR" pitchFamily="34" charset="0"/>
                <a:ea typeface="Noto Serif KR" pitchFamily="34" charset="-122"/>
                <a:cs typeface="Noto Serif KR" pitchFamily="34" charset="-120"/>
              </a:rPr>
              <a:t>사진의 </a:t>
            </a:r>
            <a:pPr algn="l" indent="0" marL="0">
              <a:buNone/>
            </a:pPr>
            <a:r>
              <a:rPr lang="en-US" sz="2025" b="1" dirty="0">
                <a:solidFill>
                  <a:srgbClr val="17150F"/>
                </a:solidFill>
                <a:latin typeface="Noto Serif KR" pitchFamily="34" charset="0"/>
                <a:ea typeface="Noto Serif KR" pitchFamily="34" charset="-122"/>
                <a:cs typeface="Noto Serif KR" pitchFamily="34" charset="-120"/>
              </a:rPr>
              <a:t>노에마</a:t>
            </a:r>
            <a:pPr algn="l" indent="0" marL="0">
              <a:buNone/>
            </a:pPr>
            <a:r>
              <a:rPr lang="en-US" sz="2025" dirty="0">
                <a:solidFill>
                  <a:srgbClr val="3A362C"/>
                </a:solidFill>
                <a:latin typeface="Noto Serif KR" pitchFamily="34" charset="0"/>
                <a:ea typeface="Noto Serif KR" pitchFamily="34" charset="-122"/>
                <a:cs typeface="Noto Serif KR" pitchFamily="34" charset="-120"/>
              </a:rPr>
              <a:t>는 </a:t>
            </a:r>
            <a:pPr algn="l" indent="0" marL="0">
              <a:buNone/>
            </a:pPr>
            <a:r>
              <a:rPr lang="en-US" sz="2025" b="1" dirty="0">
                <a:solidFill>
                  <a:srgbClr val="9C2A1F"/>
                </a:solidFill>
                <a:latin typeface="Noto Serif KR" pitchFamily="34" charset="0"/>
                <a:ea typeface="Noto Serif KR" pitchFamily="34" charset="-122"/>
                <a:cs typeface="Noto Serif KR" pitchFamily="34" charset="-120"/>
              </a:rPr>
              <a:t>‘그것은-존재했음’</a:t>
            </a:r>
            <a:pPr algn="l" indent="0" marL="0">
              <a:buNone/>
            </a:pPr>
            <a:r>
              <a:rPr lang="en-US" sz="2025" dirty="0">
                <a:solidFill>
                  <a:srgbClr val="3A362C"/>
                </a:solidFill>
                <a:latin typeface="Noto Serif KR" pitchFamily="34" charset="0"/>
                <a:ea typeface="Noto Serif KR" pitchFamily="34" charset="-122"/>
                <a:cs typeface="Noto Serif KR" pitchFamily="34" charset="-120"/>
              </a:rPr>
              <a:t>이다.</a:t>
            </a:r>
            <a:endParaRPr lang="en-US" sz="2025" dirty="0"/>
          </a:p>
        </p:txBody>
      </p:sp>
      <p:sp>
        <p:nvSpPr>
          <p:cNvPr id="9" name="Text 5"/>
          <p:cNvSpPr txBox="1"/>
          <p:nvPr/>
        </p:nvSpPr>
        <p:spPr>
          <a:xfrm>
            <a:off x="1143000" y="3518611"/>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Roland Barthes, 『La Chambre claire』(1980) §13 · 영역 Richard Howard(1981)</a:t>
            </a:r>
            <a:endParaRPr lang="en-US" sz="1650" dirty="0"/>
          </a:p>
        </p:txBody>
      </p:sp>
      <p:sp>
        <p:nvSpPr>
          <p:cNvPr id="10" name="Text 6"/>
          <p:cNvSpPr txBox="1"/>
          <p:nvPr/>
        </p:nvSpPr>
        <p:spPr>
          <a:xfrm>
            <a:off x="1143000" y="48198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바르트는 사진의 본질을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아름다움</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닮음</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에서 찾지 않았다. 사진이 하는 말은 “이것은 아름답다”가 아니고 “이것은 무엇을 닮았다”도 아니다. 오직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“이것은 있었다”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이다. 그림은 이 말을 할 수 없다.</a:t>
            </a:r>
            <a:endParaRPr lang="en-US" sz="2025" dirty="0"/>
          </a:p>
        </p:txBody>
      </p:sp>
      <p:sp>
        <p:nvSpPr>
          <p:cNvPr id="11" name="Shape 7"/>
          <p:cNvSpPr/>
          <p:nvPr/>
        </p:nvSpPr>
        <p:spPr>
          <a:xfrm>
            <a:off x="1143000" y="6400800"/>
            <a:ext cx="9810598" cy="3581705"/>
          </a:xfrm>
          <a:prstGeom prst="rect">
            <a:avLst/>
          </a:prstGeom>
          <a:solidFill>
            <a:srgbClr val="FFFFFF">
              <a:alpha val="36000"/>
            </a:srgbClr>
          </a:solidFill>
          <a:ln w="12700">
            <a:solidFill>
              <a:srgbClr val="BEB6A5"/>
            </a:solidFill>
            <a:prstDash val="solid"/>
          </a:ln>
        </p:spPr>
      </p:sp>
      <p:sp>
        <p:nvSpPr>
          <p:cNvPr id="12" name="Text 8"/>
          <p:cNvSpPr txBox="1"/>
          <p:nvPr/>
        </p:nvSpPr>
        <p:spPr>
          <a:xfrm>
            <a:off x="1457554" y="665774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그래서 사진은 ‘현존의 인증서’다</a:t>
            </a:r>
            <a:endParaRPr lang="en-US" sz="1650" dirty="0"/>
          </a:p>
        </p:txBody>
      </p:sp>
      <p:pic>
        <p:nvPicPr>
          <p:cNvPr id="13" name="Image 2" descr="gen-dedup-7cde0152aae0e987b34280df86a6917f.png">    </p:cNvPr>
          <p:cNvPicPr>
            <a:picLocks noChangeAspect="1"/>
          </p:cNvPicPr>
          <p:nvPr/>
        </p:nvPicPr>
        <p:blipFill>
          <a:blip r:embed="rId3"/>
          <a:stretch/>
        </p:blipFill>
        <p:spPr>
          <a:xfrm>
            <a:off x="1641174" y="7114946"/>
            <a:ext cx="8815165" cy="9144"/>
          </a:xfrm>
          <a:prstGeom prst="rect">
            <a:avLst/>
          </a:prstGeom>
        </p:spPr>
      </p:pic>
      <p:sp>
        <p:nvSpPr>
          <p:cNvPr id="14" name="Text 9"/>
          <p:cNvSpPr txBox="1"/>
          <p:nvPr/>
        </p:nvSpPr>
        <p:spPr>
          <a:xfrm>
            <a:off x="1457554" y="7295998"/>
            <a:ext cx="91824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바르트는 사진을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현존의 인증서certificate of presence</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라 불렀다. 지각적으로는 틀릴 수 있지만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시간적으로는 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흐릿하고 잘못 찍힌 사진조차 “그 순간 그것이 렌즈 앞에 있었다”는 사실은 바꾸지 못한다.</a:t>
            </a:r>
            <a:endParaRPr lang="en-US" sz="1875" dirty="0"/>
          </a:p>
        </p:txBody>
      </p:sp>
      <p:pic>
        <p:nvPicPr>
          <p:cNvPr id="15" name="Image 3" descr="gen-dedup-30ab6479ac51d488179e17cc12ddf881.png">    </p:cNvPr>
          <p:cNvPicPr>
            <a:picLocks noChangeAspect="1"/>
          </p:cNvPicPr>
          <p:nvPr/>
        </p:nvPicPr>
        <p:blipFill>
          <a:blip r:embed="rId4"/>
          <a:stretch/>
        </p:blipFill>
        <p:spPr>
          <a:xfrm>
            <a:off x="1641174" y="8710574"/>
            <a:ext cx="8815165" cy="9144"/>
          </a:xfrm>
          <a:prstGeom prst="rect">
            <a:avLst/>
          </a:prstGeom>
        </p:spPr>
      </p:pic>
      <p:sp>
        <p:nvSpPr>
          <p:cNvPr id="16" name="Text 10"/>
          <p:cNvSpPr txBox="1"/>
          <p:nvPr/>
        </p:nvSpPr>
        <p:spPr>
          <a:xfrm>
            <a:off x="1457554" y="8891626"/>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가드너의 사진도 이 층위에서는 참이다. 그 사람은 실제로 죽었고 실제로 거기 있었다.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옮겨진 것은 존재가 아니라 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였다.</a:t>
            </a:r>
            <a:endParaRPr lang="en-US" sz="1875" dirty="0"/>
          </a:p>
        </p:txBody>
      </p:sp>
      <p:sp>
        <p:nvSpPr>
          <p:cNvPr id="17" name="Shape 11"/>
          <p:cNvSpPr/>
          <p:nvPr/>
        </p:nvSpPr>
        <p:spPr>
          <a:xfrm>
            <a:off x="11620195" y="1466698"/>
            <a:ext cx="5524805" cy="4914900"/>
          </a:xfrm>
          <a:prstGeom prst="rect">
            <a:avLst/>
          </a:prstGeom>
          <a:solidFill>
            <a:srgbClr val="FFFFFF">
              <a:alpha val="42000"/>
            </a:srgbClr>
          </a:solidFill>
          <a:ln w="12700">
            <a:solidFill>
              <a:srgbClr val="BEB6A5"/>
            </a:solidFill>
            <a:prstDash val="solid"/>
          </a:ln>
        </p:spPr>
      </p:sp>
      <p:sp>
        <p:nvSpPr>
          <p:cNvPr id="18" name="Shape 12"/>
          <p:cNvSpPr/>
          <p:nvPr/>
        </p:nvSpPr>
        <p:spPr>
          <a:xfrm>
            <a:off x="11878056" y="5734202"/>
            <a:ext cx="5009998" cy="9144"/>
          </a:xfrm>
          <a:prstGeom prst="rect">
            <a:avLst/>
          </a:prstGeom>
          <a:solidFill>
            <a:srgbClr val="BEB6A5"/>
          </a:solidFill>
          <a:ln w="12700">
            <a:solidFill>
              <a:srgbClr val="BEB6A5">
                <a:alpha val="0"/>
              </a:srgbClr>
            </a:solidFill>
            <a:prstDash val="solid"/>
          </a:ln>
        </p:spPr>
      </p:sp>
      <p:sp>
        <p:nvSpPr>
          <p:cNvPr id="20"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1" name="Text 15"/>
          <p:cNvSpPr txBox="1"/>
          <p:nvPr/>
        </p:nvSpPr>
        <p:spPr>
          <a:xfrm>
            <a:off x="13478256" y="1686154"/>
            <a:ext cx="35433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롤랑 바르트 Roland Barthes</a:t>
            </a:r>
            <a:endParaRPr lang="en-US" sz="1875" dirty="0"/>
          </a:p>
        </p:txBody>
      </p:sp>
      <p:sp>
        <p:nvSpPr>
          <p:cNvPr id="22" name="Text 16"/>
          <p:cNvSpPr txBox="1"/>
          <p:nvPr/>
        </p:nvSpPr>
        <p:spPr>
          <a:xfrm>
            <a:off x="13478256" y="2042770"/>
            <a:ext cx="159837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(1915–1980)</a:t>
            </a:r>
            <a:endParaRPr lang="en-US" sz="1875" dirty="0"/>
          </a:p>
        </p:txBody>
      </p:sp>
      <p:sp>
        <p:nvSpPr>
          <p:cNvPr id="23" name="Text 17"/>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원제</a:t>
            </a:r>
            <a:endParaRPr lang="en-US" sz="1650" dirty="0"/>
          </a:p>
        </p:txBody>
      </p:sp>
      <p:sp>
        <p:nvSpPr>
          <p:cNvPr id="24" name="Text 18"/>
          <p:cNvSpPr txBox="1"/>
          <p:nvPr/>
        </p:nvSpPr>
        <p:spPr>
          <a:xfrm>
            <a:off x="13478256" y="2486254"/>
            <a:ext cx="281543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『La Chambre claire:</a:t>
            </a:r>
            <a:endParaRPr lang="en-US" sz="1875" dirty="0"/>
          </a:p>
        </p:txBody>
      </p:sp>
      <p:sp>
        <p:nvSpPr>
          <p:cNvPr id="25" name="Text 19"/>
          <p:cNvSpPr txBox="1"/>
          <p:nvPr/>
        </p:nvSpPr>
        <p:spPr>
          <a:xfrm>
            <a:off x="13478256" y="2842870"/>
            <a:ext cx="36868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Note sur la photographie』</a:t>
            </a:r>
            <a:endParaRPr lang="en-US" sz="1875" dirty="0"/>
          </a:p>
        </p:txBody>
      </p:sp>
      <p:sp>
        <p:nvSpPr>
          <p:cNvPr id="26" name="Text 20"/>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출간</a:t>
            </a:r>
            <a:endParaRPr lang="en-US" sz="1650" dirty="0"/>
          </a:p>
        </p:txBody>
      </p:sp>
      <p:sp>
        <p:nvSpPr>
          <p:cNvPr id="27" name="Text 21"/>
          <p:cNvSpPr txBox="1"/>
          <p:nvPr/>
        </p:nvSpPr>
        <p:spPr>
          <a:xfrm>
            <a:off x="13478256" y="3286354"/>
            <a:ext cx="34582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1980년 · 저자의 마지막 저서</a:t>
            </a:r>
            <a:endParaRPr lang="en-US" sz="1875" dirty="0"/>
          </a:p>
        </p:txBody>
      </p:sp>
      <p:sp>
        <p:nvSpPr>
          <p:cNvPr id="28" name="Text 22"/>
          <p:cNvSpPr txBox="1"/>
          <p:nvPr/>
        </p:nvSpPr>
        <p:spPr>
          <a:xfrm>
            <a:off x="11878056" y="377647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영역판</a:t>
            </a:r>
            <a:endParaRPr lang="en-US" sz="1650" dirty="0"/>
          </a:p>
        </p:txBody>
      </p:sp>
      <p:sp>
        <p:nvSpPr>
          <p:cNvPr id="29" name="Text 23"/>
          <p:cNvSpPr txBox="1"/>
          <p:nvPr/>
        </p:nvSpPr>
        <p:spPr>
          <a:xfrm>
            <a:off x="13478256" y="3728923"/>
            <a:ext cx="33339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『Camera Lucida』, Richard Howard 역, Hill and Wang(1981)</a:t>
            </a:r>
            <a:endParaRPr lang="en-US" sz="1875" dirty="0"/>
          </a:p>
        </p:txBody>
      </p:sp>
      <p:sp>
        <p:nvSpPr>
          <p:cNvPr id="30" name="Text 24"/>
          <p:cNvSpPr txBox="1"/>
          <p:nvPr/>
        </p:nvSpPr>
        <p:spPr>
          <a:xfrm>
            <a:off x="11878056" y="49341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배경</a:t>
            </a:r>
            <a:endParaRPr lang="en-US" sz="1650" dirty="0"/>
          </a:p>
        </p:txBody>
      </p:sp>
      <p:sp>
        <p:nvSpPr>
          <p:cNvPr id="31" name="Text 25"/>
          <p:cNvSpPr txBox="1"/>
          <p:nvPr/>
        </p:nvSpPr>
        <p:spPr>
          <a:xfrm>
            <a:off x="13478256" y="4886554"/>
            <a:ext cx="32671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1977년 사망한 어머니의 사진을 응시하며 쓴 사진론</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 스투디움과 푼크툼</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개념</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알아보는 흥미와 찔리는 순간</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바르트는 사진을 보는 경험을 두 층으로 나눴다. 하나는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공부하듯 알아보는 층</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다른 하나는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예기치 않게 찔리는 층</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이다. 둘은 같은 사진 안에 동시에 있다.</a:t>
            </a:r>
            <a:endParaRPr lang="en-US" sz="2175"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096158"/>
        </p:xfrm>
        <a:graphic>
          <a:graphicData uri="http://schemas.openxmlformats.org/drawingml/2006/table">
            <a:tbl>
              <a:tblPr/>
              <a:tblGrid>
                <a:gridCol w="2190777"/>
                <a:gridCol w="4953022"/>
                <a:gridCol w="3810087"/>
                <a:gridCol w="5048114"/>
              </a:tblGrid>
              <a:tr h="103205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개념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정의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가드너 사진에서의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전시에서의 위치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스투디움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studium</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사진의 대상에 대해 </a:t>
                      </a:r>
                      <a:pPr indent="0" marL="0">
                        <a:buNone/>
                      </a:pPr>
                      <a:r>
                        <a:rPr lang="en-US" sz="1875" b="1" dirty="0">
                          <a:solidFill>
                            <a:srgbClr val="17150F"/>
                          </a:solidFill>
                          <a:latin typeface="Noto Serif KR" pitchFamily="34" charset="0"/>
                          <a:ea typeface="Noto Serif KR" pitchFamily="34" charset="-122"/>
                          <a:cs typeface="Noto Serif KR" pitchFamily="34" charset="-120"/>
                        </a:rPr>
                        <a:t>문화적·정치적으로 반응</a:t>
                      </a:r>
                      <a:pPr indent="0" marL="0">
                        <a:buNone/>
                      </a:pPr>
                      <a:r>
                        <a:rPr lang="en-US" sz="1875" dirty="0">
                          <a:solidFill>
                            <a:srgbClr val="3A362C"/>
                          </a:solidFill>
                          <a:latin typeface="Noto Serif KR" pitchFamily="34" charset="0"/>
                          <a:ea typeface="Noto Serif KR" pitchFamily="34" charset="-122"/>
                          <a:cs typeface="Noto Serif KR" pitchFamily="34" charset="-120"/>
                        </a:rPr>
                        <a:t>하게 만드는 일반적 흥미. 배워서 알 수 있는 층.</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“이것은 남북전쟁 사진이다”, “이 복장은 남군이다”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작품 캡션</a:t>
                      </a:r>
                      <a:pPr indent="0" marL="0">
                        <a:buNone/>
                      </a:pPr>
                      <a:r>
                        <a:rPr lang="en-US" sz="1875" dirty="0">
                          <a:solidFill>
                            <a:srgbClr val="3A362C"/>
                          </a:solidFill>
                          <a:latin typeface="Noto Serif KR" pitchFamily="34" charset="0"/>
                          <a:ea typeface="Noto Serif KR" pitchFamily="34" charset="-122"/>
                          <a:cs typeface="Noto Serif KR" pitchFamily="34" charset="-120"/>
                        </a:rPr>
                        <a:t> — 정보를 주어 알아보게 만든다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푼크툼</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punctum</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우연적이면서 개인적인 </a:t>
                      </a:r>
                      <a:pPr indent="0" marL="0">
                        <a:buNone/>
                      </a:pPr>
                      <a:r>
                        <a:rPr lang="en-US" sz="1875" b="1" dirty="0">
                          <a:solidFill>
                            <a:srgbClr val="17150F"/>
                          </a:solidFill>
                          <a:latin typeface="Noto Serif KR" pitchFamily="34" charset="0"/>
                          <a:ea typeface="Noto Serif KR" pitchFamily="34" charset="-122"/>
                          <a:cs typeface="Noto Serif KR" pitchFamily="34" charset="-120"/>
                        </a:rPr>
                        <a:t>세부</a:t>
                      </a:r>
                      <a:pPr indent="0" marL="0">
                        <a:buNone/>
                      </a:pPr>
                      <a:r>
                        <a:rPr lang="en-US" sz="1875" dirty="0">
                          <a:solidFill>
                            <a:srgbClr val="3A362C"/>
                          </a:solidFill>
                          <a:latin typeface="Noto Serif KR" pitchFamily="34" charset="0"/>
                          <a:ea typeface="Noto Serif KR" pitchFamily="34" charset="-122"/>
                          <a:cs typeface="Noto Serif KR" pitchFamily="34" charset="-120"/>
                        </a:rPr>
                        <a:t>가 보는 이를 찌르는 순간. 설명할 수 없고 배울 수도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벌어진 입, 흐트러진 신발끈 — 지목하지 않았는데 눈이 가는 곳</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사용 흔적</a:t>
                      </a:r>
                      <a:pPr indent="0" marL="0">
                        <a:buNone/>
                      </a:pPr>
                      <a:r>
                        <a:rPr lang="en-US" sz="1875" dirty="0">
                          <a:solidFill>
                            <a:srgbClr val="3A362C"/>
                          </a:solidFill>
                          <a:latin typeface="Noto Serif KR" pitchFamily="34" charset="0"/>
                          <a:ea typeface="Noto Serif KR" pitchFamily="34" charset="-122"/>
                          <a:cs typeface="Noto Serif KR" pitchFamily="34" charset="-120"/>
                        </a:rPr>
                        <a:t> — 설명 없이 관람자를 붙잡는다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6819595"/>
            <a:ext cx="7810805" cy="2257654"/>
          </a:xfrm>
          <a:prstGeom prst="rect">
            <a:avLst/>
          </a:prstGeom>
          <a:solidFill>
            <a:srgbClr val="FFFFFF">
              <a:alpha val="36000"/>
            </a:srgbClr>
          </a:solidFill>
          <a:ln w="12700">
            <a:solidFill>
              <a:srgbClr val="BEB6A5"/>
            </a:solidFill>
            <a:prstDash val="solid"/>
          </a:ln>
        </p:spPr>
      </p:sp>
      <p:sp>
        <p:nvSpPr>
          <p:cNvPr id="10" name="Text 5"/>
          <p:cNvSpPr txBox="1"/>
          <p:nvPr/>
        </p:nvSpPr>
        <p:spPr>
          <a:xfrm>
            <a:off x="1438351" y="7058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둘 다 필요하다</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7477049"/>
            <a:ext cx="6931342" cy="9144"/>
          </a:xfrm>
          <a:prstGeom prst="rect">
            <a:avLst/>
          </a:prstGeom>
        </p:spPr>
      </p:pic>
      <p:sp>
        <p:nvSpPr>
          <p:cNvPr id="12" name="Text 6"/>
          <p:cNvSpPr txBox="1"/>
          <p:nvPr/>
        </p:nvSpPr>
        <p:spPr>
          <a:xfrm>
            <a:off x="1438351" y="7638898"/>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스투디움만 있으면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교과서 도판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 푼크툼만 있으면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무슨 사진인지 모를 이미지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4차시 카드가 스투디움을 담당하고, 프롬프트의 흔적 문장이 푼크툼을 만든다.</a:t>
            </a:r>
            <a:endParaRPr lang="en-US" sz="1800" dirty="0"/>
          </a:p>
        </p:txBody>
      </p:sp>
      <p:sp>
        <p:nvSpPr>
          <p:cNvPr id="13" name="Shape 7"/>
          <p:cNvSpPr/>
          <p:nvPr/>
        </p:nvSpPr>
        <p:spPr>
          <a:xfrm>
            <a:off x="9334195" y="6819595"/>
            <a:ext cx="7810805" cy="2257654"/>
          </a:xfrm>
          <a:prstGeom prst="rect">
            <a:avLst/>
          </a:prstGeom>
          <a:solidFill>
            <a:srgbClr val="9C2A1F">
              <a:alpha val="6000"/>
            </a:srgbClr>
          </a:solidFill>
          <a:ln w="12700">
            <a:solidFill>
              <a:srgbClr val="9C2A1F"/>
            </a:solidFill>
            <a:prstDash val="solid"/>
          </a:ln>
        </p:spPr>
      </p:sp>
      <p:sp>
        <p:nvSpPr>
          <p:cNvPr id="14" name="Text 8"/>
          <p:cNvSpPr txBox="1"/>
          <p:nvPr/>
        </p:nvSpPr>
        <p:spPr>
          <a:xfrm>
            <a:off x="9629546" y="7058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프롬프트 작성에 옮길 것</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7477049"/>
            <a:ext cx="6931342" cy="9144"/>
          </a:xfrm>
          <a:prstGeom prst="rect">
            <a:avLst/>
          </a:prstGeom>
        </p:spPr>
      </p:pic>
      <p:sp>
        <p:nvSpPr>
          <p:cNvPr id="16" name="Text 9"/>
          <p:cNvSpPr txBox="1"/>
          <p:nvPr/>
        </p:nvSpPr>
        <p:spPr>
          <a:xfrm>
            <a:off x="9629546" y="7638898"/>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이미지 전체를 균일하게 완성하려 하면 푼크툼이 사라진다.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한 곳만 유독 구체적으로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지정한다 — “왼쪽 테두리에 손톱만 한 결손”처럼. 그 한 곳이 관람자의 시선을 붙든다.</a:t>
            </a:r>
            <a:endParaRPr lang="en-US" sz="1800" dirty="0"/>
          </a:p>
        </p:txBody>
      </p:sp>
      <p:sp>
        <p:nvSpPr>
          <p:cNvPr id="17" name="Text 10"/>
          <p:cNvSpPr txBox="1"/>
          <p:nvPr/>
        </p:nvSpPr>
        <p:spPr>
          <a:xfrm>
            <a:off x="1410005" y="8686800"/>
            <a:ext cx="15735910"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여러분의 카드에서 관람자를 </a:t>
            </a:r>
            <a:pPr algn="l" indent="0" marL="0">
              <a:buNone/>
            </a:pPr>
            <a:r>
              <a:rPr lang="en-US" sz="2250" b="1" dirty="0">
                <a:solidFill>
                  <a:srgbClr val="9C2A1F"/>
                </a:solidFill>
                <a:latin typeface="Noto Serif KR" pitchFamily="34" charset="0"/>
                <a:ea typeface="Noto Serif KR" pitchFamily="34" charset="-122"/>
                <a:cs typeface="Noto Serif KR" pitchFamily="34" charset="-120"/>
              </a:rPr>
              <a:t>찌를</a:t>
            </a:r>
            <a:pPr algn="l" indent="0" marL="0">
              <a:buNone/>
            </a:pPr>
            <a:r>
              <a:rPr lang="en-US" sz="2250" b="1" dirty="0">
                <a:solidFill>
                  <a:srgbClr val="17150F"/>
                </a:solidFill>
                <a:latin typeface="Noto Serif KR" pitchFamily="34" charset="0"/>
                <a:ea typeface="Noto Serif KR" pitchFamily="34" charset="-122"/>
                <a:cs typeface="Noto Serif KR" pitchFamily="34" charset="-120"/>
              </a:rPr>
              <a:t> 항목은 어느 것입니까. 하나만 고르세요.</a:t>
            </a:r>
            <a:endParaRPr lang="en-US" sz="2250" dirty="0"/>
          </a:p>
        </p:txBody>
      </p:sp>
      <p:sp>
        <p:nvSpPr>
          <p:cNvPr id="18" name="Text 11"/>
          <p:cNvSpPr txBox="1"/>
          <p:nvPr/>
        </p:nvSpPr>
        <p:spPr>
          <a:xfrm>
            <a:off x="1143000" y="9753905"/>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Roland Barthes 『Camera Lucida』(1980/1981) 개념 정의 · Artforum 「Camera Lucida」 해설</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407639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퍼스의 기호 삼분법</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②</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닮음 · 연결 · 약속</a:t>
            </a:r>
            <a:endParaRPr lang="en-US" sz="3450" dirty="0"/>
          </a:p>
        </p:txBody>
      </p:sp>
      <p:sp>
        <p:nvSpPr>
          <p:cNvPr id="7" name="Text 3"/>
          <p:cNvSpPr txBox="1"/>
          <p:nvPr/>
        </p:nvSpPr>
        <p:spPr>
          <a:xfrm>
            <a:off x="1143000" y="2381098"/>
            <a:ext cx="16002000"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“If a sign stands for its object in virtue of a mere community in some quality, it is an </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icon</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 if by virtue of a real connection existing between the sign and its object, it is an </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index</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 if by virtue of an imputed character, it is a </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symbol</a:t>
            </a:r>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a:t>
            </a:r>
            <a:endParaRPr lang="en-US" sz="1950" dirty="0"/>
          </a:p>
        </p:txBody>
      </p:sp>
      <p:sp>
        <p:nvSpPr>
          <p:cNvPr id="8" name="Text 4"/>
          <p:cNvSpPr txBox="1"/>
          <p:nvPr/>
        </p:nvSpPr>
        <p:spPr>
          <a:xfrm>
            <a:off x="1143000" y="3279038"/>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 S. Peirce, 「On A New List of Categories」(1867) · 출처: Stanford Encyclopedia of Philosophy</a:t>
            </a:r>
            <a:endParaRPr lang="en-US" sz="16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4381805"/>
          <a:ext cx="16002000" cy="3762756"/>
        </p:xfrm>
        <a:graphic>
          <a:graphicData uri="http://schemas.openxmlformats.org/drawingml/2006/table">
            <a:tbl>
              <a:tblPr/>
              <a:tblGrid>
                <a:gridCol w="1904695"/>
                <a:gridCol w="3810305"/>
                <a:gridCol w="3810305"/>
                <a:gridCol w="6476695"/>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기호 유형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대상과의 관계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사진과 AI 이미지의 위치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도상</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icon</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성질의 </a:t>
                      </a:r>
                      <a:pPr indent="0" marL="0">
                        <a:buNone/>
                      </a:pPr>
                      <a:r>
                        <a:rPr lang="en-US" sz="1875" b="1" dirty="0">
                          <a:solidFill>
                            <a:srgbClr val="17150F"/>
                          </a:solidFill>
                          <a:latin typeface="Noto Serif KR" pitchFamily="34" charset="0"/>
                          <a:ea typeface="Noto Serif KR" pitchFamily="34" charset="-122"/>
                          <a:cs typeface="Noto Serif KR" pitchFamily="34" charset="-120"/>
                        </a:rPr>
                        <a:t>공유</a:t>
                      </a:r>
                      <a:pPr indent="0" marL="0">
                        <a:buNone/>
                      </a:pPr>
                      <a:r>
                        <a:rPr lang="en-US" sz="1875" dirty="0">
                          <a:solidFill>
                            <a:srgbClr val="3A362C"/>
                          </a:solidFill>
                          <a:latin typeface="Noto Serif KR" pitchFamily="34" charset="0"/>
                          <a:ea typeface="Noto Serif KR" pitchFamily="34" charset="-122"/>
                          <a:cs typeface="Noto Serif KR" pitchFamily="34" charset="-120"/>
                        </a:rPr>
                        <a:t> — 닮았기 때문에 가리킨다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초상화, 지도, 도식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AI 이미지는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여기에 있다</a:t>
                      </a:r>
                      <a:pPr indent="0" marL="0">
                        <a:buNone/>
                      </a:pPr>
                      <a:r>
                        <a:rPr lang="en-US" sz="1875" dirty="0">
                          <a:solidFill>
                            <a:srgbClr val="3A362C"/>
                          </a:solidFill>
                          <a:latin typeface="Noto Serif KR" pitchFamily="34" charset="0"/>
                          <a:ea typeface="Noto Serif KR" pitchFamily="34" charset="-122"/>
                          <a:cs typeface="Noto Serif KR" pitchFamily="34" charset="-120"/>
                        </a:rPr>
                        <a:t> — 사진을 닮았다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지표</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index</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실재하는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 연결</a:t>
                      </a:r>
                      <a:pPr indent="0" marL="0">
                        <a:buNone/>
                      </a:pPr>
                      <a:r>
                        <a:rPr lang="en-US" sz="1875" dirty="0">
                          <a:solidFill>
                            <a:srgbClr val="3A362C"/>
                          </a:solidFill>
                          <a:latin typeface="Noto Serif KR" pitchFamily="34" charset="0"/>
                          <a:ea typeface="Noto Serif KR" pitchFamily="34" charset="-122"/>
                          <a:cs typeface="Noto Serif KR" pitchFamily="34" charset="-120"/>
                        </a:rPr>
                        <a:t> — 인과로 이어진다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발자국, 연기, 체온계, </a:t>
                      </a:r>
                      <a:pPr indent="0" marL="0">
                        <a:buNone/>
                      </a:pPr>
                      <a:r>
                        <a:rPr lang="en-US" sz="1875" b="1" dirty="0">
                          <a:solidFill>
                            <a:srgbClr val="17150F"/>
                          </a:solidFill>
                          <a:latin typeface="Noto Serif KR" pitchFamily="34" charset="0"/>
                          <a:ea typeface="Noto Serif KR" pitchFamily="34" charset="-122"/>
                          <a:cs typeface="Noto Serif KR" pitchFamily="34" charset="-120"/>
                        </a:rPr>
                        <a:t>사진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사진은 </a:t>
                      </a:r>
                      <a:pPr indent="0" marL="0">
                        <a:buNone/>
                      </a:pPr>
                      <a:r>
                        <a:rPr lang="en-US" sz="1875" b="1" dirty="0">
                          <a:solidFill>
                            <a:srgbClr val="9C2A1F"/>
                          </a:solidFill>
                          <a:latin typeface="Noto Serif KR" pitchFamily="34" charset="0"/>
                          <a:ea typeface="Noto Serif KR" pitchFamily="34" charset="-122"/>
                          <a:cs typeface="Noto Serif KR" pitchFamily="34" charset="-120"/>
                        </a:rPr>
                        <a:t>여기에 있다</a:t>
                      </a:r>
                      <a:pPr indent="0" marL="0">
                        <a:buNone/>
                      </a:pPr>
                      <a:r>
                        <a:rPr lang="en-US" sz="1875" dirty="0">
                          <a:solidFill>
                            <a:srgbClr val="3A362C"/>
                          </a:solidFill>
                          <a:latin typeface="Noto Serif KR" pitchFamily="34" charset="0"/>
                          <a:ea typeface="Noto Serif KR" pitchFamily="34" charset="-122"/>
                          <a:cs typeface="Noto Serif KR" pitchFamily="34" charset="-120"/>
                        </a:rPr>
                        <a:t> — 빛이 닿았다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상징</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symbol</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관습</a:t>
                      </a:r>
                      <a:pPr indent="0" marL="0">
                        <a:buNone/>
                      </a:pPr>
                      <a:r>
                        <a:rPr lang="en-US" sz="1875" dirty="0">
                          <a:solidFill>
                            <a:srgbClr val="3A362C"/>
                          </a:solidFill>
                          <a:latin typeface="Noto Serif KR" pitchFamily="34" charset="0"/>
                          <a:ea typeface="Noto Serif KR" pitchFamily="34" charset="-122"/>
                          <a:cs typeface="Noto Serif KR" pitchFamily="34" charset="-120"/>
                        </a:rPr>
                        <a:t> — 그렇게 하기로 정했기 때문에 가리킨다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문자, 숫자, 교통 표지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작품 캡션의 글자는 </a:t>
                      </a:r>
                      <a:pPr indent="0" marL="0">
                        <a:buNone/>
                      </a:pPr>
                      <a:r>
                        <a:rPr lang="en-US" sz="1875" b="1" dirty="0">
                          <a:solidFill>
                            <a:srgbClr val="17150F"/>
                          </a:solidFill>
                          <a:latin typeface="Noto Serif KR" pitchFamily="34" charset="0"/>
                          <a:ea typeface="Noto Serif KR" pitchFamily="34" charset="-122"/>
                          <a:cs typeface="Noto Serif KR" pitchFamily="34" charset="-120"/>
                        </a:rPr>
                        <a:t>여기에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1143000" y="7505395"/>
            <a:ext cx="7810805" cy="1857146"/>
          </a:xfrm>
          <a:prstGeom prst="rect">
            <a:avLst/>
          </a:prstGeom>
          <a:solidFill>
            <a:srgbClr val="9C2A1F">
              <a:alpha val="6000"/>
            </a:srgbClr>
          </a:solidFill>
          <a:ln w="12700">
            <a:solidFill>
              <a:srgbClr val="9C2A1F"/>
            </a:solidFill>
            <a:prstDash val="solid"/>
          </a:ln>
        </p:spPr>
      </p:sp>
      <p:sp>
        <p:nvSpPr>
          <p:cNvPr id="11" name="Text 6"/>
          <p:cNvSpPr txBox="1"/>
          <p:nvPr/>
        </p:nvSpPr>
        <p:spPr>
          <a:xfrm>
            <a:off x="1438351" y="77440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표가 설명하는 우리의 상황</a:t>
            </a:r>
            <a:endParaRPr lang="en-US" sz="1575" dirty="0"/>
          </a:p>
        </p:txBody>
      </p:sp>
      <p:pic>
        <p:nvPicPr>
          <p:cNvPr id="12" name="Image 2" descr="gen-dedup-8daa7bbad9e138f694b547871d64bad8.png">    </p:cNvPr>
          <p:cNvPicPr>
            <a:picLocks noChangeAspect="1"/>
          </p:cNvPicPr>
          <p:nvPr/>
        </p:nvPicPr>
        <p:blipFill>
          <a:blip r:embed="rId3"/>
          <a:stretch/>
        </p:blipFill>
        <p:spPr>
          <a:xfrm>
            <a:off x="1582731" y="8162849"/>
            <a:ext cx="6931342" cy="9144"/>
          </a:xfrm>
          <a:prstGeom prst="rect">
            <a:avLst/>
          </a:prstGeom>
        </p:spPr>
      </p:pic>
      <p:sp>
        <p:nvSpPr>
          <p:cNvPr id="13" name="Text 7"/>
          <p:cNvSpPr txBox="1"/>
          <p:nvPr/>
        </p:nvSpPr>
        <p:spPr>
          <a:xfrm>
            <a:off x="1438351" y="83246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이미지는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도상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이면서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지표를 흉내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낸다. 사진처럼 보이지만 물리적 연결은 없다. 관람자는 도상을 지표로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착각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sp>
        <p:nvSpPr>
          <p:cNvPr id="14" name="Shape 8"/>
          <p:cNvSpPr/>
          <p:nvPr/>
        </p:nvSpPr>
        <p:spPr>
          <a:xfrm>
            <a:off x="9334195" y="7505395"/>
            <a:ext cx="7810805" cy="1857146"/>
          </a:xfrm>
          <a:prstGeom prst="rect">
            <a:avLst/>
          </a:prstGeom>
          <a:solidFill>
            <a:srgbClr val="FFFFFF">
              <a:alpha val="36000"/>
            </a:srgbClr>
          </a:solidFill>
          <a:ln w="12700">
            <a:solidFill>
              <a:srgbClr val="BEB6A5"/>
            </a:solidFill>
            <a:prstDash val="solid"/>
          </a:ln>
        </p:spPr>
      </p:sp>
      <p:sp>
        <p:nvSpPr>
          <p:cNvPr id="15" name="Text 9"/>
          <p:cNvSpPr txBox="1"/>
          <p:nvPr/>
        </p:nvSpPr>
        <p:spPr>
          <a:xfrm>
            <a:off x="9629546" y="77440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그 착각을 어떻게 다룰 것인가</a:t>
            </a:r>
            <a:endParaRPr lang="en-US" sz="1575" dirty="0"/>
          </a:p>
        </p:txBody>
      </p:sp>
      <p:pic>
        <p:nvPicPr>
          <p:cNvPr id="16" name="Image 3" descr="gen-dedup-8daa7bbad9e138f694b547871d64bad8.png">    </p:cNvPr>
          <p:cNvPicPr>
            <a:picLocks noChangeAspect="1"/>
          </p:cNvPicPr>
          <p:nvPr/>
        </p:nvPicPr>
        <p:blipFill>
          <a:blip r:embed="rId4"/>
          <a:stretch/>
        </p:blipFill>
        <p:spPr>
          <a:xfrm>
            <a:off x="9773926" y="8162849"/>
            <a:ext cx="6931342" cy="9144"/>
          </a:xfrm>
          <a:prstGeom prst="rect">
            <a:avLst/>
          </a:prstGeom>
        </p:spPr>
      </p:pic>
      <p:sp>
        <p:nvSpPr>
          <p:cNvPr id="17" name="Text 10"/>
          <p:cNvSpPr txBox="1"/>
          <p:nvPr/>
        </p:nvSpPr>
        <p:spPr>
          <a:xfrm>
            <a:off x="9629546" y="83246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숨기면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위조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우리는 착각을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일부러 만든 뒤 표기로 해제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2차시 파라픽션 구조를 이 차시에서 기술적으로 실행한다.</a:t>
            </a:r>
            <a:endParaRPr lang="en-US" sz="1800" dirty="0"/>
          </a:p>
        </p:txBody>
      </p:sp>
      <p:sp>
        <p:nvSpPr>
          <p:cNvPr id="18" name="Text 11"/>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5 ①</a:t>
            </a:r>
            <a:pPr algn="l" indent="0" marL="0">
              <a:buNone/>
            </a:pPr>
            <a:r>
              <a:rPr lang="en-US" sz="1725" dirty="0">
                <a:solidFill>
                  <a:srgbClr val="3A362C"/>
                </a:solidFill>
                <a:latin typeface="Noto Serif KR" pitchFamily="34" charset="0"/>
                <a:ea typeface="Noto Serif KR" pitchFamily="34" charset="-122"/>
                <a:cs typeface="Noto Serif KR" pitchFamily="34" charset="-120"/>
              </a:rPr>
              <a:t> — 다음 다섯 개를 세 유형으로 분류한다: 지문 · 이모지 · 발굴 사진 · 도자기 도면 · 유물번호 표기.</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3847795"/>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로절린드 크라우스 「지표에 관한 노트」(1977)</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③</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흔적으로 만들어진 미술</a:t>
            </a:r>
            <a:endParaRPr lang="en-US" sz="3450" dirty="0"/>
          </a:p>
        </p:txBody>
      </p:sp>
      <p:sp>
        <p:nvSpPr>
          <p:cNvPr id="8" name="Text 3"/>
          <p:cNvSpPr txBox="1"/>
          <p:nvPr/>
        </p:nvSpPr>
        <p:spPr>
          <a:xfrm>
            <a:off x="1143000" y="23810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크라우스는 퍼스의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지표</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개념을 1970년대 미국 미술 분석에 끌어왔다. 그가 주목한 것은 회화적 재현이 아니라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물리적 접촉이 남긴 것들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이었다 — 주조, 그림자, 자국, 프로타주, 그리고 사진.</a:t>
            </a:r>
            <a:endParaRPr lang="en-US" sz="2025" dirty="0"/>
          </a:p>
        </p:txBody>
      </p:sp>
      <p:sp>
        <p:nvSpPr>
          <p:cNvPr id="9" name="Text 4"/>
          <p:cNvSpPr txBox="1"/>
          <p:nvPr/>
        </p:nvSpPr>
        <p:spPr>
          <a:xfrm>
            <a:off x="1143000" y="415320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지표적 작업의 공통 구조</a:t>
            </a:r>
            <a:endParaRPr lang="en-US" sz="16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4552798"/>
          <a:ext cx="9811512" cy="2638958"/>
        </p:xfrm>
        <a:graphic>
          <a:graphicData uri="http://schemas.openxmlformats.org/drawingml/2006/table">
            <a:tbl>
              <a:tblPr/>
              <a:tblGrid>
                <a:gridCol w="2190902"/>
                <a:gridCol w="7619695"/>
              </a:tblGrid>
              <a:tr h="659740">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접촉이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대상과 매체가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만난다</a:t>
                      </a:r>
                      <a:pPr indent="0" marL="0">
                        <a:buNone/>
                      </a:pPr>
                      <a:r>
                        <a:rPr lang="en-US" sz="1875" dirty="0">
                          <a:solidFill>
                            <a:srgbClr val="3A362C"/>
                          </a:solidFill>
                          <a:latin typeface="Noto Serif KR" pitchFamily="34" charset="0"/>
                          <a:ea typeface="Noto Serif KR" pitchFamily="34" charset="-122"/>
                          <a:cs typeface="Noto Serif KR" pitchFamily="34" charset="-120"/>
                        </a:rPr>
                        <a:t>. 손, 빛, 압력, 물감.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자국이 남는다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작가가 </a:t>
                      </a:r>
                      <a:pPr indent="0" marL="0">
                        <a:buNone/>
                      </a:pPr>
                      <a:r>
                        <a:rPr lang="en-US" sz="1875" b="1" dirty="0">
                          <a:solidFill>
                            <a:srgbClr val="17150F"/>
                          </a:solidFill>
                          <a:latin typeface="Noto Serif KR" pitchFamily="34" charset="0"/>
                          <a:ea typeface="Noto Serif KR" pitchFamily="34" charset="-122"/>
                          <a:cs typeface="Noto Serif KR" pitchFamily="34" charset="-120"/>
                        </a:rPr>
                        <a:t>묘사하지 않아도</a:t>
                      </a:r>
                      <a:pPr indent="0" marL="0">
                        <a:buNone/>
                      </a:pPr>
                      <a:r>
                        <a:rPr lang="en-US" sz="1875" dirty="0">
                          <a:solidFill>
                            <a:srgbClr val="3A362C"/>
                          </a:solidFill>
                          <a:latin typeface="Noto Serif KR" pitchFamily="34" charset="0"/>
                          <a:ea typeface="Noto Serif KR" pitchFamily="34" charset="-122"/>
                          <a:cs typeface="Noto Serif KR" pitchFamily="34" charset="-120"/>
                        </a:rPr>
                        <a:t> 형태가 생긴다. 만든 것이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생긴 것</a:t>
                      </a:r>
                      <a:pPr indent="0" marL="0">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의미는 나중에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자국 자체는 아무 말도 하지 않는다. </a:t>
                      </a:r>
                      <a:pPr indent="0" marL="0">
                        <a:buNone/>
                      </a:pPr>
                      <a:r>
                        <a:rPr lang="en-US" sz="1875" b="1" dirty="0">
                          <a:solidFill>
                            <a:srgbClr val="9C2A1F"/>
                          </a:solidFill>
                          <a:latin typeface="Noto Serif KR" pitchFamily="34" charset="0"/>
                          <a:ea typeface="Noto Serif KR" pitchFamily="34" charset="-122"/>
                          <a:cs typeface="Noto Serif KR" pitchFamily="34" charset="-120"/>
                        </a:rPr>
                        <a:t>설명이 붙어야</a:t>
                      </a:r>
                      <a:pPr indent="0" marL="0">
                        <a:buNone/>
                      </a:pPr>
                      <a:r>
                        <a:rPr lang="en-US" sz="1875" dirty="0">
                          <a:solidFill>
                            <a:srgbClr val="3A362C"/>
                          </a:solidFill>
                          <a:latin typeface="Noto Serif KR" pitchFamily="34" charset="0"/>
                          <a:ea typeface="Noto Serif KR" pitchFamily="34" charset="-122"/>
                          <a:cs typeface="Noto Serif KR" pitchFamily="34" charset="-120"/>
                        </a:rPr>
                        <a:t> 읽힌다.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353605"/>
            <a:ext cx="9810598" cy="316199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7610551"/>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③이 이 단원의 뼈대다</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8067751"/>
            <a:ext cx="8815165" cy="9144"/>
          </a:xfrm>
          <a:prstGeom prst="rect">
            <a:avLst/>
          </a:prstGeom>
        </p:spPr>
      </p:pic>
      <p:sp>
        <p:nvSpPr>
          <p:cNvPr id="14" name="Text 7"/>
          <p:cNvSpPr txBox="1"/>
          <p:nvPr/>
        </p:nvSpPr>
        <p:spPr>
          <a:xfrm>
            <a:off x="1457554" y="8248802"/>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지표는 정보를 담지만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의미를 담지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발자국은 “누군가 지나갔다”만 말하고, 그가 누구인지는 말하지 않는다. 그 빈자리를 채우는 것이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캡션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이며, 6차시의 주제다.</a:t>
            </a:r>
            <a:endParaRPr lang="en-US" sz="1875" dirty="0"/>
          </a:p>
        </p:txBody>
      </p:sp>
      <p:pic>
        <p:nvPicPr>
          <p:cNvPr id="15" name="Image 4" descr="gen-dedup-30ab6479ac51d488179e17cc12ddf881.png">    </p:cNvPr>
          <p:cNvPicPr>
            <a:picLocks noChangeAspect="1"/>
          </p:cNvPicPr>
          <p:nvPr/>
        </p:nvPicPr>
        <p:blipFill>
          <a:blip r:embed="rId5"/>
          <a:stretch/>
        </p:blipFill>
        <p:spPr>
          <a:xfrm>
            <a:off x="1641174" y="9249156"/>
            <a:ext cx="8815165" cy="9144"/>
          </a:xfrm>
          <a:prstGeom prst="rect">
            <a:avLst/>
          </a:prstGeom>
        </p:spPr>
      </p:pic>
      <p:sp>
        <p:nvSpPr>
          <p:cNvPr id="16" name="Text 8"/>
          <p:cNvSpPr txBox="1"/>
          <p:nvPr/>
        </p:nvSpPr>
        <p:spPr>
          <a:xfrm>
            <a:off x="1457554" y="94302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4차시에 우리가 흔적을 먼저 설계한 이유도 같다. 흔적이 없으면 캡션이 붙을 자리가 없다.</a:t>
            </a:r>
            <a:endParaRPr lang="en-US" sz="1875" dirty="0"/>
          </a:p>
        </p:txBody>
      </p:sp>
      <p:sp>
        <p:nvSpPr>
          <p:cNvPr id="17" name="Shape 9"/>
          <p:cNvSpPr/>
          <p:nvPr/>
        </p:nvSpPr>
        <p:spPr>
          <a:xfrm>
            <a:off x="11620195" y="1466698"/>
            <a:ext cx="5524805" cy="4476902"/>
          </a:xfrm>
          <a:prstGeom prst="rect">
            <a:avLst/>
          </a:prstGeom>
          <a:solidFill>
            <a:srgbClr val="FFFFFF">
              <a:alpha val="42000"/>
            </a:srgbClr>
          </a:solidFill>
          <a:ln w="12700">
            <a:solidFill>
              <a:srgbClr val="BEB6A5"/>
            </a:solidFill>
            <a:prstDash val="solid"/>
          </a:ln>
        </p:spPr>
      </p:sp>
      <p:sp>
        <p:nvSpPr>
          <p:cNvPr id="18" name="Shape 10"/>
          <p:cNvSpPr/>
          <p:nvPr/>
        </p:nvSpPr>
        <p:spPr>
          <a:xfrm>
            <a:off x="11878056" y="5290718"/>
            <a:ext cx="5009998" cy="9144"/>
          </a:xfrm>
          <a:prstGeom prst="rect">
            <a:avLst/>
          </a:prstGeom>
          <a:solidFill>
            <a:srgbClr val="BEB6A5"/>
          </a:solidFill>
          <a:ln w="12700">
            <a:solidFill>
              <a:srgbClr val="BEB6A5">
                <a:alpha val="0"/>
              </a:srgbClr>
            </a:solidFill>
            <a:prstDash val="solid"/>
          </a:ln>
        </p:spPr>
      </p:sp>
      <p:sp>
        <p:nvSpPr>
          <p:cNvPr id="20" name="Text 12"/>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1" name="Text 13"/>
          <p:cNvSpPr txBox="1"/>
          <p:nvPr/>
        </p:nvSpPr>
        <p:spPr>
          <a:xfrm>
            <a:off x="13478256" y="1686154"/>
            <a:ext cx="21250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로절린드 크라우스</a:t>
            </a:r>
            <a:endParaRPr lang="en-US" sz="1875" dirty="0"/>
          </a:p>
        </p:txBody>
      </p:sp>
      <p:sp>
        <p:nvSpPr>
          <p:cNvPr id="22" name="Text 14"/>
          <p:cNvSpPr txBox="1"/>
          <p:nvPr/>
        </p:nvSpPr>
        <p:spPr>
          <a:xfrm>
            <a:off x="13478256" y="2042770"/>
            <a:ext cx="22201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Rosalind Krauss</a:t>
            </a:r>
            <a:endParaRPr lang="en-US" sz="1875" dirty="0"/>
          </a:p>
        </p:txBody>
      </p:sp>
      <p:sp>
        <p:nvSpPr>
          <p:cNvPr id="23" name="Text 15"/>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24" name="Text 16"/>
          <p:cNvSpPr txBox="1"/>
          <p:nvPr/>
        </p:nvSpPr>
        <p:spPr>
          <a:xfrm>
            <a:off x="13478256" y="2486254"/>
            <a:ext cx="296082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「Notes on the Index:</a:t>
            </a:r>
            <a:endParaRPr lang="en-US" sz="1875" dirty="0"/>
          </a:p>
        </p:txBody>
      </p:sp>
      <p:sp>
        <p:nvSpPr>
          <p:cNvPr id="25" name="Text 17"/>
          <p:cNvSpPr txBox="1"/>
          <p:nvPr/>
        </p:nvSpPr>
        <p:spPr>
          <a:xfrm>
            <a:off x="13478256" y="2842870"/>
            <a:ext cx="36868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Seventies Art in America」</a:t>
            </a:r>
            <a:endParaRPr lang="en-US" sz="1875" dirty="0"/>
          </a:p>
        </p:txBody>
      </p:sp>
      <p:sp>
        <p:nvSpPr>
          <p:cNvPr id="26" name="Text 18"/>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게재</a:t>
            </a:r>
            <a:endParaRPr lang="en-US" sz="1650" dirty="0"/>
          </a:p>
        </p:txBody>
      </p:sp>
      <p:sp>
        <p:nvSpPr>
          <p:cNvPr id="27" name="Text 19"/>
          <p:cNvSpPr txBox="1"/>
          <p:nvPr/>
        </p:nvSpPr>
        <p:spPr>
          <a:xfrm>
            <a:off x="13478256" y="3286354"/>
            <a:ext cx="1038758"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October</a:t>
            </a:r>
            <a:endParaRPr lang="en-US" sz="1875" dirty="0"/>
          </a:p>
        </p:txBody>
      </p:sp>
      <p:sp>
        <p:nvSpPr>
          <p:cNvPr id="28" name="Text 20"/>
          <p:cNvSpPr txBox="1"/>
          <p:nvPr/>
        </p:nvSpPr>
        <p:spPr>
          <a:xfrm>
            <a:off x="13478256" y="3286354"/>
            <a:ext cx="26865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Vol. 3(1977 봄) pp.68–81</a:t>
            </a:r>
            <a:endParaRPr lang="en-US" sz="1875" dirty="0"/>
          </a:p>
        </p:txBody>
      </p:sp>
      <p:sp>
        <p:nvSpPr>
          <p:cNvPr id="29" name="Text 21"/>
          <p:cNvSpPr txBox="1"/>
          <p:nvPr/>
        </p:nvSpPr>
        <p:spPr>
          <a:xfrm>
            <a:off x="13478256" y="4000500"/>
            <a:ext cx="360913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Vol. 4(1977 가을) pp.58–67</a:t>
            </a:r>
            <a:endParaRPr lang="en-US" sz="1875" dirty="0"/>
          </a:p>
        </p:txBody>
      </p:sp>
      <p:sp>
        <p:nvSpPr>
          <p:cNvPr id="30" name="Text 22"/>
          <p:cNvSpPr txBox="1"/>
          <p:nvPr/>
        </p:nvSpPr>
        <p:spPr>
          <a:xfrm>
            <a:off x="11878056" y="449061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분석 대상</a:t>
            </a:r>
            <a:endParaRPr lang="en-US" sz="1650" dirty="0"/>
          </a:p>
        </p:txBody>
      </p:sp>
      <p:sp>
        <p:nvSpPr>
          <p:cNvPr id="31" name="Text 23"/>
          <p:cNvSpPr txBox="1"/>
          <p:nvPr/>
        </p:nvSpPr>
        <p:spPr>
          <a:xfrm>
            <a:off x="13478256" y="4443070"/>
            <a:ext cx="3372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1970년대 미국 미술 — 미니멀리즘, 프로세스 아트, 재스퍼 존스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0963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1 정리 · 믿음은 어디에서 오는가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세 겹의 신뢰</a:t>
            </a:r>
            <a:endParaRPr lang="en-US" sz="3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3391510"/>
        </p:xfrm>
        <a:graphic>
          <a:graphicData uri="http://schemas.openxmlformats.org/drawingml/2006/table">
            <a:tbl>
              <a:tblPr/>
              <a:tblGrid>
                <a:gridCol w="2095685"/>
                <a:gridCol w="4571739"/>
                <a:gridCol w="3810087"/>
                <a:gridCol w="5524489"/>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신뢰의 층</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근거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AI 이미지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물리적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대상에서 나온 빛이 감광면에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닿았다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있음 — 지표성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없음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형식적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사진처럼 보이는 </a:t>
                      </a:r>
                      <a:pPr indent="0" marL="0">
                        <a:buNone/>
                      </a:pPr>
                      <a:r>
                        <a:rPr lang="en-US" sz="1875" b="1" dirty="0">
                          <a:solidFill>
                            <a:srgbClr val="17150F"/>
                          </a:solidFill>
                          <a:latin typeface="Noto Serif KR" pitchFamily="34" charset="0"/>
                          <a:ea typeface="Noto Serif KR" pitchFamily="34" charset="-122"/>
                          <a:cs typeface="Noto Serif KR" pitchFamily="34" charset="-120"/>
                        </a:rPr>
                        <a:t>해상도·심도·조명·색조</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있음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있음</a:t>
                      </a:r>
                      <a:pPr indent="0" marL="0">
                        <a:buNone/>
                      </a:pPr>
                      <a:r>
                        <a:rPr lang="en-US" sz="1875" dirty="0">
                          <a:solidFill>
                            <a:srgbClr val="3A362C"/>
                          </a:solidFill>
                          <a:latin typeface="Noto Serif KR" pitchFamily="34" charset="0"/>
                          <a:ea typeface="Noto Serif KR" pitchFamily="34" charset="-122"/>
                          <a:cs typeface="Noto Serif KR" pitchFamily="34" charset="-120"/>
                        </a:rPr>
                        <a:t> — 모방 가능</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제도적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작품 캡션·유물번호·소장 기관 등 </a:t>
                      </a:r>
                      <a:pPr indent="0" marL="0">
                        <a:buNone/>
                      </a:pPr>
                      <a:r>
                        <a:rPr lang="en-US" sz="1875" b="1" dirty="0">
                          <a:solidFill>
                            <a:srgbClr val="17150F"/>
                          </a:solidFill>
                          <a:latin typeface="Noto Serif KR" pitchFamily="34" charset="0"/>
                          <a:ea typeface="Noto Serif KR" pitchFamily="34" charset="-122"/>
                          <a:cs typeface="Noto Serif KR" pitchFamily="34" charset="-120"/>
                        </a:rPr>
                        <a:t>서식이 주는 권위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있음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있음</a:t>
                      </a:r>
                      <a:pPr indent="0" marL="0">
                        <a:buNone/>
                      </a:pPr>
                      <a:r>
                        <a:rPr lang="en-US" sz="1875" dirty="0">
                          <a:solidFill>
                            <a:srgbClr val="3A362C"/>
                          </a:solidFill>
                          <a:latin typeface="Noto Serif KR" pitchFamily="34" charset="0"/>
                          <a:ea typeface="Noto Serif KR" pitchFamily="34" charset="-122"/>
                          <a:cs typeface="Noto Serif KR" pitchFamily="34" charset="-120"/>
                        </a:rPr>
                        <a:t> — 2차시에서 확인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400800"/>
            <a:ext cx="17758562"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관람자는 세 층을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구분하지 않는다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②와 ③만 갖추어져도 ①이 있다고 믿는다. 우리 작업이 성립하는 이유이자,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표기가 필수인 이유</a:t>
            </a:r>
            <a:pPr algn="l" indent="0" marL="0">
              <a:buNone/>
            </a:pPr>
            <a:r>
              <a:rPr lang="en-US" sz="2175" dirty="0">
                <a:solidFill>
                  <a:srgbClr val="3A362C"/>
                </a:solidFill>
                <a:latin typeface="Noto Serif KR" pitchFamily="34" charset="0"/>
                <a:ea typeface="Noto Serif KR" pitchFamily="34" charset="-122"/>
                <a:cs typeface="Noto Serif KR" pitchFamily="34" charset="-120"/>
              </a:rPr>
              <a:t>다.</a:t>
            </a:r>
            <a:endParaRPr lang="en-US" sz="2175" dirty="0"/>
          </a:p>
        </p:txBody>
      </p:sp>
      <p:sp>
        <p:nvSpPr>
          <p:cNvPr id="9" name="Shape 4"/>
          <p:cNvSpPr/>
          <p:nvPr/>
        </p:nvSpPr>
        <p:spPr>
          <a:xfrm>
            <a:off x="1143000" y="7524598"/>
            <a:ext cx="7810805" cy="1857146"/>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7632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프롬프트가 담당하는 층</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182051"/>
            <a:ext cx="6931342" cy="9144"/>
          </a:xfrm>
          <a:prstGeom prst="rect">
            <a:avLst/>
          </a:prstGeom>
        </p:spPr>
      </p:pic>
      <p:sp>
        <p:nvSpPr>
          <p:cNvPr id="12" name="Text 6"/>
          <p:cNvSpPr txBox="1"/>
          <p:nvPr/>
        </p:nvSpPr>
        <p:spPr>
          <a:xfrm>
            <a:off x="1438351" y="83439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②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형식적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사진처럼 보이게 만드는 조건 — 조명, 배경, 촬영 각도, 표면 질감 — 을 문장으로 지정한다.</a:t>
            </a:r>
            <a:endParaRPr lang="en-US" sz="1800" dirty="0"/>
          </a:p>
        </p:txBody>
      </p:sp>
      <p:sp>
        <p:nvSpPr>
          <p:cNvPr id="13" name="Shape 7"/>
          <p:cNvSpPr/>
          <p:nvPr/>
        </p:nvSpPr>
        <p:spPr>
          <a:xfrm>
            <a:off x="9334195" y="7524598"/>
            <a:ext cx="7810805" cy="1857146"/>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7632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6차시가 담당하는 층</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182051"/>
            <a:ext cx="6931342" cy="9144"/>
          </a:xfrm>
          <a:prstGeom prst="rect">
            <a:avLst/>
          </a:prstGeom>
        </p:spPr>
      </p:pic>
      <p:sp>
        <p:nvSpPr>
          <p:cNvPr id="16" name="Text 9"/>
          <p:cNvSpPr txBox="1"/>
          <p:nvPr/>
        </p:nvSpPr>
        <p:spPr>
          <a:xfrm>
            <a:off x="9629546" y="83439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③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제도적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작품 캡션을 쓰고, 마지막 줄에서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①이 없다는 사실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관람자에게 알린다.</a:t>
            </a:r>
            <a:endParaRPr lang="en-US" sz="1800" dirty="0"/>
          </a:p>
        </p:txBody>
      </p:sp>
      <p:sp>
        <p:nvSpPr>
          <p:cNvPr id="17" name="Text 10"/>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5 ②</a:t>
            </a:r>
            <a:pPr algn="l" indent="0" marL="0">
              <a:buNone/>
            </a:pPr>
            <a:r>
              <a:rPr lang="en-US" sz="1725" dirty="0">
                <a:solidFill>
                  <a:srgbClr val="3A362C"/>
                </a:solidFill>
                <a:latin typeface="Noto Serif KR" pitchFamily="34" charset="0"/>
                <a:ea typeface="Noto Serif KR" pitchFamily="34" charset="-122"/>
                <a:cs typeface="Noto Serif KR" pitchFamily="34" charset="-120"/>
              </a:rPr>
              <a:t> — “사진의 진실은 어디에 있는가”를 한 문장으로 쓴다. 위 세 층 가운데 하나를 반드시 지목한다.</a:t>
            </a:r>
            <a:endParaRPr lang="en-US" sz="17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1">
            <a:alphaModFix amt="88000"/>
          </a:blip>
          <a:stretch>
            <a:fillRect/>
          </a:stretch>
        </p:blipFill>
        <p:spPr>
          <a:xfrm>
            <a:off x="11239805" y="0"/>
            <a:ext cx="7053943"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35–50분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조작은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AI와 함께 오지 않았다</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사진은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발명된 순간부터</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연출되고 편집되었다. 그렇다면 “어디까지가 편집이고 어디부터가 조작인가”. 이 선을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우리 손으로 그어 본다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2 — 조작의 역사</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f71ed854090b0ea277d5d187c7db979.jpg">    </p:cNvPr>
          <p:cNvPicPr>
            <a:picLocks noChangeAspect="1"/>
          </p:cNvPicPr>
          <p:nvPr/>
        </p:nvPicPr>
        <p:blipFill>
          <a:blip r:embed="rId3"/>
          <a:stretch/>
        </p:blipFill>
        <p:spPr>
          <a:xfrm>
            <a:off x="2431471" y="1438351"/>
            <a:ext cx="7232741"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옮겨진 시신</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도판 5—01</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5—01</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알렉산더 가드너, 「반란군 저격병의 집Home of a Rebel Sharpshooter, Gettysburg」, 1863.</a:t>
            </a:r>
            <a:endParaRPr lang="en-US" sz="1725" dirty="0"/>
          </a:p>
        </p:txBody>
      </p:sp>
      <p:sp>
        <p:nvSpPr>
          <p:cNvPr id="9" name="Text 4"/>
          <p:cNvSpPr txBox="1"/>
          <p:nvPr/>
        </p:nvSpPr>
        <p:spPr>
          <a:xfrm>
            <a:off x="1143000" y="8229600"/>
            <a:ext cx="98115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사진은 남북전쟁 기록사진의 대표작으로 오래 쓰였다. 바위 틈에 쓰러진 병사, 옆에 놓인 소총, 얼굴을 향한 광선 — 모든 요소가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전투의 마지막 순간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증언하는 것처럼 보인다. 그런데 같은 시신이 다른 지점에서도 촬영되었다는 사실이 확인되면서 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‘마지막 순간’은 연출된 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였음이 밝혀졌다.</a:t>
            </a:r>
            <a:endParaRPr lang="en-US" sz="1875" dirty="0"/>
          </a:p>
        </p:txBody>
      </p:sp>
      <p:sp>
        <p:nvSpPr>
          <p:cNvPr id="25" name="Text 20"/>
          <p:cNvSpPr txBox="1"/>
          <p:nvPr/>
        </p:nvSpPr>
        <p:spPr>
          <a:xfrm>
            <a:off x="11525098" y="6495898"/>
            <a:ext cx="5619902"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장면에서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가장 자연스러워 보이는</a:t>
            </a:r>
            <a:pPr algn="l" indent="0" marL="0">
              <a:buNone/>
            </a:pPr>
            <a:r>
              <a:rPr lang="en-US" sz="1800" dirty="0">
                <a:solidFill>
                  <a:srgbClr val="3A362C"/>
                </a:solidFill>
                <a:latin typeface="Noto Serif KR" pitchFamily="34" charset="0"/>
                <a:ea typeface="Noto Serif KR" pitchFamily="34" charset="-122"/>
                <a:cs typeface="Noto Serif KR" pitchFamily="34" charset="-120"/>
              </a:rPr>
              <a:t> 요소는 무엇입니까.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소총의 위치가 어색하다는 지적이 있습니다. 어디가 어색합니까.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연출을 알고 난 뒤 이 사진의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가치는 달라졌습니까</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endParaRPr lang="en-US" sz="1200" dirty="0"/>
          </a:p>
        </p:txBody>
      </p:sp>
      <p:sp>
        <p:nvSpPr>
          <p:cNvPr id="26" name="Shape 21"/>
          <p:cNvSpPr/>
          <p:nvPr/>
        </p:nvSpPr>
        <p:spPr>
          <a:xfrm>
            <a:off x="11525098" y="9068105"/>
            <a:ext cx="5619902" cy="1095451"/>
          </a:xfrm>
          <a:prstGeom prst="rect">
            <a:avLst/>
          </a:prstGeom>
          <a:solidFill>
            <a:srgbClr val="9C2A1F">
              <a:alpha val="6000"/>
            </a:srgbClr>
          </a:solidFill>
          <a:ln w="12700">
            <a:solidFill>
              <a:srgbClr val="9C2A1F"/>
            </a:solidFill>
            <a:prstDash val="solid"/>
          </a:ln>
        </p:spPr>
      </p:sp>
      <p:sp>
        <p:nvSpPr>
          <p:cNvPr id="27" name="Text 22"/>
          <p:cNvSpPr txBox="1"/>
          <p:nvPr/>
        </p:nvSpPr>
        <p:spPr>
          <a:xfrm>
            <a:off x="11782044" y="9249156"/>
            <a:ext cx="5106010"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핵심</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조작된 것은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죽음이 아니라 구도</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였다. 이 구분이 오늘의 기준선이 된다.</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953098"/>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1809598"/>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무엇이 확인되었는가</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사실관계</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40야드 옮겨진 시신</a:t>
            </a:r>
            <a:endParaRPr lang="en-US" sz="3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4353458"/>
        </p:xfrm>
        <a:graphic>
          <a:graphicData uri="http://schemas.openxmlformats.org/drawingml/2006/table">
            <a:tbl>
              <a:tblPr/>
              <a:tblGrid>
                <a:gridCol w="1904695"/>
                <a:gridCol w="7905902"/>
              </a:tblGrid>
              <a:tr h="72557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확인된 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이동 사실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시신은 약 </a:t>
                      </a:r>
                      <a:pPr indent="0" marL="0">
                        <a:buNone/>
                      </a:pPr>
                      <a:r>
                        <a:rPr lang="en-US" sz="1875" b="1" dirty="0">
                          <a:solidFill>
                            <a:srgbClr val="17150F"/>
                          </a:solidFill>
                          <a:latin typeface="Noto Serif KR" pitchFamily="34" charset="0"/>
                          <a:ea typeface="Noto Serif KR" pitchFamily="34" charset="-122"/>
                          <a:cs typeface="Noto Serif KR" pitchFamily="34" charset="-120"/>
                        </a:rPr>
                        <a:t>40야드</a:t>
                      </a:r>
                      <a:pPr indent="0" marL="0">
                        <a:buNone/>
                      </a:pPr>
                      <a:r>
                        <a:rPr lang="en-US" sz="1875" dirty="0">
                          <a:solidFill>
                            <a:srgbClr val="3A362C"/>
                          </a:solidFill>
                          <a:latin typeface="Noto Serif KR" pitchFamily="34" charset="0"/>
                          <a:ea typeface="Noto Serif KR" pitchFamily="34" charset="-122"/>
                          <a:cs typeface="Noto Serif KR" pitchFamily="34" charset="-120"/>
                        </a:rPr>
                        <a:t> 떨어진 다른 지점에서 옮겨진 것으로 정리된다.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소총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병사의 것이 아니라 촬영자가 </a:t>
                      </a:r>
                      <a:pPr indent="0" marL="0">
                        <a:buNone/>
                      </a:pPr>
                      <a:r>
                        <a:rPr lang="en-US" sz="1875" b="1" dirty="0">
                          <a:solidFill>
                            <a:srgbClr val="17150F"/>
                          </a:solidFill>
                          <a:latin typeface="Noto Serif KR" pitchFamily="34" charset="0"/>
                          <a:ea typeface="Noto Serif KR" pitchFamily="34" charset="-122"/>
                          <a:cs typeface="Noto Serif KR" pitchFamily="34" charset="-120"/>
                        </a:rPr>
                        <a:t>따로 놓은 것</a:t>
                      </a:r>
                      <a:pPr indent="0" marL="0">
                        <a:buNone/>
                      </a:pPr>
                      <a:r>
                        <a:rPr lang="en-US" sz="1875" dirty="0">
                          <a:solidFill>
                            <a:srgbClr val="3A362C"/>
                          </a:solidFill>
                          <a:latin typeface="Noto Serif KR" pitchFamily="34" charset="0"/>
                          <a:ea typeface="Noto Serif KR" pitchFamily="34" charset="-122"/>
                          <a:cs typeface="Noto Serif KR" pitchFamily="34" charset="-120"/>
                        </a:rPr>
                        <a:t>으로 지적된다.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이상 정황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총의 조준선과 병사의 머리 방향이 </a:t>
                      </a:r>
                      <a:pPr indent="0" marL="0">
                        <a:buNone/>
                      </a:pPr>
                      <a:r>
                        <a:rPr lang="en-US" sz="1875" b="1" dirty="0">
                          <a:solidFill>
                            <a:srgbClr val="9C2A1F"/>
                          </a:solidFill>
                          <a:latin typeface="Noto Serif KR" pitchFamily="34" charset="0"/>
                          <a:ea typeface="Noto Serif KR" pitchFamily="34" charset="-122"/>
                          <a:cs typeface="Noto Serif KR" pitchFamily="34" charset="-120"/>
                        </a:rPr>
                        <a:t>부자연스럽게 정렬</a:t>
                      </a:r>
                      <a:pPr indent="0" marL="0">
                        <a:buNone/>
                      </a:pPr>
                      <a:r>
                        <a:rPr lang="en-US" sz="1875" dirty="0">
                          <a:solidFill>
                            <a:srgbClr val="3A362C"/>
                          </a:solidFill>
                          <a:latin typeface="Noto Serif KR" pitchFamily="34" charset="0"/>
                          <a:ea typeface="Noto Serif KR" pitchFamily="34" charset="-122"/>
                          <a:cs typeface="Noto Serif KR" pitchFamily="34" charset="-120"/>
                        </a:rPr>
                        <a:t>되어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최초 지적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1961년 한 매체 기사에서 처음 제기되었고, 이후 문헌에서 </a:t>
                      </a:r>
                      <a:pPr indent="0" marL="0">
                        <a:buNone/>
                      </a:pPr>
                      <a:r>
                        <a:rPr lang="en-US" sz="1875" b="1" dirty="0">
                          <a:solidFill>
                            <a:srgbClr val="17150F"/>
                          </a:solidFill>
                          <a:latin typeface="Noto Serif KR" pitchFamily="34" charset="0"/>
                          <a:ea typeface="Noto Serif KR" pitchFamily="34" charset="-122"/>
                          <a:cs typeface="Noto Serif KR" pitchFamily="34" charset="-120"/>
                        </a:rPr>
                        <a:t>연출된 사진</a:t>
                      </a:r>
                      <a:pPr indent="0" marL="0">
                        <a:buNone/>
                      </a:pPr>
                      <a:r>
                        <a:rPr lang="en-US" sz="1875" dirty="0">
                          <a:solidFill>
                            <a:srgbClr val="3A362C"/>
                          </a:solidFill>
                          <a:latin typeface="Noto Serif KR" pitchFamily="34" charset="0"/>
                          <a:ea typeface="Noto Serif KR" pitchFamily="34" charset="-122"/>
                          <a:cs typeface="Noto Serif KR" pitchFamily="34" charset="-120"/>
                        </a:rPr>
                        <a:t>으로 표기된다.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사실로 남는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병사는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사망</a:t>
                      </a:r>
                      <a:pPr indent="0" marL="0">
                        <a:buNone/>
                      </a:pPr>
                      <a:r>
                        <a:rPr lang="en-US" sz="1875" dirty="0">
                          <a:solidFill>
                            <a:srgbClr val="3A362C"/>
                          </a:solidFill>
                          <a:latin typeface="Noto Serif KR" pitchFamily="34" charset="0"/>
                          <a:ea typeface="Noto Serif KR" pitchFamily="34" charset="-122"/>
                          <a:cs typeface="Noto Serif KR" pitchFamily="34" charset="-120"/>
                        </a:rPr>
                        <a:t>했고, 게티스버그에서 </a:t>
                      </a:r>
                      <a:pPr indent="0" marL="0">
                        <a:buNone/>
                      </a:pPr>
                      <a:r>
                        <a:rPr lang="en-US" sz="1875" b="1" dirty="0">
                          <a:solidFill>
                            <a:srgbClr val="17150F"/>
                          </a:solidFill>
                          <a:latin typeface="Noto Serif KR" pitchFamily="34" charset="0"/>
                          <a:ea typeface="Noto Serif KR" pitchFamily="34" charset="-122"/>
                          <a:cs typeface="Noto Serif KR" pitchFamily="34" charset="-120"/>
                        </a:rPr>
                        <a:t>실제로 촬영</a:t>
                      </a:r>
                      <a:pPr indent="0" marL="0">
                        <a:buNone/>
                      </a:pPr>
                      <a:r>
                        <a:rPr lang="en-US" sz="1875" dirty="0">
                          <a:solidFill>
                            <a:srgbClr val="3A362C"/>
                          </a:solidFill>
                          <a:latin typeface="Noto Serif KR" pitchFamily="34" charset="0"/>
                          <a:ea typeface="Noto Serif KR" pitchFamily="34" charset="-122"/>
                          <a:cs typeface="Noto Serif KR" pitchFamily="34" charset="-120"/>
                        </a:rPr>
                        <a:t>되었다.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7258507"/>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 사례가 중요한 이유는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진위</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가 둘로 갈리지 않기 때문이다. 이 사진은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참이면서 동시에 연출</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 우리가 오늘 그어야 하는 선은 참/거짓의 선이 아니라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무엇을 바꿨는지의 선</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a:t>
            </a:r>
            <a:endParaRPr lang="en-US" sz="1950" dirty="0"/>
          </a:p>
        </p:txBody>
      </p:sp>
      <p:sp>
        <p:nvSpPr>
          <p:cNvPr id="10" name="Shape 4"/>
          <p:cNvSpPr/>
          <p:nvPr/>
        </p:nvSpPr>
        <p:spPr>
          <a:xfrm>
            <a:off x="1143000" y="8686800"/>
            <a:ext cx="9810598" cy="1238098"/>
          </a:xfrm>
          <a:prstGeom prst="rect">
            <a:avLst/>
          </a:prstGeom>
          <a:solidFill>
            <a:srgbClr val="FFFFFF">
              <a:alpha val="36000"/>
            </a:srgbClr>
          </a:solidFill>
          <a:ln w="12700">
            <a:solidFill>
              <a:srgbClr val="BEB6A5"/>
            </a:solidFill>
            <a:prstDash val="solid"/>
          </a:ln>
        </p:spPr>
      </p:sp>
      <p:sp>
        <p:nvSpPr>
          <p:cNvPr id="11" name="Text 5"/>
          <p:cNvSpPr txBox="1"/>
          <p:nvPr/>
        </p:nvSpPr>
        <p:spPr>
          <a:xfrm>
            <a:off x="1438351" y="8906256"/>
            <a:ext cx="92208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가드너는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사건을 만들지 않았다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그는 이미 일어난 사건의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배치를 바꿨다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우리는 사건 자체를 만든다 — 그래서 표기가 필요하다.</a:t>
            </a:r>
            <a:endParaRPr lang="en-US" sz="1800" dirty="0"/>
          </a:p>
        </p:txBody>
      </p:sp>
      <p:sp>
        <p:nvSpPr>
          <p:cNvPr id="12" name="Text 6"/>
          <p:cNvSpPr txBox="1"/>
          <p:nvPr/>
        </p:nvSpPr>
        <p:spPr>
          <a:xfrm>
            <a:off x="11620195" y="1466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개입의 단계 — 어디까지 허용되는가</a:t>
            </a:r>
            <a:endParaRPr lang="en-US" sz="1650" dirty="0"/>
          </a:p>
        </p:txBody>
      </p:sp>
      <p:sp>
        <p:nvSpPr>
          <p:cNvPr id="13" name="Text 7"/>
          <p:cNvSpPr txBox="1"/>
          <p:nvPr/>
        </p:nvSpPr>
        <p:spPr>
          <a:xfrm>
            <a:off x="11620195" y="2076602"/>
            <a:ext cx="5524805" cy="299923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촬영 각도를 고른다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누구나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밝기·대비를 조정한다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보도 사진도 허용</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피사체를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옮긴다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여기서 논쟁이 시작된다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화면에서 요소를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지우거나 더한다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보도에서 금지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5</a:t>
            </a:r>
            <a:pPr algn="l" indent="0" marL="0">
              <a:buNone/>
            </a:pPr>
            <a:r>
              <a:rPr lang="en-US" sz="1800" dirty="0">
                <a:solidFill>
                  <a:srgbClr val="3A362C"/>
                </a:solidFill>
                <a:latin typeface="Noto Serif KR" pitchFamily="34" charset="0"/>
                <a:ea typeface="Noto Serif KR" pitchFamily="34" charset="-122"/>
                <a:cs typeface="Noto Serif KR" pitchFamily="34" charset="-120"/>
              </a:rPr>
              <a:t>장면 자체를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생성한다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우리가 하는 일</a:t>
            </a:r>
            <a:endParaRPr lang="en-US" sz="1200" dirty="0"/>
          </a:p>
        </p:txBody>
      </p:sp>
      <p:sp>
        <p:nvSpPr>
          <p:cNvPr id="14" name="Shape 8"/>
          <p:cNvSpPr/>
          <p:nvPr/>
        </p:nvSpPr>
        <p:spPr>
          <a:xfrm>
            <a:off x="11620195" y="6362395"/>
            <a:ext cx="5524805" cy="2257654"/>
          </a:xfrm>
          <a:prstGeom prst="rect">
            <a:avLst/>
          </a:prstGeom>
          <a:solidFill>
            <a:srgbClr val="9C2A1F">
              <a:alpha val="6000"/>
            </a:srgbClr>
          </a:solidFill>
          <a:ln w="12700">
            <a:solidFill>
              <a:srgbClr val="9C2A1F"/>
            </a:solidFill>
            <a:prstDash val="solid"/>
          </a:ln>
        </p:spPr>
      </p:sp>
      <p:sp>
        <p:nvSpPr>
          <p:cNvPr id="15" name="Text 9"/>
          <p:cNvSpPr txBox="1"/>
          <p:nvPr/>
        </p:nvSpPr>
        <p:spPr>
          <a:xfrm>
            <a:off x="11896344" y="6601054"/>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5단계에 서 있다는 자각</a:t>
            </a:r>
            <a:endParaRPr lang="en-US" sz="1575" dirty="0"/>
          </a:p>
        </p:txBody>
      </p:sp>
      <p:pic>
        <p:nvPicPr>
          <p:cNvPr id="16" name="Image 3" descr="gen-dedup-27ae280773eedb088e0c817c49142db0.png">    </p:cNvPr>
          <p:cNvPicPr>
            <a:picLocks noChangeAspect="1"/>
          </p:cNvPicPr>
          <p:nvPr/>
        </p:nvPicPr>
        <p:blipFill>
          <a:blip r:embed="rId4"/>
          <a:stretch/>
        </p:blipFill>
        <p:spPr>
          <a:xfrm>
            <a:off x="11996054" y="7019849"/>
            <a:ext cx="4773087" cy="9144"/>
          </a:xfrm>
          <a:prstGeom prst="rect">
            <a:avLst/>
          </a:prstGeom>
        </p:spPr>
      </p:pic>
      <p:sp>
        <p:nvSpPr>
          <p:cNvPr id="17" name="Text 10"/>
          <p:cNvSpPr txBox="1"/>
          <p:nvPr/>
        </p:nvSpPr>
        <p:spPr>
          <a:xfrm>
            <a:off x="11896344" y="7181698"/>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가장 먼 단계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있다. 이 사실을 감추지 않는 것이 이 단원의 윤리적 조건이며, 그래서 표기가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선택이 아니라 요건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800" dirty="0"/>
          </a:p>
        </p:txBody>
      </p:sp>
      <p:sp>
        <p:nvSpPr>
          <p:cNvPr id="18" name="Text 11"/>
          <p:cNvSpPr txBox="1"/>
          <p:nvPr/>
        </p:nvSpPr>
        <p:spPr>
          <a:xfrm>
            <a:off x="11887200" y="847740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3단계와 4단계 사이에 선을 그을 수 있습니까. 기준은 무엇입니까.</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733495"/>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381805"/>
            <a:ext cx="7498421"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결론이 나지 않은 논쟁</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사례</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「쓰러지는 병사」는 아직 판정되지 않았다</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로버트 카파가 1936년 스페인 내전에서 촬영한 「쓰러지는 병사The Falling Soldier」는 20세기 가장 유명한 전쟁 사진 중 하나다. 1970년대부터 연출 여부를 둘러싼 논쟁이 시작되었고,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현재까지 학계의 확정 결론은 없다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a:t>
            </a:r>
            <a:endParaRPr lang="en-US" sz="2175" dirty="0"/>
          </a:p>
        </p:txBody>
      </p:sp>
      <p:sp>
        <p:nvSpPr>
          <p:cNvPr id="9" name="Text 4"/>
          <p:cNvSpPr txBox="1"/>
          <p:nvPr/>
        </p:nvSpPr>
        <p:spPr>
          <a:xfrm>
            <a:off x="1143000" y="403890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제기된 두 가설</a:t>
            </a:r>
            <a:endParaRPr lang="en-US" sz="16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4438498"/>
          <a:ext cx="7810805" cy="2095805"/>
        </p:xfrm>
        <a:graphic>
          <a:graphicData uri="http://schemas.openxmlformats.org/drawingml/2006/table">
            <a:tbl>
              <a:tblPr/>
              <a:tblGrid>
                <a:gridCol w="1047902"/>
                <a:gridCol w="6762902"/>
              </a:tblGrid>
              <a:tr h="10479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가설 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사진은 </a:t>
                      </a:r>
                      <a:pPr indent="0" marL="0">
                        <a:buNone/>
                      </a:pPr>
                      <a:r>
                        <a:rPr lang="en-US" sz="1875" b="1" dirty="0">
                          <a:solidFill>
                            <a:srgbClr val="17150F"/>
                          </a:solidFill>
                          <a:latin typeface="Noto Serif KR" pitchFamily="34" charset="0"/>
                          <a:ea typeface="Noto Serif KR" pitchFamily="34" charset="-122"/>
                          <a:cs typeface="Noto Serif KR" pitchFamily="34" charset="-120"/>
                        </a:rPr>
                        <a:t>그 자리에서 실제로</a:t>
                      </a:r>
                      <a:pPr indent="0" marL="0">
                        <a:buNone/>
                      </a:pPr>
                      <a:r>
                        <a:rPr lang="en-US" sz="1875" dirty="0">
                          <a:solidFill>
                            <a:srgbClr val="3A362C"/>
                          </a:solidFill>
                          <a:latin typeface="Noto Serif KR" pitchFamily="34" charset="0"/>
                          <a:ea typeface="Noto Serif KR" pitchFamily="34" charset="-122"/>
                          <a:cs typeface="Noto Serif KR" pitchFamily="34" charset="-120"/>
                        </a:rPr>
                        <a:t> 촬영되었다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479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가설 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동료 기자에게 카파가 </a:t>
                      </a:r>
                      <a:pPr indent="0" marL="0">
                        <a:buNone/>
                      </a:pPr>
                      <a:r>
                        <a:rPr lang="en-US" sz="1875" b="1" dirty="0">
                          <a:solidFill>
                            <a:srgbClr val="17150F"/>
                          </a:solidFill>
                          <a:latin typeface="Noto Serif KR" pitchFamily="34" charset="0"/>
                          <a:ea typeface="Noto Serif KR" pitchFamily="34" charset="-122"/>
                          <a:cs typeface="Noto Serif KR" pitchFamily="34" charset="-120"/>
                        </a:rPr>
                        <a:t>연출 가능성을 언급</a:t>
                      </a:r>
                      <a:pPr indent="0" marL="0">
                        <a:buNone/>
                      </a:pPr>
                      <a:r>
                        <a:rPr lang="en-US" sz="1875" dirty="0">
                          <a:solidFill>
                            <a:srgbClr val="3A362C"/>
                          </a:solidFill>
                          <a:latin typeface="Noto Serif KR" pitchFamily="34" charset="0"/>
                          <a:ea typeface="Noto Serif KR" pitchFamily="34" charset="-122"/>
                          <a:cs typeface="Noto Serif KR" pitchFamily="34" charset="-120"/>
                        </a:rPr>
                        <a:t>했다는 전언이 있고, 촬영 지점·자세의 불일치가 제기되었다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515100"/>
            <a:ext cx="7810805" cy="2257654"/>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67528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우리가 이 사례에서 배울 것</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7172554"/>
            <a:ext cx="6931342" cy="9144"/>
          </a:xfrm>
          <a:prstGeom prst="rect">
            <a:avLst/>
          </a:prstGeom>
        </p:spPr>
      </p:pic>
      <p:sp>
        <p:nvSpPr>
          <p:cNvPr id="14" name="Text 7"/>
          <p:cNvSpPr txBox="1"/>
          <p:nvPr/>
        </p:nvSpPr>
        <p:spPr>
          <a:xfrm>
            <a:off x="1438351" y="73344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진위는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이미지 안에서 결정되지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촬영 일지, 동료의 증언, 지형 조사 같은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이미지 밖의 자료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판정을 만든다. 그런데 그 자료가 불완전하면 판정은 영원히 미결로 남는다.</a:t>
            </a:r>
            <a:endParaRPr lang="en-US" sz="1800" dirty="0"/>
          </a:p>
        </p:txBody>
      </p:sp>
      <p:sp>
        <p:nvSpPr>
          <p:cNvPr id="15" name="Text 8"/>
          <p:cNvSpPr txBox="1"/>
          <p:nvPr/>
        </p:nvSpPr>
        <p:spPr>
          <a:xfrm>
            <a:off x="9334195" y="403890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구조가 우리 전시와 같다</a:t>
            </a:r>
            <a:endParaRPr lang="en-US" sz="1650" dirty="0"/>
          </a:p>
        </p:txBody>
      </p:sp>
      <p:sp>
        <p:nvSpPr>
          <p:cNvPr id="16" name="Text 9"/>
          <p:cNvSpPr txBox="1"/>
          <p:nvPr/>
        </p:nvSpPr>
        <p:spPr>
          <a:xfrm>
            <a:off x="9334195" y="4647895"/>
            <a:ext cx="7810805" cy="162946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관람자는 이미지만 보고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진위를 판정할 수 없다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판정에 필요한 자료는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우리가 제공하는 작품 캡션</a:t>
            </a:r>
            <a:pPr algn="l" indent="0" marL="0">
              <a:buNone/>
            </a:pPr>
            <a:r>
              <a:rPr lang="en-US" sz="1875" dirty="0">
                <a:solidFill>
                  <a:srgbClr val="3A362C"/>
                </a:solidFill>
                <a:latin typeface="Noto Serif KR" pitchFamily="34" charset="0"/>
                <a:ea typeface="Noto Serif KR" pitchFamily="34" charset="-122"/>
                <a:cs typeface="Noto Serif KR" pitchFamily="34" charset="-120"/>
              </a:rPr>
              <a:t>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작품 캡션이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허구를 밝히지 않으면</a:t>
            </a:r>
            <a:pPr algn="l" indent="0" marL="0">
              <a:buNone/>
            </a:pPr>
            <a:r>
              <a:rPr lang="en-US" sz="1875" dirty="0">
                <a:solidFill>
                  <a:srgbClr val="3A362C"/>
                </a:solidFill>
                <a:latin typeface="Noto Serif KR" pitchFamily="34" charset="0"/>
                <a:ea typeface="Noto Serif KR" pitchFamily="34" charset="-122"/>
                <a:cs typeface="Noto Serif KR" pitchFamily="34" charset="-120"/>
              </a:rPr>
              <a:t> 관람자는 영원히 판정할 수 없다.</a:t>
            </a:r>
            <a:endParaRPr lang="en-US" sz="1200" dirty="0"/>
          </a:p>
        </p:txBody>
      </p:sp>
      <p:sp>
        <p:nvSpPr>
          <p:cNvPr id="17" name="Shape 10"/>
          <p:cNvSpPr/>
          <p:nvPr/>
        </p:nvSpPr>
        <p:spPr>
          <a:xfrm>
            <a:off x="9334195" y="6972300"/>
            <a:ext cx="7810805" cy="2257654"/>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9546" y="7210044"/>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미확인 사항 명시</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629754"/>
            <a:ext cx="6931342" cy="9144"/>
          </a:xfrm>
          <a:prstGeom prst="rect">
            <a:avLst/>
          </a:prstGeom>
        </p:spPr>
      </p:pic>
      <p:sp>
        <p:nvSpPr>
          <p:cNvPr id="20" name="Text 12"/>
          <p:cNvSpPr txBox="1"/>
          <p:nvPr/>
        </p:nvSpPr>
        <p:spPr>
          <a:xfrm>
            <a:off x="9629546" y="77916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사례는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확정된 사실로 가르치지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“논쟁이 있다”까지가 확인된 범위이며, 학생에게도 그렇게 제시한다. 미확인을 미확인으로 말하는 것도 이 단원의 훈련이다.</a:t>
            </a:r>
            <a:endParaRPr lang="en-US" sz="1800" dirty="0"/>
          </a:p>
        </p:txBody>
      </p:sp>
      <p:sp>
        <p:nvSpPr>
          <p:cNvPr id="21" name="Text 13"/>
          <p:cNvSpPr txBox="1"/>
          <p:nvPr/>
        </p:nvSpPr>
        <p:spPr>
          <a:xfrm>
            <a:off x="1410005" y="8725205"/>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판정할 수 없는 이미지를 우리는 어떻게 다뤄야 합니까.</a:t>
            </a:r>
            <a:endParaRPr lang="en-US" sz="2175" dirty="0"/>
          </a:p>
        </p:txBody>
      </p:sp>
      <p:sp>
        <p:nvSpPr>
          <p:cNvPr id="22" name="Text 14"/>
          <p:cNvSpPr txBox="1"/>
          <p:nvPr/>
        </p:nvSpPr>
        <p:spPr>
          <a:xfrm>
            <a:off x="1143000" y="9810598"/>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카파 관련 사진사 논쟁 보도 자료 · 학계 확정 결론 부재(미확인 표기)</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47247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규정 분석 · 업계는 선을 어떻게 그었는가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규정</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더하거나 지우면 실격</a:t>
            </a:r>
            <a:endParaRPr lang="en-US" sz="3450" dirty="0"/>
          </a:p>
        </p:txBody>
      </p:sp>
      <p:sp>
        <p:nvSpPr>
          <p:cNvPr id="7" name="Text 3"/>
          <p:cNvSpPr txBox="1"/>
          <p:nvPr/>
        </p:nvSpPr>
        <p:spPr>
          <a:xfrm>
            <a:off x="1143000" y="2381098"/>
            <a:ext cx="16002000"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“Photographs must not be altered by adding, rearranging, reversing, distorting or removing people and/or objects from within the frame.”</a:t>
            </a:r>
            <a:endParaRPr lang="en-US" sz="1950" dirty="0"/>
          </a:p>
        </p:txBody>
      </p:sp>
      <p:sp>
        <p:nvSpPr>
          <p:cNvPr id="8" name="Text 4"/>
          <p:cNvSpPr txBox="1"/>
          <p:nvPr/>
        </p:nvSpPr>
        <p:spPr>
          <a:xfrm>
            <a:off x="1143000" y="3298241"/>
            <a:ext cx="16002000" cy="409651"/>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사진은 화면 안의 사람이나 사물을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더하거나, 재배치하거나, 반전하거나, 왜곡하거나, 제거</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하는 방식으로 변경되어서는 안 된다.</a:t>
            </a:r>
            <a:endParaRPr lang="en-US" sz="1875" dirty="0"/>
          </a:p>
        </p:txBody>
      </p:sp>
      <p:sp>
        <p:nvSpPr>
          <p:cNvPr id="9" name="Text 5"/>
          <p:cNvSpPr txBox="1"/>
          <p:nvPr/>
        </p:nvSpPr>
        <p:spPr>
          <a:xfrm>
            <a:off x="1143000" y="3802990"/>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World Press Photo 출품 규정 · 공식 사이트 게시본</a:t>
            </a:r>
            <a:endParaRPr lang="en-US" sz="16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143000" y="5029200"/>
          <a:ext cx="16002000" cy="3010205"/>
        </p:xfrm>
        <a:graphic>
          <a:graphicData uri="http://schemas.openxmlformats.org/drawingml/2006/table">
            <a:tbl>
              <a:tblPr/>
              <a:tblGrid>
                <a:gridCol w="2286000"/>
                <a:gridCol w="5905195"/>
                <a:gridCol w="7810805"/>
              </a:tblGrid>
              <a:tr h="75255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구분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허용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금지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후처리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업계에서 통상 허용되는 범위의 </a:t>
                      </a:r>
                      <a:pPr indent="0" marL="0">
                        <a:buNone/>
                      </a:pPr>
                      <a:r>
                        <a:rPr lang="en-US" sz="1875" b="1" dirty="0">
                          <a:solidFill>
                            <a:srgbClr val="17150F"/>
                          </a:solidFill>
                          <a:latin typeface="Noto Serif KR" pitchFamily="34" charset="0"/>
                          <a:ea typeface="Noto Serif KR" pitchFamily="34" charset="-122"/>
                          <a:cs typeface="Noto Serif KR" pitchFamily="34" charset="-120"/>
                        </a:rPr>
                        <a:t>리터칭</a:t>
                      </a:r>
                      <a:pPr indent="0" marL="0">
                        <a:buNone/>
                      </a:pPr>
                      <a:r>
                        <a:rPr lang="en-US" sz="1875" dirty="0">
                          <a:solidFill>
                            <a:srgbClr val="3A362C"/>
                          </a:solidFill>
                          <a:latin typeface="Noto Serif KR" pitchFamily="34" charset="0"/>
                          <a:ea typeface="Noto Serif KR" pitchFamily="34" charset="-122"/>
                          <a:cs typeface="Noto Serif KR" pitchFamily="34" charset="-120"/>
                        </a:rPr>
                        <a:t> — 밝기·대비·색 균형</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요소의 추가·재배치·반전·왜곡·제거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형식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단일 프레임</a:t>
                      </a:r>
                      <a:pPr indent="0" marL="0">
                        <a:buNone/>
                      </a:pPr>
                      <a:r>
                        <a:rPr lang="en-US" sz="1875" dirty="0">
                          <a:solidFill>
                            <a:srgbClr val="3A362C"/>
                          </a:solidFill>
                          <a:latin typeface="Noto Serif KR" pitchFamily="34" charset="0"/>
                          <a:ea typeface="Noto Serif KR" pitchFamily="34" charset="-122"/>
                          <a:cs typeface="Noto Serif KR" pitchFamily="34" charset="-120"/>
                        </a:rPr>
                        <a:t> 사진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다중 노출, 디프티크·트립티크 형태의 합성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AI 이미지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별도로 개방된 부문에서만 가능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실재하는 장면·인물·사물과 </a:t>
                      </a:r>
                      <a:pPr indent="0" marL="0">
                        <a:buNone/>
                      </a:pPr>
                      <a:r>
                        <a:rPr lang="en-US" sz="1875" b="1" dirty="0">
                          <a:solidFill>
                            <a:srgbClr val="9C2A1F"/>
                          </a:solidFill>
                          <a:latin typeface="Noto Serif KR" pitchFamily="34" charset="0"/>
                          <a:ea typeface="Noto Serif KR" pitchFamily="34" charset="-122"/>
                          <a:cs typeface="Noto Serif KR" pitchFamily="34" charset="-120"/>
                        </a:rPr>
                        <a:t>유사한 AI 생성 이미지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43000" y="7487107"/>
            <a:ext cx="7810805" cy="1857146"/>
          </a:xfrm>
          <a:prstGeom prst="rect">
            <a:avLst/>
          </a:prstGeom>
          <a:solidFill>
            <a:srgbClr val="FFFFFF">
              <a:alpha val="36000"/>
            </a:srgbClr>
          </a:solidFill>
          <a:ln w="12700">
            <a:solidFill>
              <a:srgbClr val="BEB6A5"/>
            </a:solidFill>
            <a:prstDash val="solid"/>
          </a:ln>
        </p:spPr>
      </p:sp>
      <p:sp>
        <p:nvSpPr>
          <p:cNvPr id="12" name="Text 7"/>
          <p:cNvSpPr txBox="1"/>
          <p:nvPr/>
        </p:nvSpPr>
        <p:spPr>
          <a:xfrm>
            <a:off x="1438351" y="77248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규정의 논리 — 무엇을 지키려 하는가</a:t>
            </a:r>
            <a:endParaRPr lang="en-US" sz="1575" dirty="0"/>
          </a:p>
        </p:txBody>
      </p:sp>
      <p:pic>
        <p:nvPicPr>
          <p:cNvPr id="13" name="Image 2" descr="gen-dedup-8daa7bbad9e138f694b547871d64bad8.png">    </p:cNvPr>
          <p:cNvPicPr>
            <a:picLocks noChangeAspect="1"/>
          </p:cNvPicPr>
          <p:nvPr/>
        </p:nvPicPr>
        <p:blipFill>
          <a:blip r:embed="rId3"/>
          <a:stretch/>
        </p:blipFill>
        <p:spPr>
          <a:xfrm>
            <a:off x="1582731" y="8143646"/>
            <a:ext cx="6931342" cy="9144"/>
          </a:xfrm>
          <a:prstGeom prst="rect">
            <a:avLst/>
          </a:prstGeom>
        </p:spPr>
      </p:pic>
      <p:sp>
        <p:nvSpPr>
          <p:cNvPr id="14" name="Text 8"/>
          <p:cNvSpPr txBox="1"/>
          <p:nvPr/>
        </p:nvSpPr>
        <p:spPr>
          <a:xfrm>
            <a:off x="1438351" y="83054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보이는 방식(밝기·색)은 조정할 수 있지만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화면 안에 무엇이 있었는지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바꿀 수 없다. 즉 규정이 지키는 것은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지표성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 자체다.</a:t>
            </a:r>
            <a:endParaRPr lang="en-US" sz="1800" dirty="0"/>
          </a:p>
        </p:txBody>
      </p:sp>
      <p:sp>
        <p:nvSpPr>
          <p:cNvPr id="15" name="Shape 9"/>
          <p:cNvSpPr/>
          <p:nvPr/>
        </p:nvSpPr>
        <p:spPr>
          <a:xfrm>
            <a:off x="9334195" y="7487107"/>
            <a:ext cx="7810805" cy="2257654"/>
          </a:xfrm>
          <a:prstGeom prst="rect">
            <a:avLst/>
          </a:prstGeom>
          <a:solidFill>
            <a:srgbClr val="9C2A1F">
              <a:alpha val="6000"/>
            </a:srgbClr>
          </a:solidFill>
          <a:ln w="12700">
            <a:solidFill>
              <a:srgbClr val="9C2A1F"/>
            </a:solidFill>
            <a:prstDash val="solid"/>
          </a:ln>
        </p:spPr>
      </p:sp>
      <p:sp>
        <p:nvSpPr>
          <p:cNvPr id="16" name="Text 10"/>
          <p:cNvSpPr txBox="1"/>
          <p:nvPr/>
        </p:nvSpPr>
        <p:spPr>
          <a:xfrm>
            <a:off x="9629546" y="77248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전시는 이 규정 밖에 있다</a:t>
            </a:r>
            <a:endParaRPr lang="en-US" sz="1575" dirty="0"/>
          </a:p>
        </p:txBody>
      </p:sp>
      <p:pic>
        <p:nvPicPr>
          <p:cNvPr id="17" name="Image 3" descr="gen-dedup-8daa7bbad9e138f694b547871d64bad8.png">    </p:cNvPr>
          <p:cNvPicPr>
            <a:picLocks noChangeAspect="1"/>
          </p:cNvPicPr>
          <p:nvPr/>
        </p:nvPicPr>
        <p:blipFill>
          <a:blip r:embed="rId4"/>
          <a:stretch/>
        </p:blipFill>
        <p:spPr>
          <a:xfrm>
            <a:off x="9773926" y="8143646"/>
            <a:ext cx="6931342" cy="9144"/>
          </a:xfrm>
          <a:prstGeom prst="rect">
            <a:avLst/>
          </a:prstGeom>
        </p:spPr>
      </p:pic>
      <p:sp>
        <p:nvSpPr>
          <p:cNvPr id="18" name="Text 11"/>
          <p:cNvSpPr txBox="1"/>
          <p:nvPr/>
        </p:nvSpPr>
        <p:spPr>
          <a:xfrm>
            <a:off x="9629546" y="8305495"/>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보도사진이 아니다. 그러므로 이 규정을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지킬 의무는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그러나 규정이 지키려는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알아야 한다. 그 이유를 알기 때문에 우리는 표기를 넣는다.</a:t>
            </a:r>
            <a:endParaRPr lang="en-US" sz="1800" dirty="0"/>
          </a:p>
        </p:txBody>
      </p:sp>
      <p:sp>
        <p:nvSpPr>
          <p:cNvPr id="19" name="Text 12"/>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참고</a:t>
            </a:r>
            <a:pPr algn="l" indent="0" marL="0">
              <a:buNone/>
            </a:pPr>
            <a:r>
              <a:rPr lang="en-US" sz="1725" dirty="0">
                <a:solidFill>
                  <a:srgbClr val="3A362C"/>
                </a:solidFill>
                <a:latin typeface="Noto Serif KR" pitchFamily="34" charset="0"/>
                <a:ea typeface="Noto Serif KR" pitchFamily="34" charset="-122"/>
                <a:cs typeface="Noto Serif KR" pitchFamily="34" charset="-120"/>
              </a:rPr>
              <a:t> — 2015년 세계보도사진전에서는 최종 심사 진출작 상당수가 후처리 규정 위반으로 실격되었다. 기준이 실제로 집행된다는 뜻이다.</a:t>
            </a:r>
            <a:endParaRPr lang="en-US" sz="17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2 정리 · 우리 반의 기준선</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편집과 조작의 경계를 직접 정한다</a:t>
            </a:r>
            <a:endParaRPr lang="en-US" sz="3450" dirty="0"/>
          </a:p>
        </p:txBody>
      </p:sp>
      <p:sp>
        <p:nvSpPr>
          <p:cNvPr id="7" name="Text 3"/>
          <p:cNvSpPr txBox="1"/>
          <p:nvPr/>
        </p:nvSpPr>
        <p:spPr>
          <a:xfrm>
            <a:off x="1143000" y="2381098"/>
            <a:ext cx="17062704"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정답은 없다. 다만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기준을 정한 사람만이 자기 작업을 설명할 수 있다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세 문장 중 자신의 입장을 고르고, 근거를 한 줄 적는다.</a:t>
            </a:r>
            <a:endParaRPr lang="en-US" sz="2175"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762756"/>
        </p:xfrm>
        <a:graphic>
          <a:graphicData uri="http://schemas.openxmlformats.org/drawingml/2006/table">
            <a:tbl>
              <a:tblPr/>
              <a:tblGrid>
                <a:gridCol w="1619402"/>
                <a:gridCol w="4953305"/>
                <a:gridCol w="4095598"/>
                <a:gridCol w="5333695"/>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입장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주장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입장이 허용하는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입장의 약점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지표 중심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화면 안의 요소를 바꾸면 조작이다. 밝기 조정까지만 편집이다.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보도사진의 기존 관행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프레이밍과 촬영 시점 선택도 이미 </a:t>
                      </a:r>
                      <a:pPr indent="0" marL="0">
                        <a:buNone/>
                      </a:pPr>
                      <a:r>
                        <a:rPr lang="en-US" sz="1875" b="1" dirty="0">
                          <a:solidFill>
                            <a:srgbClr val="9C2A1F"/>
                          </a:solidFill>
                          <a:latin typeface="Noto Serif KR" pitchFamily="34" charset="0"/>
                          <a:ea typeface="Noto Serif KR" pitchFamily="34" charset="-122"/>
                          <a:cs typeface="Noto Serif KR" pitchFamily="34" charset="-120"/>
                        </a:rPr>
                        <a:t>개입</a:t>
                      </a:r>
                      <a:pPr indent="0" marL="0">
                        <a:buNone/>
                      </a:pPr>
                      <a:r>
                        <a:rPr lang="en-US" sz="1875" dirty="0">
                          <a:solidFill>
                            <a:srgbClr val="3A362C"/>
                          </a:solidFill>
                          <a:latin typeface="Noto Serif KR" pitchFamily="34" charset="0"/>
                          <a:ea typeface="Noto Serif KR" pitchFamily="34" charset="-122"/>
                          <a:cs typeface="Noto Serif KR" pitchFamily="34" charset="-120"/>
                        </a:rPr>
                        <a:t>이라는 점을 설명하지 못한다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의도 중심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속이려는 의도가 있으면 조작이다. 없으면 편집이다.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예술적 연출, 광고, 우리 전시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의도는 </a:t>
                      </a:r>
                      <a:pPr indent="0" marL="0">
                        <a:buNone/>
                      </a:pPr>
                      <a:r>
                        <a:rPr lang="en-US" sz="1875" b="1" dirty="0">
                          <a:solidFill>
                            <a:srgbClr val="9C2A1F"/>
                          </a:solidFill>
                          <a:latin typeface="Noto Serif KR" pitchFamily="34" charset="0"/>
                          <a:ea typeface="Noto Serif KR" pitchFamily="34" charset="-122"/>
                          <a:cs typeface="Noto Serif KR" pitchFamily="34" charset="-120"/>
                        </a:rPr>
                        <a:t>검증할 수 없다</a:t>
                      </a:r>
                      <a:pPr indent="0" marL="0">
                        <a:buNone/>
                      </a:pPr>
                      <a:r>
                        <a:rPr lang="en-US" sz="1875" dirty="0">
                          <a:solidFill>
                            <a:srgbClr val="3A362C"/>
                          </a:solidFill>
                          <a:latin typeface="Noto Serif KR" pitchFamily="34" charset="0"/>
                          <a:ea typeface="Noto Serif KR" pitchFamily="34" charset="-122"/>
                          <a:cs typeface="Noto Serif KR" pitchFamily="34" charset="-120"/>
                        </a:rPr>
                        <a:t>. 사후에 “속일 뜻이 없었다”고 말하면 끝난다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고지 중심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밝히면 편집이고, 감추면 조작이다.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표기가 붙은 모든 작업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표기를 </a:t>
                      </a:r>
                      <a:pPr indent="0" marL="0">
                        <a:buNone/>
                      </a:pPr>
                      <a:r>
                        <a:rPr lang="en-US" sz="1875" b="1" dirty="0">
                          <a:solidFill>
                            <a:srgbClr val="9C2A1F"/>
                          </a:solidFill>
                          <a:latin typeface="Noto Serif KR" pitchFamily="34" charset="0"/>
                          <a:ea typeface="Noto Serif KR" pitchFamily="34" charset="-122"/>
                          <a:cs typeface="Noto Serif KR" pitchFamily="34" charset="-120"/>
                        </a:rPr>
                        <a:t>읽지 못하는 관람자</a:t>
                      </a:r>
                      <a:pPr indent="0" marL="0">
                        <a:buNone/>
                      </a:pPr>
                      <a:r>
                        <a:rPr lang="en-US" sz="1875" dirty="0">
                          <a:solidFill>
                            <a:srgbClr val="3A362C"/>
                          </a:solidFill>
                          <a:latin typeface="Noto Serif KR" pitchFamily="34" charset="0"/>
                          <a:ea typeface="Noto Serif KR" pitchFamily="34" charset="-122"/>
                          <a:cs typeface="Noto Serif KR" pitchFamily="34" charset="-120"/>
                        </a:rPr>
                        <a:t>에게는 아무 효력이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353605"/>
            <a:ext cx="7810805" cy="225765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5913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단원이 채택하는 입장</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010144"/>
            <a:ext cx="6931342" cy="9144"/>
          </a:xfrm>
          <a:prstGeom prst="rect">
            <a:avLst/>
          </a:prstGeom>
        </p:spPr>
      </p:pic>
      <p:sp>
        <p:nvSpPr>
          <p:cNvPr id="12" name="Text 6"/>
          <p:cNvSpPr txBox="1"/>
          <p:nvPr/>
        </p:nvSpPr>
        <p:spPr>
          <a:xfrm>
            <a:off x="1438351" y="8172907"/>
            <a:ext cx="7220102" cy="1200607"/>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C에 가깝지만 약점을 인정하는 형태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그래서 표기를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한 곳이 아니라 세 곳</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배치한다 — 이미지, 작품 캡션, 전시 입구. 2차시 라드 사례에서 가져온 방식이다.</a:t>
            </a:r>
            <a:endParaRPr lang="en-US" sz="1800" dirty="0"/>
          </a:p>
        </p:txBody>
      </p:sp>
      <p:sp>
        <p:nvSpPr>
          <p:cNvPr id="13" name="Shape 7"/>
          <p:cNvSpPr/>
          <p:nvPr/>
        </p:nvSpPr>
        <p:spPr>
          <a:xfrm>
            <a:off x="9334195" y="7353605"/>
            <a:ext cx="7810805" cy="1857146"/>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5913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기록 방법</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010144"/>
            <a:ext cx="6931342" cy="9144"/>
          </a:xfrm>
          <a:prstGeom prst="rect">
            <a:avLst/>
          </a:prstGeom>
        </p:spPr>
      </p:pic>
      <p:sp>
        <p:nvSpPr>
          <p:cNvPr id="16" name="Text 9"/>
          <p:cNvSpPr txBox="1"/>
          <p:nvPr/>
        </p:nvSpPr>
        <p:spPr>
          <a:xfrm>
            <a:off x="9629546" y="8172907"/>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학습지 5 ②에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고른 입장과 근거 한 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적는다. 8차시 성찰문에서 이 문장을 다시 꺼내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입장이 바뀌었는지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확인한다.</a:t>
            </a:r>
            <a:endParaRPr lang="en-US" sz="1800" dirty="0"/>
          </a:p>
        </p:txBody>
      </p:sp>
      <p:sp>
        <p:nvSpPr>
          <p:cNvPr id="17" name="Text 10"/>
          <p:cNvSpPr txBox="1"/>
          <p:nvPr/>
        </p:nvSpPr>
        <p:spPr>
          <a:xfrm>
            <a:off x="1410005" y="9296705"/>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세 입장 중 어느 것도 완전하지 않습니다. 그래도 하나를 골라야 하는 이유는 무엇일까요.</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2c696d9bf1d277b8845cdbe7df7b779f.jpg">    </p:cNvPr>
          <p:cNvPicPr>
            <a:picLocks noChangeAspect="1"/>
          </p:cNvPicPr>
          <p:nvPr/>
        </p:nvPicPr>
        <p:blipFill>
          <a:blip r:embed="rId1">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50–62분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기계가 만든 이미지는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처음이 아니다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사진이 발명되었을 때도 사람들은 “손을 쓰지 않은 그림”을 어떻게 볼지 논쟁했다.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벤야민·버거·미첼·거닝</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의 논의를 따라가면, 지금 우리가 하는 논쟁이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100년 된 것</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임을 알게 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3 — 기계 이미지</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086807"/>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발터 벤야민 「기술복제시대의 예술작품」(1936)</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④</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손에서 눈으로</a:t>
            </a:r>
            <a:endParaRPr lang="en-US" sz="3450" dirty="0"/>
          </a:p>
        </p:txBody>
      </p:sp>
      <p:sp>
        <p:nvSpPr>
          <p:cNvPr id="8" name="Text 3"/>
          <p:cNvSpPr txBox="1"/>
          <p:nvPr/>
        </p:nvSpPr>
        <p:spPr>
          <a:xfrm>
            <a:off x="1143000" y="2381098"/>
            <a:ext cx="9811512" cy="12097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“For the first time in the process of pictorial reproduction, photography freed the hand of the most important artistic functions which henceforth devolved only upon the eye looking into a lens.”</a:t>
            </a:r>
            <a:endParaRPr lang="en-US" sz="1950" dirty="0"/>
          </a:p>
        </p:txBody>
      </p:sp>
      <p:sp>
        <p:nvSpPr>
          <p:cNvPr id="9" name="Text 4"/>
          <p:cNvSpPr txBox="1"/>
          <p:nvPr/>
        </p:nvSpPr>
        <p:spPr>
          <a:xfrm>
            <a:off x="1143000" y="3717950"/>
            <a:ext cx="9811512"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회화적 복제 과정에서 사진은 처음으로 가장 중요한 예술적 기능을 </a:t>
            </a:r>
            <a:pPr algn="l" indent="0" marL="0">
              <a:lnSpc>
                <a:spcPts val="3225"/>
              </a:lnSpc>
              <a:buNone/>
            </a:pPr>
            <a:r>
              <a:rPr lang="en-US" sz="1875" b="1" dirty="0">
                <a:solidFill>
                  <a:srgbClr val="17150F"/>
                </a:solidFill>
                <a:latin typeface="Noto Serif KR" pitchFamily="34" charset="0"/>
                <a:ea typeface="Noto Serif KR" pitchFamily="34" charset="-122"/>
                <a:cs typeface="Noto Serif KR" pitchFamily="34" charset="-120"/>
              </a:rPr>
              <a:t>손에서 해방</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시켰고, 그 기능은 이제 </a:t>
            </a:r>
            <a:pPr algn="l" indent="0" marL="0">
              <a:lnSpc>
                <a:spcPts val="3225"/>
              </a:lnSpc>
              <a:buNone/>
            </a:pPr>
            <a:r>
              <a:rPr lang="en-US" sz="1875" b="1" dirty="0">
                <a:solidFill>
                  <a:srgbClr val="9C2A1F"/>
                </a:solidFill>
                <a:latin typeface="Noto Serif KR" pitchFamily="34" charset="0"/>
                <a:ea typeface="Noto Serif KR" pitchFamily="34" charset="-122"/>
                <a:cs typeface="Noto Serif KR" pitchFamily="34" charset="-120"/>
              </a:rPr>
              <a:t>렌즈를 들여다보는 눈</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에만 맡겨졌다.</a:t>
            </a:r>
            <a:endParaRPr lang="en-US" sz="1875" dirty="0"/>
          </a:p>
        </p:txBody>
      </p:sp>
      <p:sp>
        <p:nvSpPr>
          <p:cNvPr id="10" name="Text 5"/>
          <p:cNvSpPr txBox="1"/>
          <p:nvPr/>
        </p:nvSpPr>
        <p:spPr>
          <a:xfrm>
            <a:off x="1143000" y="4632350"/>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Walter Benjamin, 「기술복제시대의 예술작품」 §III · MIT 공개본</a:t>
            </a:r>
            <a:endParaRPr lang="en-US" sz="1650" dirty="0"/>
          </a:p>
        </p:txBody>
      </p:sp>
      <p:sp>
        <p:nvSpPr>
          <p:cNvPr id="11" name="Text 6"/>
          <p:cNvSpPr txBox="1"/>
          <p:nvPr/>
        </p:nvSpPr>
        <p:spPr>
          <a:xfrm>
            <a:off x="1143000" y="5391302"/>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벤야민은 이 변화를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아우라의 붕괴</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로 설명했다. 아우라는 그가 “공간과 시간의 기이한 직조, 아무리 가까이 있어도 남는 거리의 유일한 현현”이라 부른 것이다. 복제는 그 거리를 없앤다.</a:t>
            </a:r>
            <a:endParaRPr lang="en-US" sz="1950" dirty="0"/>
          </a:p>
        </p:txBody>
      </p:sp>
      <p:sp>
        <p:nvSpPr>
          <p:cNvPr id="12" name="Shape 7"/>
          <p:cNvSpPr/>
          <p:nvPr/>
        </p:nvSpPr>
        <p:spPr>
          <a:xfrm>
            <a:off x="1143000" y="6838798"/>
            <a:ext cx="9810598" cy="3161995"/>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09574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그러나 붕괴만 일어나지 않는다 — 전시 가치의 상승</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7552944"/>
            <a:ext cx="8815165" cy="9144"/>
          </a:xfrm>
          <a:prstGeom prst="rect">
            <a:avLst/>
          </a:prstGeom>
        </p:spPr>
      </p:pic>
      <p:sp>
        <p:nvSpPr>
          <p:cNvPr id="15" name="Text 9"/>
          <p:cNvSpPr txBox="1"/>
          <p:nvPr/>
        </p:nvSpPr>
        <p:spPr>
          <a:xfrm>
            <a:off x="1457554" y="773399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아우라가 사라진 자리에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전시 가치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올라온다. 원본이 있던 자리에서 떼어낼 수 있게 되면, 이미지는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어디에나 걸릴 수 있다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우리 교실 전시가 성립하는 조건도 이것이다.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8734349"/>
            <a:ext cx="8815165" cy="9144"/>
          </a:xfrm>
          <a:prstGeom prst="rect">
            <a:avLst/>
          </a:prstGeom>
        </p:spPr>
      </p:pic>
      <p:sp>
        <p:nvSpPr>
          <p:cNvPr id="17" name="Text 10"/>
          <p:cNvSpPr txBox="1"/>
          <p:nvPr/>
        </p:nvSpPr>
        <p:spPr>
          <a:xfrm>
            <a:off x="1457554" y="8915400"/>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원본이 없는 이미지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만든다. 아우라를 잃을 원본조차 없으므로, 남는 것은 전시 가치뿐이다.</a:t>
            </a:r>
            <a:endParaRPr lang="en-US" sz="1875" dirty="0"/>
          </a:p>
        </p:txBody>
      </p:sp>
      <p:sp>
        <p:nvSpPr>
          <p:cNvPr id="18" name="Shape 11"/>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2" name="Text 15"/>
          <p:cNvSpPr txBox="1"/>
          <p:nvPr/>
        </p:nvSpPr>
        <p:spPr>
          <a:xfrm>
            <a:off x="13478256" y="1686154"/>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발터 벤야민</a:t>
            </a:r>
            <a:endParaRPr lang="en-US" sz="1875" dirty="0"/>
          </a:p>
        </p:txBody>
      </p:sp>
      <p:sp>
        <p:nvSpPr>
          <p:cNvPr id="23" name="Text 16"/>
          <p:cNvSpPr txBox="1"/>
          <p:nvPr/>
        </p:nvSpPr>
        <p:spPr>
          <a:xfrm>
            <a:off x="13478256" y="2042770"/>
            <a:ext cx="222382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Walter Benjamin</a:t>
            </a:r>
            <a:endParaRPr lang="en-US" sz="1875" dirty="0"/>
          </a:p>
        </p:txBody>
      </p:sp>
      <p:sp>
        <p:nvSpPr>
          <p:cNvPr id="24" name="Text 17"/>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원제</a:t>
            </a:r>
            <a:endParaRPr lang="en-US" sz="1650" dirty="0"/>
          </a:p>
        </p:txBody>
      </p:sp>
      <p:sp>
        <p:nvSpPr>
          <p:cNvPr id="25" name="Text 18"/>
          <p:cNvSpPr txBox="1"/>
          <p:nvPr/>
        </p:nvSpPr>
        <p:spPr>
          <a:xfrm>
            <a:off x="13478256" y="2486254"/>
            <a:ext cx="3314700"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『Das Kunstwerk im Zeitalter seiner technischen Reproduzierbarkeit』</a:t>
            </a:r>
            <a:endParaRPr lang="en-US" sz="1875" dirty="0"/>
          </a:p>
        </p:txBody>
      </p:sp>
      <p:sp>
        <p:nvSpPr>
          <p:cNvPr id="26" name="Text 1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7" name="Text 20"/>
          <p:cNvSpPr txBox="1"/>
          <p:nvPr/>
        </p:nvSpPr>
        <p:spPr>
          <a:xfrm>
            <a:off x="13478256" y="3642970"/>
            <a:ext cx="331012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1936년 초판 · 1939년 개정</a:t>
            </a:r>
            <a:endParaRPr lang="en-US" sz="1875" dirty="0"/>
          </a:p>
        </p:txBody>
      </p:sp>
      <p:sp>
        <p:nvSpPr>
          <p:cNvPr id="28" name="Text 21"/>
          <p:cNvSpPr txBox="1"/>
          <p:nvPr/>
        </p:nvSpPr>
        <p:spPr>
          <a:xfrm>
            <a:off x="11878056" y="41340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 개념</a:t>
            </a:r>
            <a:endParaRPr lang="en-US" sz="1650" dirty="0"/>
          </a:p>
        </p:txBody>
      </p:sp>
      <p:sp>
        <p:nvSpPr>
          <p:cNvPr id="29" name="Text 22"/>
          <p:cNvSpPr txBox="1"/>
          <p:nvPr/>
        </p:nvSpPr>
        <p:spPr>
          <a:xfrm>
            <a:off x="13478256" y="4086454"/>
            <a:ext cx="24862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아우라Aura · 전시 가치Ausstellungswert</a:t>
            </a:r>
            <a:endParaRPr lang="en-US" sz="1875" dirty="0"/>
          </a:p>
        </p:txBody>
      </p:sp>
      <p:sp>
        <p:nvSpPr>
          <p:cNvPr id="30" name="Text 23"/>
          <p:cNvSpPr txBox="1"/>
          <p:nvPr/>
        </p:nvSpPr>
        <p:spPr>
          <a:xfrm>
            <a:off x="11620195" y="4895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100년 전과 지금의 대응</a:t>
            </a:r>
            <a:endParaRPr lang="en-US" sz="1650" dirty="0"/>
          </a:p>
        </p:txBody>
      </p:sp>
      <p:sp>
        <p:nvSpPr>
          <p:cNvPr id="33" name="Text 25"/>
          <p:cNvSpPr txBox="1"/>
          <p:nvPr/>
        </p:nvSpPr>
        <p:spPr>
          <a:xfrm>
            <a:off x="11620195" y="5057547"/>
            <a:ext cx="61850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답의 방향 — 1차시에서 확인한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선택·명명·전시</a:t>
            </a:r>
            <a:pPr algn="l" indent="0" marL="0">
              <a:buNone/>
            </a:pPr>
            <a:r>
              <a:rPr lang="en-US" sz="1725" dirty="0">
                <a:solidFill>
                  <a:srgbClr val="3A362C"/>
                </a:solidFill>
                <a:latin typeface="Noto Serif KR" pitchFamily="34" charset="0"/>
                <a:ea typeface="Noto Serif KR" pitchFamily="34" charset="-122"/>
                <a:cs typeface="Noto Serif KR" pitchFamily="34" charset="-120"/>
              </a:rPr>
              <a:t>가 남는다.</a:t>
            </a:r>
            <a:endParaRPr lang="en-US" sz="17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257800"/>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5128870"/>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존 버거 『다른 방식으로 보기』(1972)</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⑤</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복제는 권위를 옮긴다</a:t>
            </a:r>
            <a:endParaRPr lang="en-US" sz="3450" dirty="0"/>
          </a:p>
        </p:txBody>
      </p:sp>
      <p:sp>
        <p:nvSpPr>
          <p:cNvPr id="8" name="Text 3"/>
          <p:cNvSpPr txBox="1"/>
          <p:nvPr/>
        </p:nvSpPr>
        <p:spPr>
          <a:xfrm>
            <a:off x="1143000" y="2381098"/>
            <a:ext cx="9811512" cy="12097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“What the modern means of reproduction have done is to destroy the authority of art and to remove it — or, rather, to remove its images which they reproduce — from any preserved or protected domain.”</a:t>
            </a:r>
            <a:endParaRPr lang="en-US" sz="1950" dirty="0"/>
          </a:p>
        </p:txBody>
      </p:sp>
      <p:sp>
        <p:nvSpPr>
          <p:cNvPr id="9" name="Text 4"/>
          <p:cNvSpPr txBox="1"/>
          <p:nvPr/>
        </p:nvSpPr>
        <p:spPr>
          <a:xfrm>
            <a:off x="1143000" y="3717950"/>
            <a:ext cx="9811512"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현대적 복제 수단이 한 일은 </a:t>
            </a:r>
            <a:pPr algn="l" indent="0" marL="0">
              <a:lnSpc>
                <a:spcPts val="3225"/>
              </a:lnSpc>
              <a:buNone/>
            </a:pPr>
            <a:r>
              <a:rPr lang="en-US" sz="1875" b="1" dirty="0">
                <a:solidFill>
                  <a:srgbClr val="17150F"/>
                </a:solidFill>
                <a:latin typeface="Noto Serif KR" pitchFamily="34" charset="0"/>
                <a:ea typeface="Noto Serif KR" pitchFamily="34" charset="-122"/>
                <a:cs typeface="Noto Serif KR" pitchFamily="34" charset="-120"/>
              </a:rPr>
              <a:t>예술의 권위를 파괴</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하고, 그것 — 정확히는 복제된 이미지를 — </a:t>
            </a:r>
            <a:pPr algn="l" indent="0" marL="0">
              <a:lnSpc>
                <a:spcPts val="3225"/>
              </a:lnSpc>
              <a:buNone/>
            </a:pPr>
            <a:r>
              <a:rPr lang="en-US" sz="1875" b="1" dirty="0">
                <a:solidFill>
                  <a:srgbClr val="9C2A1F"/>
                </a:solidFill>
                <a:latin typeface="Noto Serif KR" pitchFamily="34" charset="0"/>
                <a:ea typeface="Noto Serif KR" pitchFamily="34" charset="-122"/>
                <a:cs typeface="Noto Serif KR" pitchFamily="34" charset="-120"/>
              </a:rPr>
              <a:t>보존되고 보호받는 영역에서 제거</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해 버린 것이다.</a:t>
            </a:r>
            <a:endParaRPr lang="en-US" sz="1875" dirty="0"/>
          </a:p>
        </p:txBody>
      </p:sp>
      <p:sp>
        <p:nvSpPr>
          <p:cNvPr id="10" name="Text 5"/>
          <p:cNvSpPr txBox="1"/>
          <p:nvPr/>
        </p:nvSpPr>
        <p:spPr>
          <a:xfrm>
            <a:off x="1143000" y="4632350"/>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John Berger, 『Ways of Seeing』 1부(1972) · 공식 사이트 게재본</a:t>
            </a:r>
            <a:endParaRPr lang="en-US" sz="1650" dirty="0"/>
          </a:p>
        </p:txBody>
      </p:sp>
      <p:sp>
        <p:nvSpPr>
          <p:cNvPr id="11" name="Text 6"/>
          <p:cNvSpPr txBox="1"/>
          <p:nvPr/>
        </p:nvSpPr>
        <p:spPr>
          <a:xfrm>
            <a:off x="1143000" y="5562295"/>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버거의 초점은 벤야민과 다르다. 그는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권위가 사라진다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고 보지 않았다. 권위가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이동한다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고 보았다. 원본이 있던 미술관에서, 이미지를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배치하고 설명하는 사람</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에게로 옮겨 간다.</a:t>
            </a:r>
            <a:endParaRPr lang="en-US" sz="1950" dirty="0"/>
          </a:p>
        </p:txBody>
      </p:sp>
      <p:sp>
        <p:nvSpPr>
          <p:cNvPr id="12" name="Shape 7"/>
          <p:cNvSpPr/>
          <p:nvPr/>
        </p:nvSpPr>
        <p:spPr>
          <a:xfrm>
            <a:off x="1143000" y="7048195"/>
            <a:ext cx="9810598" cy="3161995"/>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3060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단원에서 가장 중요한 문장</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7763256"/>
            <a:ext cx="8815165" cy="9144"/>
          </a:xfrm>
          <a:prstGeom prst="rect">
            <a:avLst/>
          </a:prstGeom>
        </p:spPr>
      </p:pic>
      <p:sp>
        <p:nvSpPr>
          <p:cNvPr id="15" name="Text 9"/>
          <p:cNvSpPr txBox="1"/>
          <p:nvPr/>
        </p:nvSpPr>
        <p:spPr>
          <a:xfrm>
            <a:off x="1457554" y="79443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이미지가 맥락에서 떨어져 나오면,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새 맥락을 붙이는 사람이 의미를 정한다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버거는 이것을 위험으로 보았고 — 우리는 이 위험을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작업의 재료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쓴다.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8943746"/>
            <a:ext cx="8815165" cy="9144"/>
          </a:xfrm>
          <a:prstGeom prst="rect">
            <a:avLst/>
          </a:prstGeom>
        </p:spPr>
      </p:pic>
      <p:sp>
        <p:nvSpPr>
          <p:cNvPr id="17" name="Text 10"/>
          <p:cNvSpPr txBox="1"/>
          <p:nvPr/>
        </p:nvSpPr>
        <p:spPr>
          <a:xfrm>
            <a:off x="1457554" y="9124798"/>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우리가 만들 이미지에 작품 캡션을 붙이는 행위가 바로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새 맥락 붙이기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그러므로 우리는 버거가 경고한 위치에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자발적으로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서는 것이다.</a:t>
            </a:r>
            <a:endParaRPr lang="en-US" sz="1875" dirty="0"/>
          </a:p>
        </p:txBody>
      </p:sp>
      <p:sp>
        <p:nvSpPr>
          <p:cNvPr id="18" name="Shape 11"/>
          <p:cNvSpPr/>
          <p:nvPr/>
        </p:nvSpPr>
        <p:spPr>
          <a:xfrm>
            <a:off x="11620195" y="1466698"/>
            <a:ext cx="5524805" cy="3847795"/>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662526"/>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2" name="Text 15"/>
          <p:cNvSpPr txBox="1"/>
          <p:nvPr/>
        </p:nvSpPr>
        <p:spPr>
          <a:xfrm>
            <a:off x="13478256" y="1686154"/>
            <a:ext cx="263347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존 버거 John Berger</a:t>
            </a:r>
            <a:endParaRPr lang="en-US" sz="1875" dirty="0"/>
          </a:p>
        </p:txBody>
      </p:sp>
      <p:sp>
        <p:nvSpPr>
          <p:cNvPr id="23" name="Text 1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형식</a:t>
            </a:r>
            <a:endParaRPr lang="en-US" sz="1650" dirty="0"/>
          </a:p>
        </p:txBody>
      </p:sp>
      <p:sp>
        <p:nvSpPr>
          <p:cNvPr id="24" name="Text 17"/>
          <p:cNvSpPr txBox="1"/>
          <p:nvPr/>
        </p:nvSpPr>
        <p:spPr>
          <a:xfrm>
            <a:off x="13478256" y="2128723"/>
            <a:ext cx="302300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BBC Two 4부작(각 30분)</a:t>
            </a:r>
            <a:endParaRPr lang="en-US" sz="1875" dirty="0"/>
          </a:p>
        </p:txBody>
      </p:sp>
      <p:sp>
        <p:nvSpPr>
          <p:cNvPr id="25" name="Text 18"/>
          <p:cNvSpPr txBox="1"/>
          <p:nvPr/>
        </p:nvSpPr>
        <p:spPr>
          <a:xfrm>
            <a:off x="13478256" y="2486254"/>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동년 펭귄북스 단행본</a:t>
            </a:r>
            <a:endParaRPr lang="en-US" sz="1875" dirty="0"/>
          </a:p>
        </p:txBody>
      </p:sp>
      <p:sp>
        <p:nvSpPr>
          <p:cNvPr id="26" name="Text 19"/>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연도</a:t>
            </a:r>
            <a:endParaRPr lang="en-US" sz="1650" dirty="0"/>
          </a:p>
        </p:txBody>
      </p:sp>
      <p:sp>
        <p:nvSpPr>
          <p:cNvPr id="27" name="Text 20"/>
          <p:cNvSpPr txBox="1"/>
          <p:nvPr/>
        </p:nvSpPr>
        <p:spPr>
          <a:xfrm>
            <a:off x="13478256" y="2928823"/>
            <a:ext cx="8302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1972년</a:t>
            </a:r>
            <a:endParaRPr lang="en-US" sz="1875" dirty="0"/>
          </a:p>
        </p:txBody>
      </p:sp>
      <p:sp>
        <p:nvSpPr>
          <p:cNvPr id="28" name="Text 21"/>
          <p:cNvSpPr txBox="1"/>
          <p:nvPr/>
        </p:nvSpPr>
        <p:spPr>
          <a:xfrm>
            <a:off x="11878056" y="3419856"/>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프로듀서</a:t>
            </a:r>
            <a:endParaRPr lang="en-US" sz="1650" dirty="0"/>
          </a:p>
        </p:txBody>
      </p:sp>
      <p:sp>
        <p:nvSpPr>
          <p:cNvPr id="29" name="Text 22"/>
          <p:cNvSpPr txBox="1"/>
          <p:nvPr/>
        </p:nvSpPr>
        <p:spPr>
          <a:xfrm>
            <a:off x="13478256" y="3372307"/>
            <a:ext cx="257860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마이크 딥 Mike Dibb</a:t>
            </a:r>
            <a:endParaRPr lang="en-US" sz="1875" dirty="0"/>
          </a:p>
        </p:txBody>
      </p:sp>
      <p:sp>
        <p:nvSpPr>
          <p:cNvPr id="30" name="Text 23"/>
          <p:cNvSpPr txBox="1"/>
          <p:nvPr/>
        </p:nvSpPr>
        <p:spPr>
          <a:xfrm>
            <a:off x="11878056" y="3862426"/>
            <a:ext cx="104515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1부 주제</a:t>
            </a:r>
            <a:endParaRPr lang="en-US" sz="1650" dirty="0"/>
          </a:p>
        </p:txBody>
      </p:sp>
      <p:sp>
        <p:nvSpPr>
          <p:cNvPr id="31" name="Text 24"/>
          <p:cNvSpPr txBox="1"/>
          <p:nvPr/>
        </p:nvSpPr>
        <p:spPr>
          <a:xfrm>
            <a:off x="13478256" y="3814877"/>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복제가 이미지의 권위와 맥락을 어떻게 바꾸는가</a:t>
            </a:r>
            <a:endParaRPr lang="en-US" sz="1875" dirty="0"/>
          </a:p>
        </p:txBody>
      </p:sp>
      <p:sp>
        <p:nvSpPr>
          <p:cNvPr id="32" name="Text 25"/>
          <p:cNvSpPr txBox="1"/>
          <p:nvPr/>
        </p:nvSpPr>
        <p:spPr>
          <a:xfrm>
            <a:off x="11620195" y="4785970"/>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전시에서 맥락을 붙이는 세 지점</a:t>
            </a:r>
            <a:endParaRPr lang="en-US" sz="1650" dirty="0"/>
          </a:p>
        </p:txBody>
      </p:sp>
      <p:sp>
        <p:nvSpPr>
          <p:cNvPr id="33" name="Text 26"/>
          <p:cNvSpPr txBox="1"/>
          <p:nvPr/>
        </p:nvSpPr>
        <p:spPr>
          <a:xfrm>
            <a:off x="11620195" y="5395875"/>
            <a:ext cx="5524805" cy="15389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작품 캡션</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이름과 연대를 정한다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진열 순서</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무엇을 먼저 보게 할지 정한다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전시 입구의 글</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전체를 어떻게 읽을지 정한다</a:t>
            </a:r>
            <a:endParaRPr lang="en-US" sz="1200" dirty="0"/>
          </a:p>
        </p:txBody>
      </p:sp>
      <p:sp>
        <p:nvSpPr>
          <p:cNvPr id="34" name="Shape 27"/>
          <p:cNvSpPr/>
          <p:nvPr/>
        </p:nvSpPr>
        <p:spPr>
          <a:xfrm>
            <a:off x="11620195" y="7872070"/>
            <a:ext cx="5524805" cy="1209751"/>
          </a:xfrm>
          <a:prstGeom prst="rect">
            <a:avLst/>
          </a:prstGeom>
          <a:solidFill>
            <a:srgbClr val="FFFFFF">
              <a:alpha val="36000"/>
            </a:srgbClr>
          </a:solidFill>
          <a:ln w="12700">
            <a:solidFill>
              <a:srgbClr val="BEB6A5"/>
            </a:solidFill>
            <a:prstDash val="solid"/>
          </a:ln>
        </p:spPr>
      </p:sp>
      <p:sp>
        <p:nvSpPr>
          <p:cNvPr id="35" name="Text 28"/>
          <p:cNvSpPr txBox="1"/>
          <p:nvPr/>
        </p:nvSpPr>
        <p:spPr>
          <a:xfrm>
            <a:off x="11896344" y="8091526"/>
            <a:ext cx="4972507"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셋 모두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6차시와 7차시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의 작업이다. 오늘 만들 이미지는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아직 의미가 없는 상태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남겨 두는 것이 맞다.</a:t>
            </a:r>
            <a:endParaRPr lang="en-US" sz="17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134002"/>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윌리엄 미첼 『재구성된 눈』(1992)</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⑥</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지표가 끊어졌다는 진단</a:t>
            </a:r>
            <a:endParaRPr lang="en-US" sz="3450" dirty="0"/>
          </a:p>
        </p:txBody>
      </p:sp>
      <p:sp>
        <p:nvSpPr>
          <p:cNvPr id="8" name="Text 3"/>
          <p:cNvSpPr txBox="1"/>
          <p:nvPr/>
        </p:nvSpPr>
        <p:spPr>
          <a:xfrm>
            <a:off x="1143000" y="23810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미첼은 디지털 이미지가 사진의 핵심을 잃어버렸다고 진단했다. 그가 지목한 핵심은 세 가지다 —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물리적 참조</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진술의 권위</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지표성</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픽셀은 값이며, 값은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흔적 없이 고쳐 쓸 수 있다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a:t>
            </a:r>
            <a:endParaRPr lang="en-US" sz="2025" dirty="0"/>
          </a:p>
        </p:txBody>
      </p:sp>
      <p:sp>
        <p:nvSpPr>
          <p:cNvPr id="9" name="Text 4"/>
          <p:cNvSpPr txBox="1"/>
          <p:nvPr/>
        </p:nvSpPr>
        <p:spPr>
          <a:xfrm>
            <a:off x="1143000" y="4438498"/>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필름과 디지털의 결정적 차이</a:t>
            </a:r>
            <a:endParaRPr lang="en-US" sz="16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143000" y="4839005"/>
          <a:ext cx="9811512" cy="3305556"/>
        </p:xfrm>
        <a:graphic>
          <a:graphicData uri="http://schemas.openxmlformats.org/drawingml/2006/table">
            <a:tbl>
              <a:tblPr/>
              <a:tblGrid>
                <a:gridCol w="1904695"/>
                <a:gridCol w="3715207"/>
                <a:gridCol w="419069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필름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디지털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기록 방식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화학적 변화가 </a:t>
                      </a:r>
                      <a:pPr indent="0" marL="0">
                        <a:buNone/>
                      </a:pPr>
                      <a:r>
                        <a:rPr lang="en-US" sz="1875" b="1" dirty="0">
                          <a:solidFill>
                            <a:srgbClr val="17150F"/>
                          </a:solidFill>
                          <a:latin typeface="Noto Serif KR" pitchFamily="34" charset="0"/>
                          <a:ea typeface="Noto Serif KR" pitchFamily="34" charset="-122"/>
                          <a:cs typeface="Noto Serif KR" pitchFamily="34" charset="-120"/>
                        </a:rPr>
                        <a:t>물질에 새겨진다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수치가 파일에 </a:t>
                      </a:r>
                      <a:pPr indent="0" marL="0">
                        <a:buNone/>
                      </a:pPr>
                      <a:r>
                        <a:rPr lang="en-US" sz="1875" b="1" dirty="0">
                          <a:solidFill>
                            <a:srgbClr val="17150F"/>
                          </a:solidFill>
                          <a:latin typeface="Noto Serif KR" pitchFamily="34" charset="0"/>
                          <a:ea typeface="Noto Serif KR" pitchFamily="34" charset="-122"/>
                          <a:cs typeface="Noto Serif KR" pitchFamily="34" charset="-120"/>
                        </a:rPr>
                        <a:t>저장된다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수정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고치면 </a:t>
                      </a:r>
                      <a:pPr indent="0" marL="0">
                        <a:buNone/>
                      </a:pPr>
                      <a:r>
                        <a:rPr lang="en-US" sz="1875" b="1" dirty="0">
                          <a:solidFill>
                            <a:srgbClr val="17150F"/>
                          </a:solidFill>
                          <a:latin typeface="Noto Serif KR" pitchFamily="34" charset="0"/>
                          <a:ea typeface="Noto Serif KR" pitchFamily="34" charset="-122"/>
                          <a:cs typeface="Noto Serif KR" pitchFamily="34" charset="-120"/>
                        </a:rPr>
                        <a:t>자국이 남는다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고쳐도 </a:t>
                      </a:r>
                      <a:pPr indent="0" marL="0">
                        <a:buNone/>
                      </a:pPr>
                      <a:r>
                        <a:rPr lang="en-US" sz="1875" b="1" dirty="0">
                          <a:solidFill>
                            <a:srgbClr val="9C2A1F"/>
                          </a:solidFill>
                          <a:latin typeface="Noto Serif KR" pitchFamily="34" charset="0"/>
                          <a:ea typeface="Noto Serif KR" pitchFamily="34" charset="-122"/>
                          <a:cs typeface="Noto Serif KR" pitchFamily="34" charset="-120"/>
                        </a:rPr>
                        <a:t>자국이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원본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네거티브가 </a:t>
                      </a:r>
                      <a:pPr indent="0" marL="0">
                        <a:buNone/>
                      </a:pPr>
                      <a:r>
                        <a:rPr lang="en-US" sz="1875" b="1" dirty="0">
                          <a:solidFill>
                            <a:srgbClr val="17150F"/>
                          </a:solidFill>
                          <a:latin typeface="Noto Serif KR" pitchFamily="34" charset="0"/>
                          <a:ea typeface="Noto Serif KR" pitchFamily="34" charset="-122"/>
                          <a:cs typeface="Noto Serif KR" pitchFamily="34" charset="-120"/>
                        </a:rPr>
                        <a:t>원본</a:t>
                      </a:r>
                      <a:pPr indent="0" marL="0">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모든 사본이 </a:t>
                      </a:r>
                      <a:pPr indent="0" marL="0">
                        <a:buNone/>
                      </a:pPr>
                      <a:r>
                        <a:rPr lang="en-US" sz="1875" b="1" dirty="0">
                          <a:solidFill>
                            <a:srgbClr val="9C2A1F"/>
                          </a:solidFill>
                          <a:latin typeface="Noto Serif KR" pitchFamily="34" charset="0"/>
                          <a:ea typeface="Noto Serif KR" pitchFamily="34" charset="-122"/>
                          <a:cs typeface="Noto Serif KR" pitchFamily="34" charset="-120"/>
                        </a:rPr>
                        <a:t>동등</a:t>
                      </a:r>
                      <a:pPr indent="0" marL="0">
                        <a:buNone/>
                      </a:pPr>
                      <a:r>
                        <a:rPr lang="en-US" sz="1875" dirty="0">
                          <a:solidFill>
                            <a:srgbClr val="3A362C"/>
                          </a:solidFill>
                          <a:latin typeface="Noto Serif KR" pitchFamily="34" charset="0"/>
                          <a:ea typeface="Noto Serif KR" pitchFamily="34" charset="-122"/>
                          <a:cs typeface="Noto Serif KR" pitchFamily="34" charset="-120"/>
                        </a:rPr>
                        <a:t>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검증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원판을 대조할 수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대조할 원판이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8020202"/>
            <a:ext cx="9810598" cy="190469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825794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미첼의 결론 — ‘포스트-포토그래픽 시대’</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8695944"/>
            <a:ext cx="8815165" cy="9144"/>
          </a:xfrm>
          <a:prstGeom prst="rect">
            <a:avLst/>
          </a:prstGeom>
        </p:spPr>
      </p:pic>
      <p:sp>
        <p:nvSpPr>
          <p:cNvPr id="14" name="Text 7"/>
          <p:cNvSpPr txBox="1"/>
          <p:nvPr/>
        </p:nvSpPr>
        <p:spPr>
          <a:xfrm>
            <a:off x="1457554" y="88587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사진이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증거로 기능하던 시대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끝났다는 진단이다. 우리 작업은 이 진단이 옳다는 전제 위에 서 있다 — 증거가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증거의 형식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다루기 때문이다.</a:t>
            </a:r>
            <a:endParaRPr lang="en-US" sz="1875" dirty="0"/>
          </a:p>
        </p:txBody>
      </p:sp>
      <p:sp>
        <p:nvSpPr>
          <p:cNvPr id="15" name="Shape 8"/>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6" name="Shape 9"/>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9" name="Text 12"/>
          <p:cNvSpPr txBox="1"/>
          <p:nvPr/>
        </p:nvSpPr>
        <p:spPr>
          <a:xfrm>
            <a:off x="13478256" y="1686154"/>
            <a:ext cx="183337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윌리엄 J. 미첼</a:t>
            </a:r>
            <a:endParaRPr lang="en-US" sz="1875" dirty="0"/>
          </a:p>
        </p:txBody>
      </p:sp>
      <p:sp>
        <p:nvSpPr>
          <p:cNvPr id="20" name="Text 13"/>
          <p:cNvSpPr txBox="1"/>
          <p:nvPr/>
        </p:nvSpPr>
        <p:spPr>
          <a:xfrm>
            <a:off x="13478256" y="2042770"/>
            <a:ext cx="26755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William J. Mitchell</a:t>
            </a:r>
            <a:endParaRPr lang="en-US" sz="1875" dirty="0"/>
          </a:p>
        </p:txBody>
      </p:sp>
      <p:sp>
        <p:nvSpPr>
          <p:cNvPr id="21" name="Text 14"/>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22" name="Text 15"/>
          <p:cNvSpPr txBox="1"/>
          <p:nvPr/>
        </p:nvSpPr>
        <p:spPr>
          <a:xfrm>
            <a:off x="13478256" y="2486254"/>
            <a:ext cx="3258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『The Reconfigured Eye:</a:t>
            </a:r>
            <a:endParaRPr lang="en-US" sz="1875" dirty="0"/>
          </a:p>
        </p:txBody>
      </p:sp>
      <p:sp>
        <p:nvSpPr>
          <p:cNvPr id="23" name="Text 16"/>
          <p:cNvSpPr txBox="1"/>
          <p:nvPr/>
        </p:nvSpPr>
        <p:spPr>
          <a:xfrm>
            <a:off x="13478256" y="2842870"/>
            <a:ext cx="26755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Visual Truth in the</a:t>
            </a:r>
            <a:endParaRPr lang="en-US" sz="1875" dirty="0"/>
          </a:p>
        </p:txBody>
      </p:sp>
      <p:sp>
        <p:nvSpPr>
          <p:cNvPr id="24" name="Text 17"/>
          <p:cNvSpPr txBox="1"/>
          <p:nvPr/>
        </p:nvSpPr>
        <p:spPr>
          <a:xfrm>
            <a:off x="13478256" y="3200400"/>
            <a:ext cx="3258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Post-Photographic Era』</a:t>
            </a:r>
            <a:endParaRPr lang="en-US" sz="1875" dirty="0"/>
          </a:p>
        </p:txBody>
      </p:sp>
      <p:sp>
        <p:nvSpPr>
          <p:cNvPr id="25" name="Text 18"/>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출간</a:t>
            </a:r>
            <a:endParaRPr lang="en-US" sz="1650" dirty="0"/>
          </a:p>
        </p:txBody>
      </p:sp>
      <p:sp>
        <p:nvSpPr>
          <p:cNvPr id="26" name="Text 19"/>
          <p:cNvSpPr txBox="1"/>
          <p:nvPr/>
        </p:nvSpPr>
        <p:spPr>
          <a:xfrm>
            <a:off x="13478256" y="3642970"/>
            <a:ext cx="324246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MIT Press, 1992 · 273쪽</a:t>
            </a:r>
            <a:endParaRPr lang="en-US" sz="1875" dirty="0"/>
          </a:p>
        </p:txBody>
      </p:sp>
      <p:sp>
        <p:nvSpPr>
          <p:cNvPr id="27" name="Text 20"/>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위치</a:t>
            </a:r>
            <a:endParaRPr lang="en-US" sz="1650" dirty="0"/>
          </a:p>
        </p:txBody>
      </p:sp>
      <p:sp>
        <p:nvSpPr>
          <p:cNvPr id="28" name="Text 21"/>
          <p:cNvSpPr txBox="1"/>
          <p:nvPr/>
        </p:nvSpPr>
        <p:spPr>
          <a:xfrm>
            <a:off x="13478256" y="4086454"/>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디지털 이미지에 대한 가장 체계적인 초기 비평</a:t>
            </a:r>
            <a:endParaRPr lang="en-US" sz="1875" dirty="0"/>
          </a:p>
        </p:txBody>
      </p:sp>
      <p:sp>
        <p:nvSpPr>
          <p:cNvPr id="29" name="Text 22"/>
          <p:cNvSpPr txBox="1"/>
          <p:nvPr/>
        </p:nvSpPr>
        <p:spPr>
          <a:xfrm>
            <a:off x="11620195" y="4839005"/>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진단에 대한 반론이 있다</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086807"/>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톰 거닝의 반론(2004)</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이론 ⑦</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진실은 지표가 아니라</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담론이 만든다</a:t>
            </a:r>
            <a:endParaRPr lang="en-US" sz="3450" dirty="0"/>
          </a:p>
        </p:txBody>
      </p:sp>
      <p:sp>
        <p:nvSpPr>
          <p:cNvPr id="8" name="Text 3"/>
          <p:cNvSpPr txBox="1"/>
          <p:nvPr/>
        </p:nvSpPr>
        <p:spPr>
          <a:xfrm>
            <a:off x="1143000" y="2991002"/>
            <a:ext cx="9811512"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“In order to tell the truth, the photograph must be subjected to a series of discourses.”</a:t>
            </a:r>
            <a:endParaRPr lang="en-US" sz="1950" dirty="0"/>
          </a:p>
        </p:txBody>
      </p:sp>
      <p:sp>
        <p:nvSpPr>
          <p:cNvPr id="9" name="Text 4"/>
          <p:cNvSpPr txBox="1"/>
          <p:nvPr/>
        </p:nvSpPr>
        <p:spPr>
          <a:xfrm>
            <a:off x="1143000" y="3926434"/>
            <a:ext cx="9811512" cy="409651"/>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사진이 진실을 말하려면, 그것은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일련의 담론에 놓여야</a:t>
            </a:r>
            <a:pPr algn="l" indent="0" marL="0">
              <a:buNone/>
            </a:pPr>
            <a:r>
              <a:rPr lang="en-US" sz="1875" dirty="0">
                <a:solidFill>
                  <a:srgbClr val="3A362C"/>
                </a:solidFill>
                <a:latin typeface="Noto Serif KR" pitchFamily="34" charset="0"/>
                <a:ea typeface="Noto Serif KR" pitchFamily="34" charset="-122"/>
                <a:cs typeface="Noto Serif KR" pitchFamily="34" charset="-120"/>
              </a:rPr>
              <a:t> 한다.</a:t>
            </a:r>
            <a:endParaRPr lang="en-US" sz="1875" dirty="0"/>
          </a:p>
        </p:txBody>
      </p:sp>
      <p:sp>
        <p:nvSpPr>
          <p:cNvPr id="10" name="Text 5"/>
          <p:cNvSpPr txBox="1"/>
          <p:nvPr/>
        </p:nvSpPr>
        <p:spPr>
          <a:xfrm>
            <a:off x="1143000" y="443118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Tom Gunning, 「What's the Point of an Index? or, Faking Photographs」(2004) · Duke University Press 수록본</a:t>
            </a:r>
            <a:endParaRPr lang="en-US" sz="1650" dirty="0"/>
          </a:p>
        </p:txBody>
      </p:sp>
      <p:sp>
        <p:nvSpPr>
          <p:cNvPr id="11" name="Text 6"/>
          <p:cNvSpPr txBox="1"/>
          <p:nvPr/>
        </p:nvSpPr>
        <p:spPr>
          <a:xfrm>
            <a:off x="1143000" y="5391302"/>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거닝은 “지표가 죽었으니 사진의 진실도 죽었다”는 논리를 거부한다. 사진이 증거로 받아들여진 것은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물리적 연결 때문만이 아니었다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촬영자의 신뢰, 게재 매체, 검증 절차 같은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사회적 장치</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가 함께 작동했기 때문이다.</a:t>
            </a:r>
            <a:endParaRPr lang="en-US" sz="1950" dirty="0"/>
          </a:p>
        </p:txBody>
      </p:sp>
      <p:sp>
        <p:nvSpPr>
          <p:cNvPr id="12" name="Shape 7"/>
          <p:cNvSpPr/>
          <p:nvPr/>
        </p:nvSpPr>
        <p:spPr>
          <a:xfrm>
            <a:off x="1143000" y="6991502"/>
            <a:ext cx="9810598" cy="2752344"/>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248449"/>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그러므로 결론이 뒤집힌다</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7705649"/>
            <a:ext cx="8815165" cy="9144"/>
          </a:xfrm>
          <a:prstGeom prst="rect">
            <a:avLst/>
          </a:prstGeom>
        </p:spPr>
      </p:pic>
      <p:sp>
        <p:nvSpPr>
          <p:cNvPr id="15" name="Text 9"/>
          <p:cNvSpPr txBox="1"/>
          <p:nvPr/>
        </p:nvSpPr>
        <p:spPr>
          <a:xfrm>
            <a:off x="1457554" y="7886700"/>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디지털이 되어도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사회적 장치가 유지되면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사진은 여전히 증거로 기능한다. 반대로 필름 사진도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장치가 없으면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증거가 되지 못한다 — 가드너의 사진이 그 예다.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8887054"/>
            <a:ext cx="8815165" cy="9144"/>
          </a:xfrm>
          <a:prstGeom prst="rect">
            <a:avLst/>
          </a:prstGeom>
        </p:spPr>
      </p:pic>
      <p:sp>
        <p:nvSpPr>
          <p:cNvPr id="17" name="Text 10"/>
          <p:cNvSpPr txBox="1"/>
          <p:nvPr/>
        </p:nvSpPr>
        <p:spPr>
          <a:xfrm>
            <a:off x="1457554" y="9068105"/>
            <a:ext cx="9182405"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즉 진실 주장은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매체의 속성</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사람들의 합의</a:t>
            </a:r>
            <a:pPr algn="l" indent="0" marL="0">
              <a:buNone/>
            </a:pPr>
            <a:r>
              <a:rPr lang="en-US" sz="1875" dirty="0">
                <a:solidFill>
                  <a:srgbClr val="3A362C"/>
                </a:solidFill>
                <a:latin typeface="Noto Serif KR" pitchFamily="34" charset="0"/>
                <a:ea typeface="Noto Serif KR" pitchFamily="34" charset="-122"/>
                <a:cs typeface="Noto Serif KR" pitchFamily="34" charset="-120"/>
              </a:rPr>
              <a:t>에 달려 있다.</a:t>
            </a:r>
            <a:endParaRPr lang="en-US" sz="1875" dirty="0"/>
          </a:p>
        </p:txBody>
      </p:sp>
      <p:sp>
        <p:nvSpPr>
          <p:cNvPr id="18" name="Shape 11"/>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22" name="Text 15"/>
          <p:cNvSpPr txBox="1"/>
          <p:nvPr/>
        </p:nvSpPr>
        <p:spPr>
          <a:xfrm>
            <a:off x="13478256" y="1686154"/>
            <a:ext cx="264261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톰 거닝 Tom Gunning</a:t>
            </a:r>
            <a:endParaRPr lang="en-US" sz="1875" dirty="0"/>
          </a:p>
        </p:txBody>
      </p:sp>
      <p:sp>
        <p:nvSpPr>
          <p:cNvPr id="23" name="Text 1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24" name="Text 17"/>
          <p:cNvSpPr txBox="1"/>
          <p:nvPr/>
        </p:nvSpPr>
        <p:spPr>
          <a:xfrm>
            <a:off x="13478256" y="2128723"/>
            <a:ext cx="28767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「What's the Point of an Index? or, Faking Photographs」</a:t>
            </a:r>
            <a:endParaRPr lang="en-US" sz="1875" dirty="0"/>
          </a:p>
        </p:txBody>
      </p:sp>
      <p:sp>
        <p:nvSpPr>
          <p:cNvPr id="25" name="Text 18"/>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6" name="Text 19"/>
          <p:cNvSpPr txBox="1"/>
          <p:nvPr/>
        </p:nvSpPr>
        <p:spPr>
          <a:xfrm>
            <a:off x="13478256" y="3286354"/>
            <a:ext cx="32104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2004년 강연 · 이후 Duke University Press 단행본 수록</a:t>
            </a:r>
            <a:endParaRPr lang="en-US" sz="1875" dirty="0"/>
          </a:p>
        </p:txBody>
      </p:sp>
      <p:sp>
        <p:nvSpPr>
          <p:cNvPr id="27" name="Text 20"/>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28" name="Text 21"/>
          <p:cNvSpPr txBox="1"/>
          <p:nvPr/>
        </p:nvSpPr>
        <p:spPr>
          <a:xfrm>
            <a:off x="13478256" y="4086454"/>
            <a:ext cx="3191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미첼식 ‘지표의 죽음’ 논의에 대한 반박</a:t>
            </a:r>
            <a:endParaRPr lang="en-US" sz="1875" dirty="0"/>
          </a:p>
        </p:txBody>
      </p:sp>
      <p:sp>
        <p:nvSpPr>
          <p:cNvPr id="29" name="Text 22"/>
          <p:cNvSpPr txBox="1"/>
          <p:nvPr/>
        </p:nvSpPr>
        <p:spPr>
          <a:xfrm>
            <a:off x="11620195" y="47439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두 입장을 나란히 두기</a:t>
            </a:r>
            <a:endParaRPr lang="en-US" sz="1650" dirty="0"/>
          </a:p>
        </p:txBody>
      </p:sp>
      <p:sp>
        <p:nvSpPr>
          <p:cNvPr id="32" name="Text 24"/>
          <p:cNvSpPr txBox="1"/>
          <p:nvPr/>
        </p:nvSpPr>
        <p:spPr>
          <a:xfrm>
            <a:off x="11896344" y="5057546"/>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우리 전시가 서는 자리</a:t>
            </a:r>
            <a:endParaRPr lang="en-US" sz="1575" dirty="0"/>
          </a:p>
        </p:txBody>
      </p:sp>
      <p:pic>
        <p:nvPicPr>
          <p:cNvPr id="33" name="Image 5" descr="gen-dedup-27ae280773eedb088e0c817c49142db0.png">    </p:cNvPr>
          <p:cNvPicPr>
            <a:picLocks noChangeAspect="1"/>
          </p:cNvPicPr>
          <p:nvPr/>
        </p:nvPicPr>
        <p:blipFill>
          <a:blip r:embed="rId6"/>
          <a:stretch/>
        </p:blipFill>
        <p:spPr>
          <a:xfrm>
            <a:off x="11996054" y="5477256"/>
            <a:ext cx="4773087" cy="9144"/>
          </a:xfrm>
          <a:prstGeom prst="rect">
            <a:avLst/>
          </a:prstGeom>
        </p:spPr>
      </p:pic>
      <p:sp>
        <p:nvSpPr>
          <p:cNvPr id="34" name="Text 25"/>
          <p:cNvSpPr txBox="1"/>
          <p:nvPr/>
        </p:nvSpPr>
        <p:spPr>
          <a:xfrm>
            <a:off x="11896344" y="5639104"/>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거닝의 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선다. 그래서 작품 캡션이라는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사회적 장치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직접 만들고, 그 장치의 작동을 관람자에게 보여 준다.</a:t>
            </a:r>
            <a:endParaRPr lang="en-US" sz="1800" dirty="0"/>
          </a:p>
        </p:txBody>
      </p:sp>
      <p:sp>
        <p:nvSpPr>
          <p:cNvPr id="35" name="Text 26"/>
          <p:cNvSpPr txBox="1"/>
          <p:nvPr/>
        </p:nvSpPr>
        <p:spPr>
          <a:xfrm>
            <a:off x="11887200" y="7010704"/>
            <a:ext cx="5257800" cy="391363"/>
          </a:xfrm>
          <a:prstGeom prst="rect">
            <a:avLst/>
          </a:prstGeom>
          <a:noFill/>
          <a:ln/>
        </p:spPr>
        <p:txBody>
          <a:bodyPr wrap="none" lIns="0" tIns="0" rIns="0" bIns="0" rtlCol="0" anchor="ctr"/>
          <a:lstStyle/>
          <a:p>
            <a:pPr algn="l" indent="0" marL="0">
              <a:buNone/>
            </a:pPr>
            <a:r>
              <a:rPr lang="en-US" sz="1950" b="1" dirty="0">
                <a:solidFill>
                  <a:srgbClr val="17150F"/>
                </a:solidFill>
                <a:latin typeface="Noto Serif KR" pitchFamily="34" charset="0"/>
                <a:ea typeface="Noto Serif KR" pitchFamily="34" charset="-122"/>
                <a:cs typeface="Noto Serif KR" pitchFamily="34" charset="-120"/>
              </a:rPr>
              <a:t>여러분은 어느 쪽입니까.</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70529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3 정리 · 100년의 논쟁을 세 문장으로</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도구가 바뀔 때마다 같은 질문이 돌아왔다</a:t>
            </a:r>
            <a:endParaRPr lang="en-US" sz="34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143000" y="2438705"/>
          <a:ext cx="16002000" cy="4810658"/>
        </p:xfrm>
        <a:graphic>
          <a:graphicData uri="http://schemas.openxmlformats.org/drawingml/2006/table">
            <a:tbl>
              <a:tblPr/>
              <a:tblGrid>
                <a:gridCol w="2190902"/>
                <a:gridCol w="5333695"/>
                <a:gridCol w="8477402"/>
              </a:tblGrid>
              <a:tr h="96213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연도 · 이론가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진단</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단원과의 연결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1936</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벤야민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복제는 </a:t>
                      </a:r>
                      <a:pPr indent="0" marL="0">
                        <a:buNone/>
                      </a:pPr>
                      <a:r>
                        <a:rPr lang="en-US" sz="1875" b="1" dirty="0">
                          <a:solidFill>
                            <a:srgbClr val="17150F"/>
                          </a:solidFill>
                          <a:latin typeface="Noto Serif KR" pitchFamily="34" charset="0"/>
                          <a:ea typeface="Noto Serif KR" pitchFamily="34" charset="-122"/>
                          <a:cs typeface="Noto Serif KR" pitchFamily="34" charset="-120"/>
                        </a:rPr>
                        <a:t>아우라</a:t>
                      </a:r>
                      <a:pPr indent="0" marL="0">
                        <a:buNone/>
                      </a:pPr>
                      <a:r>
                        <a:rPr lang="en-US" sz="1875" dirty="0">
                          <a:solidFill>
                            <a:srgbClr val="3A362C"/>
                          </a:solidFill>
                          <a:latin typeface="Noto Serif KR" pitchFamily="34" charset="0"/>
                          <a:ea typeface="Noto Serif KR" pitchFamily="34" charset="-122"/>
                          <a:cs typeface="Noto Serif KR" pitchFamily="34" charset="-120"/>
                        </a:rPr>
                        <a:t>를 무너뜨리지만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전시 가치</a:t>
                      </a:r>
                      <a:pPr indent="0" marL="0">
                        <a:buNone/>
                      </a:pPr>
                      <a:r>
                        <a:rPr lang="en-US" sz="1875" dirty="0">
                          <a:solidFill>
                            <a:srgbClr val="3A362C"/>
                          </a:solidFill>
                          <a:latin typeface="Noto Serif KR" pitchFamily="34" charset="0"/>
                          <a:ea typeface="Noto Serif KR" pitchFamily="34" charset="-122"/>
                          <a:cs typeface="Noto Serif KR" pitchFamily="34" charset="-120"/>
                        </a:rPr>
                        <a:t>를 올린다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원본 없는 이미지도 전시될 수 있다 — 우리 작업의 성립 조건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1972</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버거</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복제는 권위를 파괴하는 것이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맥락을 붙이는 사람에게 옮긴다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작품 캡션을 쓰는 우리가 그 권위를 갖는다 — 6차시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1992</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미첼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디지털은 </a:t>
                      </a:r>
                      <a:pPr indent="0" marL="0">
                        <a:buNone/>
                      </a:pPr>
                      <a:r>
                        <a:rPr lang="en-US" sz="1875" b="1" dirty="0">
                          <a:solidFill>
                            <a:srgbClr val="9C2A1F"/>
                          </a:solidFill>
                          <a:latin typeface="Noto Serif KR" pitchFamily="34" charset="0"/>
                          <a:ea typeface="Noto Serif KR" pitchFamily="34" charset="-122"/>
                          <a:cs typeface="Noto Serif KR" pitchFamily="34" charset="-120"/>
                        </a:rPr>
                        <a:t>지표성을 끊는다</a:t>
                      </a:r>
                      <a:pPr indent="0" marL="0">
                        <a:buNone/>
                      </a:pPr>
                      <a:r>
                        <a:rPr lang="en-US" sz="1875" dirty="0">
                          <a:solidFill>
                            <a:srgbClr val="3A362C"/>
                          </a:solidFill>
                          <a:latin typeface="Noto Serif KR" pitchFamily="34" charset="0"/>
                          <a:ea typeface="Noto Serif KR" pitchFamily="34" charset="-122"/>
                          <a:cs typeface="Noto Serif KR" pitchFamily="34" charset="-120"/>
                        </a:rPr>
                        <a:t>. 사진의 증거 기능이 끝난다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우리 이미지에는 물리적 참조가 없다는 사실 확인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2004</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거닝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진실 주장은 매체가 아니라 </a:t>
                      </a:r>
                      <a:pPr indent="0" marL="0">
                        <a:buNone/>
                      </a:pPr>
                      <a:r>
                        <a:rPr lang="en-US" sz="1875" b="1" dirty="0">
                          <a:solidFill>
                            <a:srgbClr val="9C2A1F"/>
                          </a:solidFill>
                          <a:latin typeface="Noto Serif KR" pitchFamily="34" charset="0"/>
                          <a:ea typeface="Noto Serif KR" pitchFamily="34" charset="-122"/>
                          <a:cs typeface="Noto Serif KR" pitchFamily="34" charset="-120"/>
                        </a:rPr>
                        <a:t>사회적 담론</a:t>
                      </a:r>
                      <a:pPr indent="0" marL="0">
                        <a:buNone/>
                      </a:pPr>
                      <a:r>
                        <a:rPr lang="en-US" sz="1875" dirty="0">
                          <a:solidFill>
                            <a:srgbClr val="3A362C"/>
                          </a:solidFill>
                          <a:latin typeface="Noto Serif KR" pitchFamily="34" charset="0"/>
                          <a:ea typeface="Noto Serif KR" pitchFamily="34" charset="-122"/>
                          <a:cs typeface="Noto Serif KR" pitchFamily="34" charset="-120"/>
                        </a:rPr>
                        <a:t>이 조정한다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그래서 표기와 서식이 결정적이다 — 이 단원의 전제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7010705"/>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네 이론가가 각자 다른 결론에 도달했지만 공통점이 하나 있다.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이미지의 신뢰는 이미지 안에 있지 않다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는 것이다. 신뢰는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이미지 밖의 장치</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에서 온다.</a:t>
            </a:r>
            <a:endParaRPr lang="en-US" sz="2175" dirty="0"/>
          </a:p>
        </p:txBody>
      </p:sp>
      <p:sp>
        <p:nvSpPr>
          <p:cNvPr id="9" name="Shape 4"/>
          <p:cNvSpPr/>
          <p:nvPr/>
        </p:nvSpPr>
        <p:spPr>
          <a:xfrm>
            <a:off x="1143000" y="8134502"/>
            <a:ext cx="7810805" cy="1781251"/>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이제 우리가 할 일</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753551"/>
            <a:ext cx="6931342" cy="9144"/>
          </a:xfrm>
          <a:prstGeom prst="rect">
            <a:avLst/>
          </a:prstGeom>
        </p:spPr>
      </p:pic>
      <p:sp>
        <p:nvSpPr>
          <p:cNvPr id="12" name="Text 6"/>
          <p:cNvSpPr txBox="1"/>
          <p:nvPr/>
        </p:nvSpPr>
        <p:spPr>
          <a:xfrm>
            <a:off x="1438351"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이미지 밖의 장치를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우리 손으로 만든다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오늘은 그 장치가 붙을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이미지 자체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생성한다.</a:t>
            </a:r>
            <a:endParaRPr lang="en-US" sz="1800" dirty="0"/>
          </a:p>
        </p:txBody>
      </p:sp>
      <p:sp>
        <p:nvSpPr>
          <p:cNvPr id="13" name="Shape 7"/>
          <p:cNvSpPr/>
          <p:nvPr/>
        </p:nvSpPr>
        <p:spPr>
          <a:xfrm>
            <a:off x="9334195" y="8134502"/>
            <a:ext cx="7810805" cy="1781251"/>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지금부터 AI를 사용한다</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753551"/>
            <a:ext cx="6931342" cy="9144"/>
          </a:xfrm>
          <a:prstGeom prst="rect">
            <a:avLst/>
          </a:prstGeom>
        </p:spPr>
      </p:pic>
      <p:sp>
        <p:nvSpPr>
          <p:cNvPr id="16" name="Text 9"/>
          <p:cNvSpPr txBox="1"/>
          <p:nvPr/>
        </p:nvSpPr>
        <p:spPr>
          <a:xfrm>
            <a:off x="9629546"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도구 사용법이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기술한 것과 산출된 것의 차이를 읽는 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배우는 시간이다.</a:t>
            </a:r>
            <a:endParaRPr lang="en-US" sz="1800" dirty="0"/>
          </a:p>
        </p:txBody>
      </p:sp>
      <p:sp>
        <p:nvSpPr>
          <p:cNvPr id="17" name="Text 10"/>
          <p:cNvSpPr txBox="1"/>
          <p:nvPr/>
        </p:nvSpPr>
        <p:spPr>
          <a:xfrm>
            <a:off x="1143000" y="9753905"/>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Benjamin(1936), Berger(1972), Mitchell(1992), Gunning(2004) — 각 슬라이드 서지 참조</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2c696d9bf1d277b8845cdbe7df7b779f.jpg">    </p:cNvPr>
          <p:cNvPicPr>
            <a:picLocks noChangeAspect="1"/>
          </p:cNvPicPr>
          <p:nvPr/>
        </p:nvPicPr>
        <p:blipFill>
          <a:blip r:embed="rId1">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62–103분 · AI 사용 시작</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카드를</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문장으로 옮긴다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프롬프트는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주문서가 아니라 명세서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 무엇을 원하는지 말하는 것이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어떤 조건을 충족해야 하는지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적는다. 카드의 아홉 칸이 그 조건이다.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4 — 프롬프트 작성과 생성</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2723998"/>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변환 규칙 · 아홉 칸이 어디로 들어가는가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변환</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카드 아홉 칸 → 프롬프트 여섯 자리</a:t>
            </a:r>
            <a:endParaRPr lang="en-US" sz="34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229661"/>
        </p:xfrm>
        <a:graphic>
          <a:graphicData uri="http://schemas.openxmlformats.org/drawingml/2006/table">
            <a:tbl>
              <a:tblPr/>
              <a:tblGrid>
                <a:gridCol w="1904695"/>
                <a:gridCol w="1809598"/>
                <a:gridCol w="6096305"/>
              </a:tblGrid>
              <a:tr h="461380">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프롬프트 자리</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카드 출처</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쓰는 방식</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① 사물 지정</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② 명칭 · ④ 재질</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재질＋형태＋크기감. 용도는 </a:t>
                      </a:r>
                      <a:pPr indent="0" marL="0">
                        <a:buNone/>
                      </a:pPr>
                      <a:r>
                        <a:rPr lang="en-US" sz="1650" b="1" dirty="0">
                          <a:solidFill>
                            <a:srgbClr val="9C2A1F"/>
                          </a:solidFill>
                          <a:latin typeface="Noto Serif KR" pitchFamily="34" charset="0"/>
                          <a:ea typeface="Noto Serif KR" pitchFamily="34" charset="-122"/>
                          <a:cs typeface="Noto Serif KR" pitchFamily="34" charset="-120"/>
                        </a:rPr>
                        <a:t>쓰지 않는다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② 사용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⑦ 사용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부위＋방식</a:t>
                      </a:r>
                      <a:pPr indent="0" marL="0">
                        <a:buNone/>
                      </a:pPr>
                      <a:r>
                        <a:rPr lang="en-US" sz="1650" dirty="0">
                          <a:solidFill>
                            <a:srgbClr val="3A362C"/>
                          </a:solidFill>
                          <a:latin typeface="Noto Serif KR" pitchFamily="34" charset="0"/>
                          <a:ea typeface="Noto Serif KR" pitchFamily="34" charset="-122"/>
                          <a:cs typeface="Noto Serif KR" pitchFamily="34" charset="-120"/>
                        </a:rPr>
                        <a:t>을 한 문장으로. 위치를 반드시 지정</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③ 매몰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⑧ 매몰 흔적</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“300년간 흙 속에 있었던 상태” 등 </a:t>
                      </a:r>
                      <a:pPr indent="0" marL="0">
                        <a:buNone/>
                      </a:pPr>
                      <a:r>
                        <a:rPr lang="en-US" sz="1650" b="1" dirty="0">
                          <a:solidFill>
                            <a:srgbClr val="17150F"/>
                          </a:solidFill>
                          <a:latin typeface="Noto Serif KR" pitchFamily="34" charset="0"/>
                          <a:ea typeface="Noto Serif KR" pitchFamily="34" charset="-122"/>
                          <a:cs typeface="Noto Serif KR" pitchFamily="34" charset="-120"/>
                        </a:rPr>
                        <a:t>시간의 결과</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④ 촬영 조건</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—(새로 정함)</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정면 · 균일 조명 · 무채색 배경 · 그림자 최소</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⑤ 화면 구성</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⑤ 치수</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사물 하나만. 스케일 바나 손은 </a:t>
                      </a:r>
                      <a:pPr indent="0" marL="0">
                        <a:buNone/>
                      </a:pPr>
                      <a:r>
                        <a:rPr lang="en-US" sz="1650" b="1" dirty="0">
                          <a:solidFill>
                            <a:srgbClr val="9C2A1F"/>
                          </a:solidFill>
                          <a:latin typeface="Noto Serif KR" pitchFamily="34" charset="0"/>
                          <a:ea typeface="Noto Serif KR" pitchFamily="34" charset="-122"/>
                          <a:cs typeface="Noto Serif KR" pitchFamily="34" charset="-120"/>
                        </a:rPr>
                        <a:t>넣지 않는다</a:t>
                      </a:r>
                      <a:endParaRPr lang="en-US" sz="1200" dirty="0"/>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6138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⑥ 금지 조건</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—(공통 규칙)</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문자·로고·사람·장식·광채 금지</a:t>
                      </a:r>
                      <a:endParaRPr lang="en-US" sz="1650" dirty="0">
                        <a:latin typeface="Noto Serif KR" charset="0"/>
                        <a:ea typeface="Noto Serif KR" charset="0"/>
                        <a:cs typeface="Noto Serif KR" charset="0"/>
                      </a:endParaRPr>
                    </a:p>
                  </a:txBody>
                  <a:tcPr marL="133502" marR="133502" marT="75895" marB="75895"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6877202"/>
            <a:ext cx="9810598"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095744"/>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카드에 있지만 프롬프트에 넣지 않는 것</a:t>
            </a:r>
            <a:endParaRPr lang="en-US" sz="1575" dirty="0"/>
          </a:p>
        </p:txBody>
      </p:sp>
      <p:pic>
        <p:nvPicPr>
          <p:cNvPr id="10" name="Image 2" descr="gen-dedup-7cde0152aae0e987b34280df86a6917f.png">    </p:cNvPr>
          <p:cNvPicPr>
            <a:picLocks noChangeAspect="1"/>
          </p:cNvPicPr>
          <p:nvPr/>
        </p:nvPicPr>
        <p:blipFill>
          <a:blip r:embed="rId3"/>
          <a:stretch/>
        </p:blipFill>
        <p:spPr>
          <a:xfrm>
            <a:off x="1622721" y="7496251"/>
            <a:ext cx="8851156" cy="9144"/>
          </a:xfrm>
          <a:prstGeom prst="rect">
            <a:avLst/>
          </a:prstGeom>
        </p:spPr>
      </p:pic>
      <p:sp>
        <p:nvSpPr>
          <p:cNvPr id="11" name="Text 5"/>
          <p:cNvSpPr txBox="1"/>
          <p:nvPr/>
        </p:nvSpPr>
        <p:spPr>
          <a:xfrm>
            <a:off x="1438351" y="7638898"/>
            <a:ext cx="92208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① 유물번호 · ③ 추정 연대 · ⑥ 수습 경위 · ⑨ 허구 표기는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이미지가 아니라 작품 캡션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의 몫이다. 이미지에 글자를 넣으려 하면 판독 불가능한 기호가 생긴다.</a:t>
            </a:r>
            <a:endParaRPr lang="en-US" sz="1800" dirty="0"/>
          </a:p>
        </p:txBody>
      </p:sp>
      <p:sp>
        <p:nvSpPr>
          <p:cNvPr id="12" name="Text 6"/>
          <p:cNvSpPr txBox="1"/>
          <p:nvPr/>
        </p:nvSpPr>
        <p:spPr>
          <a:xfrm>
            <a:off x="11525098" y="23810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④ 촬영 조건을 지정하는 이유</a:t>
            </a:r>
            <a:endParaRPr lang="en-US" sz="1650" dirty="0"/>
          </a:p>
        </p:txBody>
      </p:sp>
      <p:sp>
        <p:nvSpPr>
          <p:cNvPr id="13" name="Text 7"/>
          <p:cNvSpPr txBox="1"/>
          <p:nvPr/>
        </p:nvSpPr>
        <p:spPr>
          <a:xfrm>
            <a:off x="11525098" y="2991002"/>
            <a:ext cx="5619902" cy="229880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박물관 소장품 사진은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균일 조명·무채색 배경</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관례다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극적인 조명은 사물을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상품처럼</a:t>
            </a:r>
            <a:pPr algn="l" indent="0" marL="0">
              <a:buNone/>
            </a:pPr>
            <a:r>
              <a:rPr lang="en-US" sz="1800" dirty="0">
                <a:solidFill>
                  <a:srgbClr val="3A362C"/>
                </a:solidFill>
                <a:latin typeface="Noto Serif KR" pitchFamily="34" charset="0"/>
                <a:ea typeface="Noto Serif KR" pitchFamily="34" charset="-122"/>
                <a:cs typeface="Noto Serif KR" pitchFamily="34" charset="-120"/>
              </a:rPr>
              <a:t> 보이게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조건이 전개 1에서 확인한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형식적 층</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담당한다</a:t>
            </a:r>
            <a:endParaRPr lang="en-US" sz="1200" dirty="0"/>
          </a:p>
        </p:txBody>
      </p:sp>
      <p:sp>
        <p:nvSpPr>
          <p:cNvPr id="14" name="Shape 8"/>
          <p:cNvSpPr/>
          <p:nvPr/>
        </p:nvSpPr>
        <p:spPr>
          <a:xfrm>
            <a:off x="11525098" y="5544007"/>
            <a:ext cx="5619902" cy="2133295"/>
          </a:xfrm>
          <a:prstGeom prst="rect">
            <a:avLst/>
          </a:prstGeom>
          <a:solidFill>
            <a:srgbClr val="FFFFFF">
              <a:alpha val="36000"/>
            </a:srgbClr>
          </a:solidFill>
          <a:ln w="12700">
            <a:solidFill>
              <a:srgbClr val="BEB6A5"/>
            </a:solidFill>
            <a:prstDash val="solid"/>
          </a:ln>
        </p:spPr>
      </p:sp>
      <p:sp>
        <p:nvSpPr>
          <p:cNvPr id="15" name="Text 9"/>
          <p:cNvSpPr txBox="1"/>
          <p:nvPr/>
        </p:nvSpPr>
        <p:spPr>
          <a:xfrm>
            <a:off x="11801246" y="5762549"/>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⑥ 금지 조건이 필요한 이유</a:t>
            </a:r>
            <a:endParaRPr lang="en-US" sz="1575" dirty="0"/>
          </a:p>
        </p:txBody>
      </p:sp>
      <p:pic>
        <p:nvPicPr>
          <p:cNvPr id="16" name="Image 3" descr="gen-dedup-eb8251e30e6f067c72c1c831d415f691.png">    </p:cNvPr>
          <p:cNvPicPr>
            <a:picLocks noChangeAspect="1"/>
          </p:cNvPicPr>
          <p:nvPr/>
        </p:nvPicPr>
        <p:blipFill>
          <a:blip r:embed="rId4"/>
          <a:stretch/>
        </p:blipFill>
        <p:spPr>
          <a:xfrm>
            <a:off x="11902863" y="6163056"/>
            <a:ext cx="4864372" cy="9144"/>
          </a:xfrm>
          <a:prstGeom prst="rect">
            <a:avLst/>
          </a:prstGeom>
        </p:spPr>
      </p:pic>
      <p:sp>
        <p:nvSpPr>
          <p:cNvPr id="17" name="Text 10"/>
          <p:cNvSpPr txBox="1"/>
          <p:nvPr/>
        </p:nvSpPr>
        <p:spPr>
          <a:xfrm>
            <a:off x="11801246" y="6305702"/>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지정하지 않으면 도구는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빈자리를 장식으로 채운다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빛나는 문양, 알 수 없는 글자, 배경의 유적 — 모두 근거가 없는 요소다.</a:t>
            </a:r>
            <a:endParaRPr lang="en-US" sz="1725" dirty="0"/>
          </a:p>
        </p:txBody>
      </p:sp>
      <p:sp>
        <p:nvSpPr>
          <p:cNvPr id="18" name="Shape 11"/>
          <p:cNvSpPr/>
          <p:nvPr/>
        </p:nvSpPr>
        <p:spPr>
          <a:xfrm>
            <a:off x="11525098" y="7524598"/>
            <a:ext cx="5619902" cy="1591056"/>
          </a:xfrm>
          <a:prstGeom prst="rect">
            <a:avLst/>
          </a:prstGeom>
          <a:solidFill>
            <a:srgbClr val="9C2A1F">
              <a:alpha val="6000"/>
            </a:srgbClr>
          </a:solidFill>
          <a:ln w="12700">
            <a:solidFill>
              <a:srgbClr val="9C2A1F"/>
            </a:solidFill>
            <a:prstDash val="solid"/>
          </a:ln>
        </p:spPr>
      </p:sp>
      <p:sp>
        <p:nvSpPr>
          <p:cNvPr id="19" name="Text 12"/>
          <p:cNvSpPr txBox="1"/>
          <p:nvPr/>
        </p:nvSpPr>
        <p:spPr>
          <a:xfrm>
            <a:off x="11801246" y="7744054"/>
            <a:ext cx="5067605"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가장 흔한 실패</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①에 용도를 써 버리는 것. “충전 케이블”이라 쓰면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현재의 새 제품</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나온다. 재질과 형태만 쓴다.</a:t>
            </a:r>
            <a:endParaRPr lang="en-US" sz="1725" dirty="0"/>
          </a:p>
        </p:txBody>
      </p:sp>
      <p:sp>
        <p:nvSpPr>
          <p:cNvPr id="20" name="Text 13"/>
          <p:cNvSpPr txBox="1"/>
          <p:nvPr/>
        </p:nvSpPr>
        <p:spPr>
          <a:xfrm>
            <a:off x="11525098" y="9144000"/>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다음 슬라이드에서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여섯 자리를 문장으로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조립하는 규칙을 확인한다.</a:t>
            </a:r>
            <a:endParaRPr lang="en-US" sz="17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372807"/>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작성 규칙 · 다섯 가지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규칙</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검증할 수 있게 쓴다</a:t>
            </a:r>
            <a:endParaRPr lang="en-US" sz="34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5106010"/>
        </p:xfrm>
        <a:graphic>
          <a:graphicData uri="http://schemas.openxmlformats.org/drawingml/2006/table">
            <a:tbl>
              <a:tblPr/>
              <a:tblGrid>
                <a:gridCol w="2190902"/>
                <a:gridCol w="4953305"/>
                <a:gridCol w="4095598"/>
                <a:gridCol w="4762195"/>
              </a:tblGrid>
              <a:tr h="85100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규칙</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나쁜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좋은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부위를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흔적마다 </a:t>
                      </a:r>
                      <a:pPr indent="0" marL="0">
                        <a:buNone/>
                      </a:pPr>
                      <a:r>
                        <a:rPr lang="en-US" sz="1875" b="1" dirty="0">
                          <a:solidFill>
                            <a:srgbClr val="17150F"/>
                          </a:solidFill>
                          <a:latin typeface="Noto Serif KR" pitchFamily="34" charset="0"/>
                          <a:ea typeface="Noto Serif KR" pitchFamily="34" charset="-122"/>
                          <a:cs typeface="Noto Serif KR" pitchFamily="34" charset="-120"/>
                        </a:rPr>
                        <a:t>어디에</a:t>
                      </a:r>
                      <a:pPr indent="0" marL="0">
                        <a:buNone/>
                      </a:pPr>
                      <a:r>
                        <a:rPr lang="en-US" sz="1875" dirty="0">
                          <a:solidFill>
                            <a:srgbClr val="3A362C"/>
                          </a:solidFill>
                          <a:latin typeface="Noto Serif KR" pitchFamily="34" charset="0"/>
                          <a:ea typeface="Noto Serif KR" pitchFamily="34" charset="-122"/>
                          <a:cs typeface="Noto Serif KR" pitchFamily="34" charset="-120"/>
                        </a:rPr>
                        <a:t> 있는지 지정한다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“낡고 오래된 느낌”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“오른쪽 테두리 3분의 1이 매끄럽게 닳음”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실재 재료만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지금 존재하는 재료 이름을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“미지의 합금”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“구리 합금, 표면 산화”</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용도를 감춘다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기능 이름을 쓰지 않고 </a:t>
                      </a:r>
                      <a:pPr indent="0" marL="0">
                        <a:buNone/>
                      </a:pPr>
                      <a:r>
                        <a:rPr lang="en-US" sz="1875" b="1" dirty="0">
                          <a:solidFill>
                            <a:srgbClr val="17150F"/>
                          </a:solidFill>
                          <a:latin typeface="Noto Serif KR" pitchFamily="34" charset="0"/>
                          <a:ea typeface="Noto Serif KR" pitchFamily="34" charset="-122"/>
                          <a:cs typeface="Noto Serif KR" pitchFamily="34" charset="-120"/>
                        </a:rPr>
                        <a:t>형태만</a:t>
                      </a:r>
                      <a:pPr indent="0" marL="0">
                        <a:buNone/>
                      </a:pPr>
                      <a:r>
                        <a:rPr lang="en-US" sz="1875" dirty="0">
                          <a:solidFill>
                            <a:srgbClr val="3A362C"/>
                          </a:solidFill>
                          <a:latin typeface="Noto Serif KR" pitchFamily="34" charset="0"/>
                          <a:ea typeface="Noto Serif KR" pitchFamily="34" charset="-122"/>
                          <a:cs typeface="Noto Serif KR" pitchFamily="34" charset="-120"/>
                        </a:rPr>
                        <a:t> 기술한다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“충전 케이블”</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“가는 심선을 감싼 피복 끈, 양끝에 금속 단자”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시간을 넣는다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매몰 상태를 </a:t>
                      </a:r>
                      <a:pPr indent="0" marL="0">
                        <a:buNone/>
                      </a:pPr>
                      <a:r>
                        <a:rPr lang="en-US" sz="1875" b="1" dirty="0">
                          <a:solidFill>
                            <a:srgbClr val="17150F"/>
                          </a:solidFill>
                          <a:latin typeface="Noto Serif KR" pitchFamily="34" charset="0"/>
                          <a:ea typeface="Noto Serif KR" pitchFamily="34" charset="-122"/>
                          <a:cs typeface="Noto Serif KR" pitchFamily="34" charset="-120"/>
                        </a:rPr>
                        <a:t>한 줄</a:t>
                      </a:r>
                      <a:pPr indent="0" marL="0">
                        <a:buNone/>
                      </a:pPr>
                      <a:r>
                        <a:rPr lang="en-US" sz="1875" dirty="0">
                          <a:solidFill>
                            <a:srgbClr val="3A362C"/>
                          </a:solidFill>
                          <a:latin typeface="Noto Serif KR" pitchFamily="34" charset="0"/>
                          <a:ea typeface="Noto Serif KR" pitchFamily="34" charset="-122"/>
                          <a:cs typeface="Noto Serif KR" pitchFamily="34" charset="-120"/>
                        </a:rPr>
                        <a:t> 반드시 포함한다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(생략)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“300년간 흙 속에 있어 표면이 변색·경화된 상태”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510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하나만 강하게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모든 부위를 균등하게 쓰지 않고 </a:t>
                      </a:r>
                      <a:pPr indent="0" marL="0">
                        <a:buNone/>
                      </a:pPr>
                      <a:r>
                        <a:rPr lang="en-US" sz="1875" b="1" dirty="0">
                          <a:solidFill>
                            <a:srgbClr val="9C2A1F"/>
                          </a:solidFill>
                          <a:latin typeface="Noto Serif KR" pitchFamily="34" charset="0"/>
                          <a:ea typeface="Noto Serif KR" pitchFamily="34" charset="-122"/>
                          <a:cs typeface="Noto Serif KR" pitchFamily="34" charset="-120"/>
                        </a:rPr>
                        <a:t>한 곳만</a:t>
                      </a:r>
                      <a:pPr indent="0" marL="0">
                        <a:buNone/>
                      </a:pPr>
                      <a:r>
                        <a:rPr lang="en-US" sz="1875" dirty="0">
                          <a:solidFill>
                            <a:srgbClr val="3A362C"/>
                          </a:solidFill>
                          <a:latin typeface="Noto Serif KR" pitchFamily="34" charset="0"/>
                          <a:ea typeface="Noto Serif KR" pitchFamily="34" charset="-122"/>
                          <a:cs typeface="Noto Serif KR" pitchFamily="34" charset="-120"/>
                        </a:rPr>
                        <a:t> 구체적으로 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전체를 똑같이 정교하게 기술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“왼쪽 아래에 손톱만 한 결손 한 곳”</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677302"/>
            <a:ext cx="7810805"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8958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⑤가 푼크툼을 만든다</a:t>
            </a:r>
            <a:endParaRPr lang="en-US" sz="1575" dirty="0"/>
          </a:p>
        </p:txBody>
      </p:sp>
      <p:pic>
        <p:nvPicPr>
          <p:cNvPr id="10" name="Image 2" descr="gen-dedup-8daa7bbad9e138f694b547871d64bad8.png">    </p:cNvPr>
          <p:cNvPicPr>
            <a:picLocks noChangeAspect="1"/>
          </p:cNvPicPr>
          <p:nvPr/>
        </p:nvPicPr>
        <p:blipFill>
          <a:blip r:embed="rId3"/>
          <a:stretch/>
        </p:blipFill>
        <p:spPr>
          <a:xfrm>
            <a:off x="1582731" y="8296351"/>
            <a:ext cx="6931342" cy="9144"/>
          </a:xfrm>
          <a:prstGeom prst="rect">
            <a:avLst/>
          </a:prstGeom>
        </p:spPr>
      </p:pic>
      <p:sp>
        <p:nvSpPr>
          <p:cNvPr id="11" name="Text 5"/>
          <p:cNvSpPr txBox="1"/>
          <p:nvPr/>
        </p:nvSpPr>
        <p:spPr>
          <a:xfrm>
            <a:off x="1438351" y="8438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전개 1의 바르트를 기억한다. 균일하게 완성된 이미지에는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시선이 머물 곳이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어긋난 한 곳이 관람자를 붙든다.</a:t>
            </a:r>
            <a:endParaRPr lang="en-US" sz="1800" dirty="0"/>
          </a:p>
        </p:txBody>
      </p:sp>
      <p:sp>
        <p:nvSpPr>
          <p:cNvPr id="12" name="Shape 6"/>
          <p:cNvSpPr/>
          <p:nvPr/>
        </p:nvSpPr>
        <p:spPr>
          <a:xfrm>
            <a:off x="9334195" y="7677302"/>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78958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③이 해석의 여지를 남긴다</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296351"/>
            <a:ext cx="6931342" cy="9144"/>
          </a:xfrm>
          <a:prstGeom prst="rect">
            <a:avLst/>
          </a:prstGeom>
        </p:spPr>
      </p:pic>
      <p:sp>
        <p:nvSpPr>
          <p:cNvPr id="15" name="Text 8"/>
          <p:cNvSpPr txBox="1"/>
          <p:nvPr/>
        </p:nvSpPr>
        <p:spPr>
          <a:xfrm>
            <a:off x="9629546" y="8438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용도를 감추면 관람자가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스스로 추정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4차시 활동 2의 명명 원칙과 같은 논리다.</a:t>
            </a:r>
            <a:endParaRPr lang="en-US" sz="1800" dirty="0"/>
          </a:p>
        </p:txBody>
      </p:sp>
      <p:sp>
        <p:nvSpPr>
          <p:cNvPr id="16" name="Text 9"/>
          <p:cNvSpPr txBox="1"/>
          <p:nvPr/>
        </p:nvSpPr>
        <p:spPr>
          <a:xfrm>
            <a:off x="1143000" y="9620402"/>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이 다섯 규칙은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검증표의 항목</a:t>
            </a:r>
            <a:pPr algn="l" indent="0" marL="0">
              <a:buNone/>
            </a:pPr>
            <a:r>
              <a:rPr lang="en-US" sz="1725" dirty="0">
                <a:solidFill>
                  <a:srgbClr val="3A362C"/>
                </a:solidFill>
                <a:latin typeface="Noto Serif KR" pitchFamily="34" charset="0"/>
                <a:ea typeface="Noto Serif KR" pitchFamily="34" charset="-122"/>
                <a:cs typeface="Noto Serif KR" pitchFamily="34" charset="-120"/>
              </a:rPr>
              <a:t>이 된다. 짝이 여러분의 프롬프트를 볼 때 이 다섯 가지만 확인한다.</a:t>
            </a:r>
            <a:endParaRPr lang="en-US" sz="17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2723998"/>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 프롬프트 작성 틀</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서식</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여섯 줄로 쓴다</a:t>
            </a:r>
            <a:endParaRPr lang="en-US" sz="3450" dirty="0"/>
          </a:p>
        </p:txBody>
      </p:sp>
      <p:sp>
        <p:nvSpPr>
          <p:cNvPr id="7" name="Shape 3"/>
          <p:cNvSpPr/>
          <p:nvPr/>
        </p:nvSpPr>
        <p:spPr>
          <a:xfrm>
            <a:off x="1143000" y="2381098"/>
            <a:ext cx="9810598" cy="4095598"/>
          </a:xfrm>
          <a:prstGeom prst="rect">
            <a:avLst/>
          </a:prstGeom>
          <a:solidFill>
            <a:srgbClr val="FFFFFF">
              <a:alpha val="50000"/>
            </a:srgbClr>
          </a:solidFill>
          <a:ln w="12700">
            <a:solidFill>
              <a:srgbClr val="6B6456"/>
            </a:solidFill>
            <a:prstDash val="solid"/>
          </a:ln>
        </p:spPr>
      </p:sp>
      <p:sp>
        <p:nvSpPr>
          <p:cNvPr id="8" name="Text 4"/>
          <p:cNvSpPr txBox="1"/>
          <p:nvPr/>
        </p:nvSpPr>
        <p:spPr>
          <a:xfrm>
            <a:off x="1457554" y="2638044"/>
            <a:ext cx="91824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빈칸 서식 — 학습지 [별지 5] 1면</a:t>
            </a:r>
            <a:endParaRPr lang="en-US" sz="1575" dirty="0"/>
          </a:p>
        </p:txBody>
      </p:sp>
      <p:pic>
        <p:nvPicPr>
          <p:cNvPr id="9" name="Image 2" descr="gen-dedup-7cde0152aae0e987b34280df86a6917f.png">    </p:cNvPr>
          <p:cNvPicPr>
            <a:picLocks noChangeAspect="1"/>
          </p:cNvPicPr>
          <p:nvPr/>
        </p:nvPicPr>
        <p:blipFill>
          <a:blip r:embed="rId3"/>
          <a:stretch/>
        </p:blipFill>
        <p:spPr>
          <a:xfrm>
            <a:off x="1641174" y="3076956"/>
            <a:ext cx="8815165" cy="9144"/>
          </a:xfrm>
          <a:prstGeom prst="rect">
            <a:avLst/>
          </a:prstGeom>
        </p:spPr>
      </p:pic>
      <p:sp>
        <p:nvSpPr>
          <p:cNvPr id="10" name="Text 5"/>
          <p:cNvSpPr txBox="1"/>
          <p:nvPr/>
        </p:nvSpPr>
        <p:spPr>
          <a:xfrm>
            <a:off x="1457554" y="3172968"/>
            <a:ext cx="9182405" cy="3046781"/>
          </a:xfrm>
          <a:prstGeom prst="rect">
            <a:avLst/>
          </a:prstGeom>
          <a:noFill/>
          <a:ln/>
        </p:spPr>
        <p:txBody>
          <a:bodyPr wrap="square" lIns="0" tIns="0" rIns="0" bIns="0" rtlCol="0" anchor="t"/>
          <a:lstStyle/>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①</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재질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로 만든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형태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길이 약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치수 </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②</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부위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가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방식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으로 닳아 있음</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③</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300년간 흙 속에 있어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변화 </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된 상태</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④</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박물관 소장품 촬영 — 정면, 균일한 확산광, 무채색 배경</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⑤</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사물 하나만 화면 중앙에, 주변 여백 확보</a:t>
            </a:r>
            <a:pPr algn="l" indent="0" marL="0">
              <a:lnSpc>
                <a:spcPts val="3780"/>
              </a:lnSpc>
              <a:buNone/>
            </a:pPr>
            <a:endParaRPr lang="en-US" sz="1800" dirty="0"/>
          </a:p>
          <a:p>
            <a:pPr algn="l" indent="0" marL="0">
              <a:lnSpc>
                <a:spcPts val="3780"/>
              </a:lnSpc>
              <a:buNone/>
            </a:pPr>
            <a:r>
              <a:rPr lang="en-US" sz="1800" dirty="0">
                <a:solidFill>
                  <a:srgbClr val="9C2A1F"/>
                </a:solidFill>
                <a:latin typeface="IBM Plex Mono" pitchFamily="34" charset="0"/>
                <a:ea typeface="IBM Plex Mono" pitchFamily="34" charset="-122"/>
                <a:cs typeface="IBM Plex Mono" pitchFamily="34" charset="-120"/>
              </a:rPr>
              <a:t>⑥</a:t>
            </a:r>
            <a:pPr algn="l" indent="0" marL="0">
              <a:lnSpc>
                <a:spcPts val="3780"/>
              </a:lnSpc>
              <a:buNone/>
            </a:pPr>
            <a:r>
              <a:rPr lang="en-US" sz="1800" dirty="0">
                <a:solidFill>
                  <a:srgbClr val="3A362C"/>
                </a:solidFill>
                <a:latin typeface="Noto Serif KR" pitchFamily="34" charset="0"/>
                <a:ea typeface="Noto Serif KR" pitchFamily="34" charset="-122"/>
                <a:cs typeface="Noto Serif KR" pitchFamily="34" charset="-120"/>
              </a:rPr>
              <a:t> 문자·로고·사람·장식 문양·발광 효과 없음</a:t>
            </a:r>
            <a:endParaRPr lang="en-US" sz="1800" dirty="0"/>
          </a:p>
        </p:txBody>
      </p:sp>
      <p:sp>
        <p:nvSpPr>
          <p:cNvPr id="11" name="Shape 6"/>
          <p:cNvSpPr/>
          <p:nvPr/>
        </p:nvSpPr>
        <p:spPr>
          <a:xfrm>
            <a:off x="1143000" y="7334402"/>
            <a:ext cx="9810598" cy="2980944"/>
          </a:xfrm>
          <a:prstGeom prst="rect">
            <a:avLst/>
          </a:prstGeom>
          <a:solidFill>
            <a:srgbClr val="FFFFFF">
              <a:alpha val="36000"/>
            </a:srgbClr>
          </a:solidFill>
          <a:ln w="12700">
            <a:solidFill>
              <a:srgbClr val="BEB6A5"/>
            </a:solidFill>
            <a:prstDash val="solid"/>
          </a:ln>
        </p:spPr>
      </p:sp>
      <p:sp>
        <p:nvSpPr>
          <p:cNvPr id="12" name="Text 7"/>
          <p:cNvSpPr txBox="1"/>
          <p:nvPr/>
        </p:nvSpPr>
        <p:spPr>
          <a:xfrm>
            <a:off x="1457554" y="7572146"/>
            <a:ext cx="91824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작성 예 — 4차시 예시 A로 만든 프롬프트</a:t>
            </a:r>
            <a:endParaRPr lang="en-US" sz="1575" dirty="0"/>
          </a:p>
        </p:txBody>
      </p:sp>
      <p:pic>
        <p:nvPicPr>
          <p:cNvPr id="13" name="Image 3" descr="gen-dedup-7cde0152aae0e987b34280df86a6917f.png">    </p:cNvPr>
          <p:cNvPicPr>
            <a:picLocks noChangeAspect="1"/>
          </p:cNvPicPr>
          <p:nvPr/>
        </p:nvPicPr>
        <p:blipFill>
          <a:blip r:embed="rId4"/>
          <a:stretch/>
        </p:blipFill>
        <p:spPr>
          <a:xfrm>
            <a:off x="1641174" y="7991856"/>
            <a:ext cx="8815165" cy="9144"/>
          </a:xfrm>
          <a:prstGeom prst="rect">
            <a:avLst/>
          </a:prstGeom>
        </p:spPr>
      </p:pic>
      <p:sp>
        <p:nvSpPr>
          <p:cNvPr id="14" name="Text 8"/>
          <p:cNvSpPr txBox="1"/>
          <p:nvPr/>
        </p:nvSpPr>
        <p:spPr>
          <a:xfrm>
            <a:off x="1457554" y="8153705"/>
            <a:ext cx="9182405" cy="1924812"/>
          </a:xfrm>
          <a:prstGeom prst="rect">
            <a:avLst/>
          </a:prstGeom>
          <a:noFill/>
          <a:ln/>
        </p:spPr>
        <p:txBody>
          <a:bodyPr wrap="square" lIns="0" tIns="0" rIns="0" bIns="0" rtlCol="0" anchor="ctr"/>
          <a:lstStyle/>
          <a:p>
            <a:pPr algn="l" indent="0" marL="0">
              <a:lnSpc>
                <a:spcPts val="3019"/>
              </a:lnSpc>
              <a:buNone/>
            </a:pPr>
            <a:r>
              <a:rPr lang="en-US" sz="1725" dirty="0">
                <a:solidFill>
                  <a:srgbClr val="3A362C"/>
                </a:solidFill>
                <a:latin typeface="Noto Serif KR" pitchFamily="34" charset="0"/>
                <a:ea typeface="Noto Serif KR" pitchFamily="34" charset="-122"/>
                <a:cs typeface="Noto Serif KR" pitchFamily="34" charset="-120"/>
              </a:rPr>
              <a:t>고분자 피복으로 감싼 구리 합금 심선, 섬유 편조 외피, 양끝에 작은 금속 단자, 전체 길이 약 1미터 / 양끝 금속면이 한 방향으로 마모되어 광택이 생김, 심선 중간 한 곳에 반복 굴절로 인한 피복 균열 / 300년간 흙 속에 있어 피복이 전반적으로 변색·경화되고 편조 외피의 한쪽 면만 눌려 압착된 상태 / 박물관 소장품 촬영, 정면, 균일한 확산광, 무채색 배경 / 사물 하나만 중앙 배치 / 문자·로고·사람·장식 없음</a:t>
            </a:r>
            <a:endParaRPr lang="en-US" sz="1725" dirty="0"/>
          </a:p>
        </p:txBody>
      </p:sp>
      <p:sp>
        <p:nvSpPr>
          <p:cNvPr id="15" name="Text 9"/>
          <p:cNvSpPr txBox="1"/>
          <p:nvPr/>
        </p:nvSpPr>
        <p:spPr>
          <a:xfrm>
            <a:off x="11525098" y="23810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쓰는 순서 — ②③을 먼저 쓴다</a:t>
            </a:r>
            <a:endParaRPr lang="en-US" sz="1650" dirty="0"/>
          </a:p>
        </p:txBody>
      </p:sp>
      <p:sp>
        <p:nvSpPr>
          <p:cNvPr id="16" name="Text 10"/>
          <p:cNvSpPr txBox="1"/>
          <p:nvPr/>
        </p:nvSpPr>
        <p:spPr>
          <a:xfrm>
            <a:off x="11525098" y="2991002"/>
            <a:ext cx="5619902" cy="229697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②③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흔적 두 줄</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먼저 확정한다 — 카드에서 그대로 옮긴다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①을 쓴다. ②③의 흔적이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가능한 재질</a:t>
            </a:r>
            <a:pPr algn="l" indent="0" marL="0">
              <a:buNone/>
            </a:pPr>
            <a:r>
              <a:rPr lang="en-US" sz="1800" dirty="0">
                <a:solidFill>
                  <a:srgbClr val="3A362C"/>
                </a:solidFill>
                <a:latin typeface="Noto Serif KR" pitchFamily="34" charset="0"/>
                <a:ea typeface="Noto Serif KR" pitchFamily="34" charset="-122"/>
                <a:cs typeface="Noto Serif KR" pitchFamily="34" charset="-120"/>
              </a:rPr>
              <a:t>인지 확인한다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④⑤⑥은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전 학급 공통</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이므로 그대로 붙인다</a:t>
            </a:r>
            <a:endParaRPr lang="en-US" sz="1200" dirty="0"/>
          </a:p>
        </p:txBody>
      </p:sp>
      <p:sp>
        <p:nvSpPr>
          <p:cNvPr id="17" name="Shape 11"/>
          <p:cNvSpPr/>
          <p:nvPr/>
        </p:nvSpPr>
        <p:spPr>
          <a:xfrm>
            <a:off x="11525098" y="5410505"/>
            <a:ext cx="5619902" cy="2133295"/>
          </a:xfrm>
          <a:prstGeom prst="rect">
            <a:avLst/>
          </a:prstGeom>
          <a:solidFill>
            <a:srgbClr val="9C2A1F">
              <a:alpha val="6000"/>
            </a:srgbClr>
          </a:solidFill>
          <a:ln w="12700">
            <a:solidFill>
              <a:srgbClr val="9C2A1F"/>
            </a:solidFill>
            <a:prstDash val="solid"/>
          </a:ln>
        </p:spPr>
      </p:sp>
      <p:sp>
        <p:nvSpPr>
          <p:cNvPr id="18" name="Text 12"/>
          <p:cNvSpPr txBox="1"/>
          <p:nvPr/>
        </p:nvSpPr>
        <p:spPr>
          <a:xfrm>
            <a:off x="11801246" y="562904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④⑤⑥을 공통으로 두는 이유</a:t>
            </a:r>
            <a:endParaRPr lang="en-US" sz="1575" dirty="0"/>
          </a:p>
        </p:txBody>
      </p:sp>
      <p:pic>
        <p:nvPicPr>
          <p:cNvPr id="19" name="Image 4" descr="gen-dedup-eb8251e30e6f067c72c1c831d415f691.png">    </p:cNvPr>
          <p:cNvPicPr>
            <a:picLocks noChangeAspect="1"/>
          </p:cNvPicPr>
          <p:nvPr/>
        </p:nvPicPr>
        <p:blipFill>
          <a:blip r:embed="rId5"/>
          <a:stretch/>
        </p:blipFill>
        <p:spPr>
          <a:xfrm>
            <a:off x="11902863" y="6029554"/>
            <a:ext cx="4864372" cy="9144"/>
          </a:xfrm>
          <a:prstGeom prst="rect">
            <a:avLst/>
          </a:prstGeom>
        </p:spPr>
      </p:pic>
      <p:sp>
        <p:nvSpPr>
          <p:cNvPr id="20" name="Text 13"/>
          <p:cNvSpPr txBox="1"/>
          <p:nvPr/>
        </p:nvSpPr>
        <p:spPr>
          <a:xfrm>
            <a:off x="11801246" y="6172200"/>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전시가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하나의 아카이브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보이려면 촬영 조건이 같아야 한다. 학생마다 조명이 다르면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개별 작품 모음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되어 버린다.</a:t>
            </a:r>
            <a:endParaRPr lang="en-US" sz="1725" dirty="0"/>
          </a:p>
        </p:txBody>
      </p:sp>
      <p:sp>
        <p:nvSpPr>
          <p:cNvPr id="25" name="Text 17"/>
          <p:cNvSpPr txBox="1"/>
          <p:nvPr/>
        </p:nvSpPr>
        <p:spPr>
          <a:xfrm>
            <a:off x="11525098" y="7744054"/>
            <a:ext cx="56199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완성된 프롬프트는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1면</a:t>
            </a:r>
            <a:pPr algn="l" indent="0" marL="0">
              <a:buNone/>
            </a:pPr>
            <a:r>
              <a:rPr lang="en-US" sz="1725" dirty="0">
                <a:solidFill>
                  <a:srgbClr val="3A362C"/>
                </a:solidFill>
                <a:latin typeface="Noto Serif KR" pitchFamily="34" charset="0"/>
                <a:ea typeface="Noto Serif KR" pitchFamily="34" charset="-122"/>
                <a:cs typeface="Noto Serif KR" pitchFamily="34" charset="-120"/>
              </a:rPr>
              <a:t>에 손으로 적어 남긴다.</a:t>
            </a:r>
            <a:endParaRPr lang="en-US" sz="17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70–90분 · 개인 작업</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활동 1</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프롬프트를 쓰고, 세 번만 생성한다</a:t>
            </a:r>
            <a:endParaRPr lang="en-US" sz="3450" dirty="0"/>
          </a:p>
        </p:txBody>
      </p:sp>
      <p:sp>
        <p:nvSpPr>
          <p:cNvPr id="8" name="Text 3"/>
          <p:cNvSpPr txBox="1"/>
          <p:nvPr/>
        </p:nvSpPr>
        <p:spPr>
          <a:xfrm>
            <a:off x="1143000" y="2381098"/>
            <a:ext cx="18023738"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생성 횟수를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1인 3회</a:t>
            </a:r>
            <a:pPr algn="l" indent="0" marL="0">
              <a:buNone/>
            </a:pPr>
            <a:r>
              <a:rPr lang="en-US" sz="2175" dirty="0">
                <a:solidFill>
                  <a:srgbClr val="3A362C"/>
                </a:solidFill>
                <a:latin typeface="Noto Serif KR" pitchFamily="34" charset="0"/>
                <a:ea typeface="Noto Serif KR" pitchFamily="34" charset="-122"/>
                <a:cs typeface="Noto Serif KR" pitchFamily="34" charset="-120"/>
              </a:rPr>
              <a:t>로 제한한다. 마음에 들지 않아도 3회에서 멈추고 검증 단계로 넘어간다. 이 제한이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문장을 고치는 훈련</a:t>
            </a:r>
            <a:pPr algn="l" indent="0" marL="0">
              <a:buNone/>
            </a:pPr>
            <a:r>
              <a:rPr lang="en-US" sz="2175" dirty="0">
                <a:solidFill>
                  <a:srgbClr val="3A362C"/>
                </a:solidFill>
                <a:latin typeface="Noto Serif KR" pitchFamily="34" charset="0"/>
                <a:ea typeface="Noto Serif KR" pitchFamily="34" charset="-122"/>
                <a:cs typeface="Noto Serif KR" pitchFamily="34" charset="-120"/>
              </a:rPr>
              <a:t>을 만든다.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진행 순서</a:t>
            </a:r>
            <a:endParaRPr lang="en-US" sz="1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3067812"/>
        </p:xfrm>
        <a:graphic>
          <a:graphicData uri="http://schemas.openxmlformats.org/drawingml/2006/table">
            <a:tbl>
              <a:tblPr/>
              <a:tblGrid>
                <a:gridCol w="1429207"/>
                <a:gridCol w="6381598"/>
              </a:tblGrid>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70–78분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학습지 1면에 </a:t>
                      </a:r>
                      <a:pPr indent="0" marL="0">
                        <a:buNone/>
                      </a:pPr>
                      <a:r>
                        <a:rPr lang="en-US" sz="1875" b="1" dirty="0">
                          <a:solidFill>
                            <a:srgbClr val="17150F"/>
                          </a:solidFill>
                          <a:latin typeface="Noto Serif KR" pitchFamily="34" charset="0"/>
                          <a:ea typeface="Noto Serif KR" pitchFamily="34" charset="-122"/>
                          <a:cs typeface="Noto Serif KR" pitchFamily="34" charset="-120"/>
                        </a:rPr>
                        <a:t>여섯 줄 프롬프트</a:t>
                      </a:r>
                      <a:pPr indent="0" marL="0">
                        <a:buNone/>
                      </a:pPr>
                      <a:r>
                        <a:rPr lang="en-US" sz="1875" dirty="0">
                          <a:solidFill>
                            <a:srgbClr val="3A362C"/>
                          </a:solidFill>
                          <a:latin typeface="Noto Serif KR" pitchFamily="34" charset="0"/>
                          <a:ea typeface="Noto Serif KR" pitchFamily="34" charset="-122"/>
                          <a:cs typeface="Noto Serif KR" pitchFamily="34" charset="-120"/>
                        </a:rPr>
                        <a:t>를 손으로 작성</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78–82분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짝과 교환해 </a:t>
                      </a:r>
                      <a:pPr indent="0" marL="0">
                        <a:buNone/>
                      </a:pPr>
                      <a:r>
                        <a:rPr lang="en-US" sz="1875" b="1" dirty="0">
                          <a:solidFill>
                            <a:srgbClr val="17150F"/>
                          </a:solidFill>
                          <a:latin typeface="Noto Serif KR" pitchFamily="34" charset="0"/>
                          <a:ea typeface="Noto Serif KR" pitchFamily="34" charset="-122"/>
                          <a:cs typeface="Noto Serif KR" pitchFamily="34" charset="-120"/>
                        </a:rPr>
                        <a:t>다섯 규칙</a:t>
                      </a:r>
                      <a:pPr indent="0" marL="0">
                        <a:buNone/>
                      </a:pPr>
                      <a:r>
                        <a:rPr lang="en-US" sz="1875" dirty="0">
                          <a:solidFill>
                            <a:srgbClr val="3A362C"/>
                          </a:solidFill>
                          <a:latin typeface="Noto Serif KR" pitchFamily="34" charset="0"/>
                          <a:ea typeface="Noto Serif KR" pitchFamily="34" charset="-122"/>
                          <a:cs typeface="Noto Serif KR" pitchFamily="34" charset="-120"/>
                        </a:rPr>
                        <a:t>으로 점검 · 빨간 펜으로 표시</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82–88분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수정 후 </a:t>
                      </a:r>
                      <a:pPr indent="0" marL="0">
                        <a:buNone/>
                      </a:pPr>
                      <a:r>
                        <a:rPr lang="en-US" sz="1875" b="1" dirty="0">
                          <a:solidFill>
                            <a:srgbClr val="9C2A1F"/>
                          </a:solidFill>
                          <a:latin typeface="Noto Serif KR" pitchFamily="34" charset="0"/>
                          <a:ea typeface="Noto Serif KR" pitchFamily="34" charset="-122"/>
                          <a:cs typeface="Noto Serif KR" pitchFamily="34" charset="-120"/>
                        </a:rPr>
                        <a:t>1차 생성</a:t>
                      </a:r>
                      <a:pPr indent="0" marL="0">
                        <a:buNone/>
                      </a:pPr>
                      <a:r>
                        <a:rPr lang="en-US" sz="1875" dirty="0">
                          <a:solidFill>
                            <a:srgbClr val="3A362C"/>
                          </a:solidFill>
                          <a:latin typeface="Noto Serif KR" pitchFamily="34" charset="0"/>
                          <a:ea typeface="Noto Serif KR" pitchFamily="34" charset="-122"/>
                          <a:cs typeface="Noto Serif KR" pitchFamily="34" charset="-120"/>
                        </a:rPr>
                        <a:t> — 결과를 보고 문장을 고쳐 최대 3회</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69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88–90분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가장 카드에 가까운 결과 </a:t>
                      </a:r>
                      <a:pPr indent="0" marL="0">
                        <a:buNone/>
                      </a:pPr>
                      <a:r>
                        <a:rPr lang="en-US" sz="1875" b="1" dirty="0">
                          <a:solidFill>
                            <a:srgbClr val="17150F"/>
                          </a:solidFill>
                          <a:latin typeface="Noto Serif KR" pitchFamily="34" charset="0"/>
                          <a:ea typeface="Noto Serif KR" pitchFamily="34" charset="-122"/>
                          <a:cs typeface="Noto Serif KR" pitchFamily="34" charset="-120"/>
                        </a:rPr>
                        <a:t>한 장</a:t>
                      </a:r>
                      <a:pPr indent="0" marL="0">
                        <a:buNone/>
                      </a:pPr>
                      <a:r>
                        <a:rPr lang="en-US" sz="1875" dirty="0">
                          <a:solidFill>
                            <a:srgbClr val="3A362C"/>
                          </a:solidFill>
                          <a:latin typeface="Noto Serif KR" pitchFamily="34" charset="0"/>
                          <a:ea typeface="Noto Serif KR" pitchFamily="34" charset="-122"/>
                          <a:cs typeface="Noto Serif KR" pitchFamily="34" charset="-120"/>
                        </a:rPr>
                        <a:t>을 고르고 파일명 규칙대로 저장</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91502"/>
            <a:ext cx="7810805" cy="1781251"/>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210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고르는 기준 — ‘마음에 드는 것’이 아니다</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7610551"/>
            <a:ext cx="6931342" cy="9144"/>
          </a:xfrm>
          <a:prstGeom prst="rect">
            <a:avLst/>
          </a:prstGeom>
        </p:spPr>
      </p:pic>
      <p:sp>
        <p:nvSpPr>
          <p:cNvPr id="14" name="Text 7"/>
          <p:cNvSpPr txBox="1"/>
          <p:nvPr/>
        </p:nvSpPr>
        <p:spPr>
          <a:xfrm>
            <a:off x="1438351" y="7753198"/>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카드와 가장 잘 맞는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고른다. 더 멋있어 보이는 결과가 카드와 어긋나면 탈락이다. 이 판단이 오늘의 평가 항목이다.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짝 점검표 — 다섯 규칙만 본다</a:t>
            </a:r>
            <a:endParaRPr lang="en-US" sz="165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9334195" y="4457700"/>
          <a:ext cx="7810805" cy="3363163"/>
        </p:xfrm>
        <a:graphic>
          <a:graphicData uri="http://schemas.openxmlformats.org/drawingml/2006/table">
            <a:tbl>
              <a:tblPr/>
              <a:tblGrid>
                <a:gridCol w="1047902"/>
                <a:gridCol w="6762902"/>
              </a:tblGrid>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흔적마다 </a:t>
                      </a:r>
                      <a:pPr indent="0" marL="0">
                        <a:buNone/>
                      </a:pPr>
                      <a:r>
                        <a:rPr lang="en-US" sz="1875" b="1" dirty="0">
                          <a:solidFill>
                            <a:srgbClr val="17150F"/>
                          </a:solidFill>
                          <a:latin typeface="Noto Serif KR" pitchFamily="34" charset="0"/>
                          <a:ea typeface="Noto Serif KR" pitchFamily="34" charset="-122"/>
                          <a:cs typeface="Noto Serif KR" pitchFamily="34" charset="-120"/>
                        </a:rPr>
                        <a:t>부위</a:t>
                      </a:r>
                      <a:pPr indent="0" marL="0">
                        <a:buNone/>
                      </a:pPr>
                      <a:r>
                        <a:rPr lang="en-US" sz="1875" dirty="0">
                          <a:solidFill>
                            <a:srgbClr val="3A362C"/>
                          </a:solidFill>
                          <a:latin typeface="Noto Serif KR" pitchFamily="34" charset="0"/>
                          <a:ea typeface="Noto Serif KR" pitchFamily="34" charset="-122"/>
                          <a:cs typeface="Noto Serif KR" pitchFamily="34" charset="-120"/>
                        </a:rPr>
                        <a:t>가 적혀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재료가 </a:t>
                      </a:r>
                      <a:pPr indent="0" marL="0">
                        <a:buNone/>
                      </a:pPr>
                      <a:r>
                        <a:rPr lang="en-US" sz="1875" b="1" dirty="0">
                          <a:solidFill>
                            <a:srgbClr val="17150F"/>
                          </a:solidFill>
                          <a:latin typeface="Noto Serif KR" pitchFamily="34" charset="0"/>
                          <a:ea typeface="Noto Serif KR" pitchFamily="34" charset="-122"/>
                          <a:cs typeface="Noto Serif KR" pitchFamily="34" charset="-120"/>
                        </a:rPr>
                        <a:t>실재하는 것</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용도를 나타내는 </a:t>
                      </a:r>
                      <a:pPr indent="0" marL="0">
                        <a:buNone/>
                      </a:pPr>
                      <a:r>
                        <a:rPr lang="en-US" sz="1875" b="1" dirty="0">
                          <a:solidFill>
                            <a:srgbClr val="9C2A1F"/>
                          </a:solidFill>
                          <a:latin typeface="Noto Serif KR" pitchFamily="34" charset="0"/>
                          <a:ea typeface="Noto Serif KR" pitchFamily="34" charset="-122"/>
                          <a:cs typeface="Noto Serif KR" pitchFamily="34" charset="-120"/>
                        </a:rPr>
                        <a:t>기능 이름</a:t>
                      </a:r>
                      <a:pPr indent="0" marL="0">
                        <a:buNone/>
                      </a:pPr>
                      <a:r>
                        <a:rPr lang="en-US" sz="1875" dirty="0">
                          <a:solidFill>
                            <a:srgbClr val="3A362C"/>
                          </a:solidFill>
                          <a:latin typeface="Noto Serif KR" pitchFamily="34" charset="0"/>
                          <a:ea typeface="Noto Serif KR" pitchFamily="34" charset="-122"/>
                          <a:cs typeface="Noto Serif KR" pitchFamily="34" charset="-120"/>
                        </a:rPr>
                        <a:t>이 빠져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매몰 상태</a:t>
                      </a:r>
                      <a:pPr indent="0" marL="0">
                        <a:buNone/>
                      </a:pPr>
                      <a:r>
                        <a:rPr lang="en-US" sz="1875" dirty="0">
                          <a:solidFill>
                            <a:srgbClr val="3A362C"/>
                          </a:solidFill>
                          <a:latin typeface="Noto Serif KR" pitchFamily="34" charset="0"/>
                          <a:ea typeface="Noto Serif KR" pitchFamily="34" charset="-122"/>
                          <a:cs typeface="Noto Serif KR" pitchFamily="34" charset="-120"/>
                        </a:rPr>
                        <a:t> 한 줄이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유독 구체적인 </a:t>
                      </a:r>
                      <a:pPr indent="0" marL="0">
                        <a:buNone/>
                      </a:pPr>
                      <a:r>
                        <a:rPr lang="en-US" sz="1875" b="1" dirty="0">
                          <a:solidFill>
                            <a:srgbClr val="17150F"/>
                          </a:solidFill>
                          <a:latin typeface="Noto Serif KR" pitchFamily="34" charset="0"/>
                          <a:ea typeface="Noto Serif KR" pitchFamily="34" charset="-122"/>
                          <a:cs typeface="Noto Serif KR" pitchFamily="34" charset="-120"/>
                        </a:rPr>
                        <a:t>한 곳</a:t>
                      </a:r>
                      <a:pPr indent="0" marL="0">
                        <a:buNone/>
                      </a:pPr>
                      <a:r>
                        <a:rPr lang="en-US" sz="1875" dirty="0">
                          <a:solidFill>
                            <a:srgbClr val="3A362C"/>
                          </a:solidFill>
                          <a:latin typeface="Noto Serif KR" pitchFamily="34" charset="0"/>
                          <a:ea typeface="Noto Serif KR" pitchFamily="34" charset="-122"/>
                          <a:cs typeface="Noto Serif KR" pitchFamily="34" charset="-120"/>
                        </a:rPr>
                        <a:t>이 있는가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7" name="Shape 9"/>
          <p:cNvSpPr/>
          <p:nvPr/>
        </p:nvSpPr>
        <p:spPr>
          <a:xfrm>
            <a:off x="9334195" y="7295998"/>
            <a:ext cx="7810805" cy="1800454"/>
          </a:xfrm>
          <a:prstGeom prst="rect">
            <a:avLst/>
          </a:prstGeom>
          <a:solidFill>
            <a:srgbClr val="FFFFFF">
              <a:alpha val="36000"/>
            </a:srgbClr>
          </a:solidFill>
          <a:ln w="12700">
            <a:solidFill>
              <a:srgbClr val="BEB6A5"/>
            </a:solidFill>
            <a:prstDash val="solid"/>
          </a:ln>
        </p:spPr>
      </p:sp>
      <p:sp>
        <p:nvSpPr>
          <p:cNvPr id="18" name="Text 10"/>
          <p:cNvSpPr txBox="1"/>
          <p:nvPr/>
        </p:nvSpPr>
        <p:spPr>
          <a:xfrm>
            <a:off x="9629546" y="7515454"/>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파일명 규칙</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915046"/>
            <a:ext cx="6931342" cy="9144"/>
          </a:xfrm>
          <a:prstGeom prst="rect">
            <a:avLst/>
          </a:prstGeom>
        </p:spPr>
      </p:pic>
      <p:sp>
        <p:nvSpPr>
          <p:cNvPr id="20" name="Text 11"/>
          <p:cNvSpPr txBox="1"/>
          <p:nvPr/>
        </p:nvSpPr>
        <p:spPr>
          <a:xfrm>
            <a:off x="9629546" y="8058607"/>
            <a:ext cx="7220102" cy="819302"/>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IBM Plex Mono" pitchFamily="34" charset="0"/>
                <a:ea typeface="IBM Plex Mono" pitchFamily="34" charset="-122"/>
                <a:cs typeface="IBM Plex Mono" pitchFamily="34" charset="-120"/>
              </a:rPr>
              <a:t>2300-KR-학번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형태로 저장한다. 7차시 전시 배치에서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유물번호와 파일이 대응</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해야 하기 때문이다.</a:t>
            </a:r>
            <a:endParaRPr lang="en-US" sz="1800" dirty="0"/>
          </a:p>
        </p:txBody>
      </p:sp>
      <p:sp>
        <p:nvSpPr>
          <p:cNvPr id="21" name="Text 12"/>
          <p:cNvSpPr txBox="1"/>
          <p:nvPr/>
        </p:nvSpPr>
        <p:spPr>
          <a:xfrm>
            <a:off x="1143000" y="8858707"/>
            <a:ext cx="16002000" cy="771754"/>
          </a:xfrm>
          <a:prstGeom prst="rect">
            <a:avLst/>
          </a:prstGeom>
          <a:noFill/>
          <a:ln/>
        </p:spPr>
        <p:txBody>
          <a:bodyPr wrap="square" lIns="0" tIns="0" rIns="0" bIns="0" rtlCol="0" anchor="ctr"/>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교사 메모</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생성 도구의 계정·연령 정책은 학교 지침에 따른다. 교사 계정으로 시연하고 여러분은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교사 기기에서 순서대로 생성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하는 방식도 가능하다. 어느 방식이든 프롬프트는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여러분이 직접 쓴다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
        <p:nvSpPr>
          <p:cNvPr id="22" name="Text 13"/>
          <p:cNvSpPr txBox="1"/>
          <p:nvPr/>
        </p:nvSpPr>
        <p:spPr>
          <a:xfrm>
            <a:off x="1143000" y="9829800"/>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생성형 AI 활용 관련 학교급별 지침은 교육부·시도교육청 공식 안내를 직접 확인해 적용한다(본 자료 미확인 항목)</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절차 · 생성과 기록</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절차</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세 번의 생성을 모두 남긴다</a:t>
            </a:r>
            <a:endParaRPr lang="en-US" sz="3450" dirty="0"/>
          </a:p>
        </p:txBody>
      </p:sp>
      <p:sp>
        <p:nvSpPr>
          <p:cNvPr id="7" name="Text 3"/>
          <p:cNvSpPr txBox="1"/>
          <p:nvPr/>
        </p:nvSpPr>
        <p:spPr>
          <a:xfrm>
            <a:off x="1143000" y="2381098"/>
            <a:ext cx="17360798"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버리는 결과도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기록의 일부</a:t>
            </a:r>
            <a:pPr algn="l" indent="0" marL="0">
              <a:buNone/>
            </a:pPr>
            <a:r>
              <a:rPr lang="en-US" sz="2175" dirty="0">
                <a:solidFill>
                  <a:srgbClr val="3A362C"/>
                </a:solidFill>
                <a:latin typeface="Noto Serif KR" pitchFamily="34" charset="0"/>
                <a:ea typeface="Noto Serif KR" pitchFamily="34" charset="-122"/>
                <a:cs typeface="Noto Serif KR" pitchFamily="34" charset="-120"/>
              </a:rPr>
              <a:t>다. 무엇이 어떻게 어긋났는지가 8차시 성찰문의 자료가 된다. 세 번의 프롬프트와 결과를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모두 남긴다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a:t>
            </a:r>
            <a:endParaRPr lang="en-US" sz="2175"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391510"/>
        </p:xfrm>
        <a:graphic>
          <a:graphicData uri="http://schemas.openxmlformats.org/drawingml/2006/table">
            <a:tbl>
              <a:tblPr/>
              <a:tblGrid>
                <a:gridCol w="1429126"/>
                <a:gridCol w="4571739"/>
                <a:gridCol w="4571739"/>
                <a:gridCol w="5429397"/>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회차</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할 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기록할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흔한 문제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작성한 여섯 줄을 </a:t>
                      </a:r>
                      <a:pPr indent="0" marL="0">
                        <a:buNone/>
                      </a:pPr>
                      <a:r>
                        <a:rPr lang="en-US" sz="1875" b="1" dirty="0">
                          <a:solidFill>
                            <a:srgbClr val="17150F"/>
                          </a:solidFill>
                          <a:latin typeface="Noto Serif KR" pitchFamily="34" charset="0"/>
                          <a:ea typeface="Noto Serif KR" pitchFamily="34" charset="-122"/>
                          <a:cs typeface="Noto Serif KR" pitchFamily="34" charset="-120"/>
                        </a:rPr>
                        <a:t>그대로</a:t>
                      </a:r>
                      <a:pPr indent="0" marL="0">
                        <a:buNone/>
                      </a:pPr>
                      <a:r>
                        <a:rPr lang="en-US" sz="1875" dirty="0">
                          <a:solidFill>
                            <a:srgbClr val="3A362C"/>
                          </a:solidFill>
                          <a:latin typeface="Noto Serif KR" pitchFamily="34" charset="0"/>
                          <a:ea typeface="Noto Serif KR" pitchFamily="34" charset="-122"/>
                          <a:cs typeface="Noto Serif KR" pitchFamily="34" charset="-120"/>
                        </a:rPr>
                        <a:t> 넣는다. 고치지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결과 이미지 + “카드와 다른 점 한 가지”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새 물건처럼 나온다 → ③ 매몰 줄이 약하다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1차에서 어긋난 </a:t>
                      </a:r>
                      <a:pPr indent="0" marL="0">
                        <a:buNone/>
                      </a:pPr>
                      <a:r>
                        <a:rPr lang="en-US" sz="1875" b="1" dirty="0">
                          <a:solidFill>
                            <a:srgbClr val="9C2A1F"/>
                          </a:solidFill>
                          <a:latin typeface="Noto Serif KR" pitchFamily="34" charset="0"/>
                          <a:ea typeface="Noto Serif KR" pitchFamily="34" charset="-122"/>
                          <a:cs typeface="Noto Serif KR" pitchFamily="34" charset="-120"/>
                        </a:rPr>
                        <a:t>한 줄만</a:t>
                      </a:r>
                      <a:pPr indent="0" marL="0">
                        <a:buNone/>
                      </a:pPr>
                      <a:r>
                        <a:rPr lang="en-US" sz="1875" dirty="0">
                          <a:solidFill>
                            <a:srgbClr val="3A362C"/>
                          </a:solidFill>
                          <a:latin typeface="Noto Serif KR" pitchFamily="34" charset="0"/>
                          <a:ea typeface="Noto Serif KR" pitchFamily="34" charset="-122"/>
                          <a:cs typeface="Noto Serif KR" pitchFamily="34" charset="-120"/>
                        </a:rPr>
                        <a:t> 고친다. 여러 줄을 동시에 고치지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고친 줄에 밑줄 + 무엇이 달라졌는지 한 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여러 줄을 함께 고쳐 </a:t>
                      </a:r>
                      <a:pPr indent="0" marL="0">
                        <a:buNone/>
                      </a:pPr>
                      <a:r>
                        <a:rPr lang="en-US" sz="1875" b="1" dirty="0">
                          <a:solidFill>
                            <a:srgbClr val="17150F"/>
                          </a:solidFill>
                          <a:latin typeface="Noto Serif KR" pitchFamily="34" charset="0"/>
                          <a:ea typeface="Noto Serif KR" pitchFamily="34" charset="-122"/>
                          <a:cs typeface="Noto Serif KR" pitchFamily="34" charset="-120"/>
                        </a:rPr>
                        <a:t>원인을 알 수 없게</a:t>
                      </a:r>
                      <a:pPr indent="0" marL="0">
                        <a:buNone/>
                      </a:pPr>
                      <a:r>
                        <a:rPr lang="en-US" sz="1875" dirty="0">
                          <a:solidFill>
                            <a:srgbClr val="3A362C"/>
                          </a:solidFill>
                          <a:latin typeface="Noto Serif KR" pitchFamily="34" charset="0"/>
                          <a:ea typeface="Noto Serif KR" pitchFamily="34" charset="-122"/>
                          <a:cs typeface="Noto Serif KR" pitchFamily="34" charset="-120"/>
                        </a:rPr>
                        <a:t>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남은 한 가지를 고친다. 여기서 </a:t>
                      </a:r>
                      <a:pPr indent="0" marL="0">
                        <a:buNone/>
                      </a:pPr>
                      <a:r>
                        <a:rPr lang="en-US" sz="1875" b="1" dirty="0">
                          <a:solidFill>
                            <a:srgbClr val="17150F"/>
                          </a:solidFill>
                          <a:latin typeface="Noto Serif KR" pitchFamily="34" charset="0"/>
                          <a:ea typeface="Noto Serif KR" pitchFamily="34" charset="-122"/>
                          <a:cs typeface="Noto Serif KR" pitchFamily="34" charset="-120"/>
                        </a:rPr>
                        <a:t>멈춘다</a:t>
                      </a:r>
                      <a:pPr indent="0" marL="0">
                        <a:buNone/>
                      </a:pPr>
                      <a:r>
                        <a:rPr lang="en-US" sz="1875" dirty="0">
                          <a:solidFill>
                            <a:srgbClr val="3A362C"/>
                          </a:solidFill>
                          <a:latin typeface="Noto Serif KR" pitchFamily="34" charset="0"/>
                          <a:ea typeface="Noto Serif KR" pitchFamily="34" charset="-122"/>
                          <a:cs typeface="Noto Serif KR" pitchFamily="34" charset="-120"/>
                        </a:rPr>
                        <a:t>.</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최종 선택 이유 한 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더 예쁜 결과를 찾아 계속 돌린다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200900"/>
            <a:ext cx="7810805" cy="218084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4203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한 번에 한 줄만 고치는 이유</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7819949"/>
            <a:ext cx="6931342" cy="9144"/>
          </a:xfrm>
          <a:prstGeom prst="rect">
            <a:avLst/>
          </a:prstGeom>
        </p:spPr>
      </p:pic>
      <p:sp>
        <p:nvSpPr>
          <p:cNvPr id="12" name="Text 6"/>
          <p:cNvSpPr txBox="1"/>
          <p:nvPr/>
        </p:nvSpPr>
        <p:spPr>
          <a:xfrm>
            <a:off x="1438351" y="7962595"/>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 줄을 동시에 고치면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무엇이 효과가 있었는지 알 수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이것은 실험의 기본이며, 4차시 사용흔 분석에서 흔적을 하나씩 분리한 것과 같은 태도다.</a:t>
            </a:r>
            <a:endParaRPr lang="en-US" sz="1800" dirty="0"/>
          </a:p>
        </p:txBody>
      </p:sp>
      <p:sp>
        <p:nvSpPr>
          <p:cNvPr id="13" name="Shape 7"/>
          <p:cNvSpPr/>
          <p:nvPr/>
        </p:nvSpPr>
        <p:spPr>
          <a:xfrm>
            <a:off x="9334195" y="7200900"/>
            <a:ext cx="7810805" cy="1781251"/>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4203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버린 결과도 제출한다</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7819949"/>
            <a:ext cx="6931342" cy="9144"/>
          </a:xfrm>
          <a:prstGeom prst="rect">
            <a:avLst/>
          </a:prstGeom>
        </p:spPr>
      </p:pic>
      <p:sp>
        <p:nvSpPr>
          <p:cNvPr id="16" name="Text 9"/>
          <p:cNvSpPr txBox="1"/>
          <p:nvPr/>
        </p:nvSpPr>
        <p:spPr>
          <a:xfrm>
            <a:off x="9629546" y="79625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1차·2차 결과는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실패 기록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학습지에 붙인다. 8차시에서 “내 문장이 어떻게 바뀌었는가”를 추적하는 데 쓴다.</a:t>
            </a:r>
            <a:endParaRPr lang="en-US" sz="1800" dirty="0"/>
          </a:p>
        </p:txBody>
      </p:sp>
      <p:sp>
        <p:nvSpPr>
          <p:cNvPr id="17" name="Text 10"/>
          <p:cNvSpPr txBox="1"/>
          <p:nvPr/>
        </p:nvSpPr>
        <p:spPr>
          <a:xfrm>
            <a:off x="1410005" y="9087307"/>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1차 결과가 카드와 다르다면, 잘못된 것은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도구입니까 문장입니까</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a:t>
            </a:r>
            <a:endParaRPr lang="en-US" sz="2175" dirty="0"/>
          </a:p>
        </p:txBody>
      </p:sp>
      <p:sp>
        <p:nvSpPr>
          <p:cNvPr id="18" name="Text 11"/>
          <p:cNvSpPr txBox="1"/>
          <p:nvPr/>
        </p:nvSpPr>
        <p:spPr>
          <a:xfrm>
            <a:off x="1143000" y="9924898"/>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질문에 “문장”이라고 답할 수 있으면 이 차시의 목표는 달성된 것이다.</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172200"/>
            <a:ext cx="15873740" cy="28346"/>
          </a:xfrm>
          <a:prstGeom prst="rect">
            <a:avLst/>
          </a:prstGeom>
        </p:spPr>
      </p:pic>
      <p:pic>
        <p:nvPicPr>
          <p:cNvPr id="4" name="Image 2" descr="gen-dedup-6eae399c60c7ffac3da7a6aca6603525.png">    </p:cNvPr>
          <p:cNvPicPr>
            <a:picLocks noChangeAspect="1"/>
          </p:cNvPicPr>
          <p:nvPr/>
        </p:nvPicPr>
        <p:blipFill>
          <a:blip r:embed="rId3"/>
          <a:stretch/>
        </p:blipFill>
        <p:spPr>
          <a:xfrm>
            <a:off x="1462991" y="8820302"/>
            <a:ext cx="15362018"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검증 · 결과를 카드와 대조하는 세 단계</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검증</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있는가 · 맞는가 · 남는가</a:t>
            </a:r>
            <a:endParaRPr lang="en-US" sz="34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3762756"/>
        </p:xfrm>
        <a:graphic>
          <a:graphicData uri="http://schemas.openxmlformats.org/drawingml/2006/table">
            <a:tbl>
              <a:tblPr/>
              <a:tblGrid>
                <a:gridCol w="1904695"/>
                <a:gridCol w="3810305"/>
                <a:gridCol w="4572000"/>
                <a:gridCol w="5715000"/>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 질문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통과 기준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실패 시 고칠 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있는가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존재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카드에 적은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이미지에 보이는가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⑦ 사용 흔적과 ⑧ 매몰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각각 확인</a:t>
                      </a:r>
                      <a:pPr indent="0" marL="0">
                        <a:buNone/>
                      </a:pPr>
                      <a:r>
                        <a:rPr lang="en-US" sz="1875" dirty="0">
                          <a:solidFill>
                            <a:srgbClr val="3A362C"/>
                          </a:solidFill>
                          <a:latin typeface="Noto Serif KR" pitchFamily="34" charset="0"/>
                          <a:ea typeface="Noto Serif KR" pitchFamily="34" charset="-122"/>
                          <a:cs typeface="Noto Serif KR" pitchFamily="34" charset="-120"/>
                        </a:rPr>
                        <a:t>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②③ — 부위를 더 구체적으로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맞는가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일관성</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그 재질에 생길 수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4차시 </a:t>
                      </a:r>
                      <a:pPr indent="0" marL="0">
                        <a:buNone/>
                      </a:pPr>
                      <a:r>
                        <a:rPr lang="en-US" sz="1875" b="1" dirty="0">
                          <a:solidFill>
                            <a:srgbClr val="17150F"/>
                          </a:solidFill>
                          <a:latin typeface="Noto Serif KR" pitchFamily="34" charset="0"/>
                          <a:ea typeface="Noto Serif KR" pitchFamily="34" charset="-122"/>
                          <a:cs typeface="Noto Serif KR" pitchFamily="34" charset="-120"/>
                        </a:rPr>
                        <a:t>세 축</a:t>
                      </a:r>
                      <a:pPr indent="0" marL="0">
                        <a:buNone/>
                      </a:pPr>
                      <a:r>
                        <a:rPr lang="en-US" sz="1875" dirty="0">
                          <a:solidFill>
                            <a:srgbClr val="3A362C"/>
                          </a:solidFill>
                          <a:latin typeface="Noto Serif KR" pitchFamily="34" charset="0"/>
                          <a:ea typeface="Noto Serif KR" pitchFamily="34" charset="-122"/>
                          <a:cs typeface="Noto Serif KR" pitchFamily="34" charset="-120"/>
                        </a:rPr>
                        <a:t>이 어긋나지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 — 재질을 흔적에 맞게 조정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남는가</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여지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용도가 </a:t>
                      </a:r>
                      <a:pPr indent="0" marL="0">
                        <a:buNone/>
                      </a:pPr>
                      <a:r>
                        <a:rPr lang="en-US" sz="1875" b="1" dirty="0">
                          <a:solidFill>
                            <a:srgbClr val="9C2A1F"/>
                          </a:solidFill>
                          <a:latin typeface="Noto Serif KR" pitchFamily="34" charset="0"/>
                          <a:ea typeface="Noto Serif KR" pitchFamily="34" charset="-122"/>
                          <a:cs typeface="Noto Serif KR" pitchFamily="34" charset="-120"/>
                        </a:rPr>
                        <a:t>한 가지로 확정되지 않는가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짝이 이미지만 보고 </a:t>
                      </a:r>
                      <a:pPr indent="0" marL="0">
                        <a:buNone/>
                      </a:pPr>
                      <a:r>
                        <a:rPr lang="en-US" sz="1875" b="1" dirty="0">
                          <a:solidFill>
                            <a:srgbClr val="17150F"/>
                          </a:solidFill>
                          <a:latin typeface="Noto Serif KR" pitchFamily="34" charset="0"/>
                          <a:ea typeface="Noto Serif KR" pitchFamily="34" charset="-122"/>
                          <a:cs typeface="Noto Serif KR" pitchFamily="34" charset="-120"/>
                        </a:rPr>
                        <a:t>두 가지 이상</a:t>
                      </a:r>
                      <a:pPr indent="0" marL="0">
                        <a:buNone/>
                      </a:pPr>
                      <a:r>
                        <a:rPr lang="en-US" sz="1875" dirty="0">
                          <a:solidFill>
                            <a:srgbClr val="3A362C"/>
                          </a:solidFill>
                          <a:latin typeface="Noto Serif KR" pitchFamily="34" charset="0"/>
                          <a:ea typeface="Noto Serif KR" pitchFamily="34" charset="-122"/>
                          <a:cs typeface="Noto Serif KR" pitchFamily="34" charset="-120"/>
                        </a:rPr>
                        <a:t> 용도를 추정한다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 — 기능을 암시하는 형태 축소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3"/>
          <p:cNvSpPr/>
          <p:nvPr/>
        </p:nvSpPr>
        <p:spPr>
          <a:xfrm>
            <a:off x="1143000" y="6476695"/>
            <a:ext cx="7810805" cy="1857146"/>
          </a:xfrm>
          <a:prstGeom prst="rect">
            <a:avLst/>
          </a:prstGeom>
          <a:solidFill>
            <a:srgbClr val="9C2A1F">
              <a:alpha val="6000"/>
            </a:srgbClr>
          </a:solidFill>
          <a:ln w="12700">
            <a:solidFill>
              <a:srgbClr val="9C2A1F"/>
            </a:solidFill>
            <a:prstDash val="solid"/>
          </a:ln>
        </p:spPr>
      </p:sp>
      <p:sp>
        <p:nvSpPr>
          <p:cNvPr id="10" name="Text 4"/>
          <p:cNvSpPr txBox="1"/>
          <p:nvPr/>
        </p:nvSpPr>
        <p:spPr>
          <a:xfrm>
            <a:off x="1438351" y="67153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③이 가장 어렵다</a:t>
            </a:r>
            <a:endParaRPr lang="en-US" sz="1575" dirty="0"/>
          </a:p>
        </p:txBody>
      </p:sp>
      <p:pic>
        <p:nvPicPr>
          <p:cNvPr id="11" name="Image 3" descr="gen-dedup-8daa7bbad9e138f694b547871d64bad8.png">    </p:cNvPr>
          <p:cNvPicPr>
            <a:picLocks noChangeAspect="1"/>
          </p:cNvPicPr>
          <p:nvPr/>
        </p:nvPicPr>
        <p:blipFill>
          <a:blip r:embed="rId4"/>
          <a:stretch/>
        </p:blipFill>
        <p:spPr>
          <a:xfrm>
            <a:off x="1582731" y="7134149"/>
            <a:ext cx="6931342" cy="9144"/>
          </a:xfrm>
          <a:prstGeom prst="rect">
            <a:avLst/>
          </a:prstGeom>
        </p:spPr>
      </p:pic>
      <p:sp>
        <p:nvSpPr>
          <p:cNvPr id="12" name="Text 5"/>
          <p:cNvSpPr txBox="1"/>
          <p:nvPr/>
        </p:nvSpPr>
        <p:spPr>
          <a:xfrm>
            <a:off x="1438351" y="7295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대부분의 결과는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너무 명확하게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나온다. 도구는 알아보기 쉬운 형태를 선호하기 때문이다. 형태를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조금 낯설게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만드는 것이 3차 수정의 목표다.</a:t>
            </a:r>
            <a:endParaRPr lang="en-US" sz="1800" dirty="0"/>
          </a:p>
        </p:txBody>
      </p:sp>
      <p:sp>
        <p:nvSpPr>
          <p:cNvPr id="13" name="Shape 6"/>
          <p:cNvSpPr/>
          <p:nvPr/>
        </p:nvSpPr>
        <p:spPr>
          <a:xfrm>
            <a:off x="9334195" y="6476695"/>
            <a:ext cx="7810805" cy="1857146"/>
          </a:xfrm>
          <a:prstGeom prst="rect">
            <a:avLst/>
          </a:prstGeom>
          <a:solidFill>
            <a:srgbClr val="FFFFFF">
              <a:alpha val="36000"/>
            </a:srgbClr>
          </a:solidFill>
          <a:ln w="12700">
            <a:solidFill>
              <a:srgbClr val="BEB6A5"/>
            </a:solidFill>
            <a:prstDash val="solid"/>
          </a:ln>
        </p:spPr>
      </p:sp>
      <p:sp>
        <p:nvSpPr>
          <p:cNvPr id="14" name="Text 7"/>
          <p:cNvSpPr txBox="1"/>
          <p:nvPr/>
        </p:nvSpPr>
        <p:spPr>
          <a:xfrm>
            <a:off x="9629546" y="67153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①에서 대부분 걸린다</a:t>
            </a:r>
            <a:endParaRPr lang="en-US" sz="1575" dirty="0"/>
          </a:p>
        </p:txBody>
      </p:sp>
      <p:pic>
        <p:nvPicPr>
          <p:cNvPr id="15" name="Image 4" descr="gen-dedup-8daa7bbad9e138f694b547871d64bad8.png">    </p:cNvPr>
          <p:cNvPicPr>
            <a:picLocks noChangeAspect="1"/>
          </p:cNvPicPr>
          <p:nvPr/>
        </p:nvPicPr>
        <p:blipFill>
          <a:blip r:embed="rId5"/>
          <a:stretch/>
        </p:blipFill>
        <p:spPr>
          <a:xfrm>
            <a:off x="9773926" y="7134149"/>
            <a:ext cx="6931342" cy="9144"/>
          </a:xfrm>
          <a:prstGeom prst="rect">
            <a:avLst/>
          </a:prstGeom>
        </p:spPr>
      </p:pic>
      <p:sp>
        <p:nvSpPr>
          <p:cNvPr id="16" name="Text 8"/>
          <p:cNvSpPr txBox="1"/>
          <p:nvPr/>
        </p:nvSpPr>
        <p:spPr>
          <a:xfrm>
            <a:off x="9629546" y="72959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특히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⑧ 매몰 흔적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보이지 않는 경우가 많다. “흙 속에 있었다”만으로는 부족하다.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변색·경화·압착</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중 하나를 지정한다.</a:t>
            </a:r>
            <a:endParaRPr lang="en-US" sz="1800" dirty="0"/>
          </a:p>
        </p:txBody>
      </p:sp>
      <p:sp>
        <p:nvSpPr>
          <p:cNvPr id="17" name="Text 9"/>
          <p:cNvSpPr txBox="1"/>
          <p:nvPr/>
        </p:nvSpPr>
        <p:spPr>
          <a:xfrm>
            <a:off x="1143000" y="8477402"/>
            <a:ext cx="1600200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검증표는 짝이 채운다 — 본인이 채우지 않는다</a:t>
            </a:r>
            <a:endParaRPr lang="en-US" sz="1650" dirty="0"/>
          </a:p>
        </p:txBody>
      </p:sp>
      <p:sp>
        <p:nvSpPr>
          <p:cNvPr id="18" name="Text 10"/>
          <p:cNvSpPr txBox="1"/>
          <p:nvPr/>
        </p:nvSpPr>
        <p:spPr>
          <a:xfrm>
            <a:off x="1143000" y="9087307"/>
            <a:ext cx="160020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자기 이미지는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의도를 알고 보기 때문에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흔적이 보이는 것처럼 느껴진다. 짝은 카드만 읽고 이미지를 보므로,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관람자와 같은 조건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있다. 이것이 교차 검증을 하는 이유다.</a:t>
            </a:r>
            <a:endParaRPr lang="en-US" sz="18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4"/>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90–103분 · 모둠 교차 검증</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활동 2</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카드는 감추고 이미지만 보여 준다</a:t>
            </a:r>
            <a:endParaRPr lang="en-US" sz="3450" dirty="0"/>
          </a:p>
        </p:txBody>
      </p:sp>
      <p:sp>
        <p:nvSpPr>
          <p:cNvPr id="8" name="Text 3"/>
          <p:cNvSpPr txBox="1"/>
          <p:nvPr/>
        </p:nvSpPr>
        <p:spPr>
          <a:xfrm>
            <a:off x="1143000" y="2381098"/>
            <a:ext cx="17527219" cy="467258"/>
          </a:xfrm>
          <a:prstGeom prst="rect">
            <a:avLst/>
          </a:prstGeom>
          <a:noFill/>
          <a:ln/>
        </p:spPr>
        <p:txBody>
          <a:bodyPr wrap="none" lIns="0" tIns="0" rIns="0" bIns="0" rtlCol="0" anchor="ctr"/>
          <a:lstStyle/>
          <a:p>
            <a:pPr algn="l" indent="0" marL="0">
              <a:buNone/>
            </a:pPr>
            <a:r>
              <a:rPr lang="en-US" sz="2175" dirty="0">
                <a:solidFill>
                  <a:srgbClr val="3A362C"/>
                </a:solidFill>
                <a:latin typeface="Noto Serif KR" pitchFamily="34" charset="0"/>
                <a:ea typeface="Noto Serif KR" pitchFamily="34" charset="-122"/>
                <a:cs typeface="Noto Serif KR" pitchFamily="34" charset="-120"/>
              </a:rPr>
              <a:t>짝에게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이미지만</a:t>
            </a:r>
            <a:pPr algn="l" indent="0" marL="0">
              <a:buNone/>
            </a:pPr>
            <a:r>
              <a:rPr lang="en-US" sz="2175" dirty="0">
                <a:solidFill>
                  <a:srgbClr val="3A362C"/>
                </a:solidFill>
                <a:latin typeface="Noto Serif KR" pitchFamily="34" charset="0"/>
                <a:ea typeface="Noto Serif KR" pitchFamily="34" charset="-122"/>
                <a:cs typeface="Noto Serif KR" pitchFamily="34" charset="-120"/>
              </a:rPr>
              <a:t> 보여 준다. 카드는 뒤집어 둔다. 짝이 이미지를 보고 카드의 내용을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역으로 추정</a:t>
            </a:r>
            <a:pPr algn="l" indent="0" marL="0">
              <a:buNone/>
            </a:pPr>
            <a:r>
              <a:rPr lang="en-US" sz="2175" dirty="0">
                <a:solidFill>
                  <a:srgbClr val="3A362C"/>
                </a:solidFill>
                <a:latin typeface="Noto Serif KR" pitchFamily="34" charset="0"/>
                <a:ea typeface="Noto Serif KR" pitchFamily="34" charset="-122"/>
                <a:cs typeface="Noto Serif KR" pitchFamily="34" charset="-120"/>
              </a:rPr>
              <a:t>하게 한 뒤, 카드를 펼쳐 대조한다.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짝이 답하는 네 가지 (5분)</a:t>
            </a:r>
            <a:endParaRPr lang="en-US" sz="16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2686507"/>
        </p:xfrm>
        <a:graphic>
          <a:graphicData uri="http://schemas.openxmlformats.org/drawingml/2006/table">
            <a:tbl>
              <a:tblPr/>
              <a:tblGrid>
                <a:gridCol w="1809598"/>
                <a:gridCol w="6001207"/>
              </a:tblGrid>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무엇으로 만들어졌다고 보입니까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사용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어디가 어떻게 닳았습니까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매몰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얼마나 오래 묻혀 있었다고 보입니까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용도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두 가지 이상</a:t>
                      </a:r>
                      <a:pPr indent="0" marL="0">
                        <a:buNone/>
                      </a:pPr>
                      <a:r>
                        <a:rPr lang="en-US" sz="1875" dirty="0">
                          <a:solidFill>
                            <a:srgbClr val="3A362C"/>
                          </a:solidFill>
                          <a:latin typeface="Noto Serif KR" pitchFamily="34" charset="0"/>
                          <a:ea typeface="Noto Serif KR" pitchFamily="34" charset="-122"/>
                          <a:cs typeface="Noto Serif KR" pitchFamily="34" charset="-120"/>
                        </a:rPr>
                        <a:t>을 말해 보십시오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53098"/>
            <a:ext cx="7810805" cy="1781251"/>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1725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④에서 하나만 나오면 실패다</a:t>
            </a:r>
            <a:endParaRPr lang="en-US" sz="1575" dirty="0"/>
          </a:p>
        </p:txBody>
      </p:sp>
      <p:pic>
        <p:nvPicPr>
          <p:cNvPr id="13" name="Image 3" descr="gen-dedup-8daa7bbad9e138f694b547871d64bad8.png">    </p:cNvPr>
          <p:cNvPicPr>
            <a:picLocks noChangeAspect="1"/>
          </p:cNvPicPr>
          <p:nvPr/>
        </p:nvPicPr>
        <p:blipFill>
          <a:blip r:embed="rId5"/>
          <a:stretch/>
        </p:blipFill>
        <p:spPr>
          <a:xfrm>
            <a:off x="1582731" y="7572146"/>
            <a:ext cx="6931342" cy="9144"/>
          </a:xfrm>
          <a:prstGeom prst="rect">
            <a:avLst/>
          </a:prstGeom>
        </p:spPr>
      </p:pic>
      <p:sp>
        <p:nvSpPr>
          <p:cNvPr id="14" name="Text 7"/>
          <p:cNvSpPr txBox="1"/>
          <p:nvPr/>
        </p:nvSpPr>
        <p:spPr>
          <a:xfrm>
            <a:off x="1438351" y="7715707"/>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용도가 즉시 확정되면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해석의 여지가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뜻이다. 반대로 짝이 아무 답도 못 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흔적이 부족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하다. 둘 사이가 목표다.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대조 후 판정 (5분)</a:t>
            </a:r>
            <a:endParaRPr lang="en-US" sz="16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9334195" y="4457700"/>
          <a:ext cx="7810805" cy="3305556"/>
        </p:xfrm>
        <a:graphic>
          <a:graphicData uri="http://schemas.openxmlformats.org/drawingml/2006/table">
            <a:tbl>
              <a:tblPr/>
              <a:tblGrid>
                <a:gridCol w="2190902"/>
                <a:gridCol w="5619902"/>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짝의 추정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판정과 조치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카드와 거의 일치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①② 통과</a:t>
                      </a:r>
                      <a:pPr indent="0" marL="0">
                        <a:buNone/>
                      </a:pPr>
                      <a:r>
                        <a:rPr lang="en-US" sz="1875" dirty="0">
                          <a:solidFill>
                            <a:srgbClr val="3A362C"/>
                          </a:solidFill>
                          <a:latin typeface="Noto Serif KR" pitchFamily="34" charset="0"/>
                          <a:ea typeface="Noto Serif KR" pitchFamily="34" charset="-122"/>
                          <a:cs typeface="Noto Serif KR" pitchFamily="34" charset="-120"/>
                        </a:rPr>
                        <a:t> — 흔적이 읽힌다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매몰만 못 맞힘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③번 줄 재작성 — 가장 흔한 경우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용도를 즉시 확정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①번 줄에서 기능 암시 요소 </a:t>
                      </a:r>
                      <a:pPr indent="0" marL="0">
                        <a:buNone/>
                      </a:pPr>
                      <a:r>
                        <a:rPr lang="en-US" sz="1875" b="1" dirty="0">
                          <a:solidFill>
                            <a:srgbClr val="9C2A1F"/>
                          </a:solidFill>
                          <a:latin typeface="Noto Serif KR" pitchFamily="34" charset="0"/>
                          <a:ea typeface="Noto Serif KR" pitchFamily="34" charset="-122"/>
                          <a:cs typeface="Noto Serif KR" pitchFamily="34" charset="-120"/>
                        </a:rPr>
                        <a:t>축소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아무것도 못 맞힘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이미지가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카드부터</a:t>
                      </a:r>
                      <a:pPr indent="0" marL="0">
                        <a:buNone/>
                      </a:pPr>
                      <a:r>
                        <a:rPr lang="en-US" sz="1875" dirty="0">
                          <a:solidFill>
                            <a:srgbClr val="3A362C"/>
                          </a:solidFill>
                          <a:latin typeface="Noto Serif KR" pitchFamily="34" charset="0"/>
                          <a:ea typeface="Noto Serif KR" pitchFamily="34" charset="-122"/>
                          <a:cs typeface="Noto Serif KR" pitchFamily="34" charset="-120"/>
                        </a:rPr>
                        <a:t> 다시 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7" name="Shape 9"/>
          <p:cNvSpPr/>
          <p:nvPr/>
        </p:nvSpPr>
        <p:spPr>
          <a:xfrm>
            <a:off x="9334195" y="7258507"/>
            <a:ext cx="7810805" cy="2180844"/>
          </a:xfrm>
          <a:prstGeom prst="rect">
            <a:avLst/>
          </a:prstGeom>
          <a:solidFill>
            <a:srgbClr val="FFFFFF">
              <a:alpha val="36000"/>
            </a:srgbClr>
          </a:solidFill>
          <a:ln w="12700">
            <a:solidFill>
              <a:srgbClr val="BEB6A5"/>
            </a:solidFill>
            <a:prstDash val="solid"/>
          </a:ln>
        </p:spPr>
      </p:sp>
      <p:sp>
        <p:nvSpPr>
          <p:cNvPr id="18" name="Text 10"/>
          <p:cNvSpPr txBox="1"/>
          <p:nvPr/>
        </p:nvSpPr>
        <p:spPr>
          <a:xfrm>
            <a:off x="9629546" y="7477049"/>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기록 방법</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877556"/>
            <a:ext cx="6931342" cy="9144"/>
          </a:xfrm>
          <a:prstGeom prst="rect">
            <a:avLst/>
          </a:prstGeom>
        </p:spPr>
      </p:pic>
      <p:sp>
        <p:nvSpPr>
          <p:cNvPr id="20" name="Text 11"/>
          <p:cNvSpPr txBox="1"/>
          <p:nvPr/>
        </p:nvSpPr>
        <p:spPr>
          <a:xfrm>
            <a:off x="9629546" y="80202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짝의 추정 네 줄을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학습지 2면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그대로 받아 적는다. 이 기록이 6차시 캡션 작성의 출발 자료가 된다 —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관람자가 무엇을 오해했는지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캡션이 다룰 지점이다.</a:t>
            </a:r>
            <a:endParaRPr lang="en-US" sz="1800" dirty="0"/>
          </a:p>
        </p:txBody>
      </p:sp>
      <p:sp>
        <p:nvSpPr>
          <p:cNvPr id="21" name="Text 12"/>
          <p:cNvSpPr txBox="1"/>
          <p:nvPr/>
        </p:nvSpPr>
        <p:spPr>
          <a:xfrm>
            <a:off x="1410005" y="9087307"/>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짝이 오해한 지점은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고쳐야 할 결함</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입니까, 아니면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남겨야 할 여지</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입니까.</a:t>
            </a:r>
            <a:endParaRPr lang="en-US" sz="2175" dirty="0"/>
          </a:p>
        </p:txBody>
      </p:sp>
      <p:sp>
        <p:nvSpPr>
          <p:cNvPr id="22" name="Text 13"/>
          <p:cNvSpPr txBox="1"/>
          <p:nvPr/>
        </p:nvSpPr>
        <p:spPr>
          <a:xfrm>
            <a:off x="1143000" y="9924898"/>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판단이 6차시 캡션 작성의 핵심 결정이 된다. 지금 정답을 내리지 않고 학습지에 남긴다.</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7830007"/>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실패 유형 · 다섯 가지와 처방</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처방</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결과가 어긋나는 방식은 정해져 있다</a:t>
            </a:r>
            <a:endParaRPr lang="en-US" sz="34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5858561"/>
        </p:xfrm>
        <a:graphic>
          <a:graphicData uri="http://schemas.openxmlformats.org/drawingml/2006/table">
            <a:tbl>
              <a:tblPr/>
              <a:tblGrid>
                <a:gridCol w="2381098"/>
                <a:gridCol w="4190695"/>
                <a:gridCol w="4572000"/>
                <a:gridCol w="4857293"/>
              </a:tblGrid>
              <a:tr h="976427">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증상</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원인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고칠 줄과 방법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 기준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새 물건처럼</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번들거린다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 매몰 줄이 없거나 약하다. 도구는 기본값으로 </a:t>
                      </a:r>
                      <a:pPr indent="0" marL="0">
                        <a:buNone/>
                      </a:pPr>
                      <a:r>
                        <a:rPr lang="en-US" sz="1875" b="1" dirty="0">
                          <a:solidFill>
                            <a:srgbClr val="17150F"/>
                          </a:solidFill>
                          <a:latin typeface="Noto Serif KR" pitchFamily="34" charset="0"/>
                          <a:ea typeface="Noto Serif KR" pitchFamily="34" charset="-122"/>
                          <a:cs typeface="Noto Serif KR" pitchFamily="34" charset="-120"/>
                        </a:rPr>
                        <a:t>신품</a:t>
                      </a:r>
                      <a:pPr indent="0" marL="0">
                        <a:buNone/>
                      </a:pPr>
                      <a:r>
                        <a:rPr lang="en-US" sz="1875" dirty="0">
                          <a:solidFill>
                            <a:srgbClr val="3A362C"/>
                          </a:solidFill>
                          <a:latin typeface="Noto Serif KR" pitchFamily="34" charset="0"/>
                          <a:ea typeface="Noto Serif KR" pitchFamily="34" charset="-122"/>
                          <a:cs typeface="Noto Serif KR" pitchFamily="34" charset="-120"/>
                        </a:rPr>
                        <a:t>을 만든다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③에 </a:t>
                      </a:r>
                      <a:pPr indent="0" marL="0">
                        <a:buNone/>
                      </a:pPr>
                      <a:r>
                        <a:rPr lang="en-US" sz="1875" b="1" dirty="0">
                          <a:solidFill>
                            <a:srgbClr val="17150F"/>
                          </a:solidFill>
                          <a:latin typeface="Noto Serif KR" pitchFamily="34" charset="0"/>
                          <a:ea typeface="Noto Serif KR" pitchFamily="34" charset="-122"/>
                          <a:cs typeface="Noto Serif KR" pitchFamily="34" charset="-120"/>
                        </a:rPr>
                        <a:t>변색·경화·압착</a:t>
                      </a:r>
                      <a:pPr indent="0" marL="0">
                        <a:buNone/>
                      </a:pPr>
                      <a:r>
                        <a:rPr lang="en-US" sz="1875" dirty="0">
                          <a:solidFill>
                            <a:srgbClr val="3A362C"/>
                          </a:solidFill>
                          <a:latin typeface="Noto Serif KR" pitchFamily="34" charset="0"/>
                          <a:ea typeface="Noto Serif KR" pitchFamily="34" charset="-122"/>
                          <a:cs typeface="Noto Serif KR" pitchFamily="34" charset="-120"/>
                        </a:rPr>
                        <a:t> 중 두 가지를 명시</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표면에 </a:t>
                      </a:r>
                      <a:pPr indent="0" marL="0">
                        <a:buNone/>
                      </a:pPr>
                      <a:r>
                        <a:rPr lang="en-US" sz="1875" b="1" dirty="0">
                          <a:solidFill>
                            <a:srgbClr val="17150F"/>
                          </a:solidFill>
                          <a:latin typeface="Noto Serif KR" pitchFamily="34" charset="0"/>
                          <a:ea typeface="Noto Serif KR" pitchFamily="34" charset="-122"/>
                          <a:cs typeface="Noto Serif KR" pitchFamily="34" charset="-120"/>
                        </a:rPr>
                        <a:t>균일하지 않은 얼룩</a:t>
                      </a:r>
                      <a:pPr indent="0" marL="0">
                        <a:buNone/>
                      </a:pPr>
                      <a:r>
                        <a:rPr lang="en-US" sz="1875" dirty="0">
                          <a:solidFill>
                            <a:srgbClr val="3A362C"/>
                          </a:solidFill>
                          <a:latin typeface="Noto Serif KR" pitchFamily="34" charset="0"/>
                          <a:ea typeface="Noto Serif KR" pitchFamily="34" charset="-122"/>
                          <a:cs typeface="Noto Serif KR" pitchFamily="34" charset="-120"/>
                        </a:rPr>
                        <a:t>이 보인다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게임 아이템</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처럼 보인다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⑥ 금지 조건 누락. 도구가 빈자리를 </a:t>
                      </a:r>
                      <a:pPr indent="0" marL="0">
                        <a:buNone/>
                      </a:pPr>
                      <a:r>
                        <a:rPr lang="en-US" sz="1875" b="1" dirty="0">
                          <a:solidFill>
                            <a:srgbClr val="9C2A1F"/>
                          </a:solidFill>
                          <a:latin typeface="Noto Serif KR" pitchFamily="34" charset="0"/>
                          <a:ea typeface="Noto Serif KR" pitchFamily="34" charset="-122"/>
                          <a:cs typeface="Noto Serif KR" pitchFamily="34" charset="-120"/>
                        </a:rPr>
                        <a:t>장식으로 채운다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⑥에 “발광·문양·후광 없음” 추가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알 수 없는 문양이 사라진다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용도가 즉시</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읽힌다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① 지정에 기능 이름이 들어갔다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기능 이름 삭제, </a:t>
                      </a:r>
                      <a:pPr indent="0" marL="0">
                        <a:buNone/>
                      </a:pPr>
                      <a:r>
                        <a:rPr lang="en-US" sz="1875" b="1" dirty="0">
                          <a:solidFill>
                            <a:srgbClr val="17150F"/>
                          </a:solidFill>
                          <a:latin typeface="Noto Serif KR" pitchFamily="34" charset="0"/>
                          <a:ea typeface="Noto Serif KR" pitchFamily="34" charset="-122"/>
                          <a:cs typeface="Noto Serif KR" pitchFamily="34" charset="-120"/>
                        </a:rPr>
                        <a:t>부분 형태</a:t>
                      </a:r>
                      <a:pPr indent="0" marL="0">
                        <a:buNone/>
                      </a:pPr>
                      <a:r>
                        <a:rPr lang="en-US" sz="1875" dirty="0">
                          <a:solidFill>
                            <a:srgbClr val="3A362C"/>
                          </a:solidFill>
                          <a:latin typeface="Noto Serif KR" pitchFamily="34" charset="0"/>
                          <a:ea typeface="Noto Serif KR" pitchFamily="34" charset="-122"/>
                          <a:cs typeface="Noto Serif KR" pitchFamily="34" charset="-120"/>
                        </a:rPr>
                        <a:t>만 기술</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짝이 두 가지 이상 추정한다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흔적이 전혀</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안 보인다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부위 지정이 없다. “닳음”만 썼다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② 에 </a:t>
                      </a:r>
                      <a:pPr indent="0" marL="0">
                        <a:buNone/>
                      </a:pPr>
                      <a:r>
                        <a:rPr lang="en-US" sz="1875" b="1" dirty="0">
                          <a:solidFill>
                            <a:srgbClr val="17150F"/>
                          </a:solidFill>
                          <a:latin typeface="Noto Serif KR" pitchFamily="34" charset="0"/>
                          <a:ea typeface="Noto Serif KR" pitchFamily="34" charset="-122"/>
                          <a:cs typeface="Noto Serif KR" pitchFamily="34" charset="-120"/>
                        </a:rPr>
                        <a:t>위치＋방향</a:t>
                      </a:r>
                      <a:pPr indent="0" marL="0">
                        <a:buNone/>
                      </a:pPr>
                      <a:r>
                        <a:rPr lang="en-US" sz="1875" dirty="0">
                          <a:solidFill>
                            <a:srgbClr val="3A362C"/>
                          </a:solidFill>
                          <a:latin typeface="Noto Serif KR" pitchFamily="34" charset="0"/>
                          <a:ea typeface="Noto Serif KR" pitchFamily="34" charset="-122"/>
                          <a:cs typeface="Noto Serif KR" pitchFamily="34" charset="-120"/>
                        </a:rPr>
                        <a:t>을 넣는다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짝이 닳은 자리를 </a:t>
                      </a:r>
                      <a:pPr indent="0" marL="0">
                        <a:buNone/>
                      </a:pPr>
                      <a:r>
                        <a:rPr lang="en-US" sz="1875" b="1" dirty="0">
                          <a:solidFill>
                            <a:srgbClr val="17150F"/>
                          </a:solidFill>
                          <a:latin typeface="Noto Serif KR" pitchFamily="34" charset="0"/>
                          <a:ea typeface="Noto Serif KR" pitchFamily="34" charset="-122"/>
                          <a:cs typeface="Noto Serif KR" pitchFamily="34" charset="-120"/>
                        </a:rPr>
                        <a:t>손가락으로 가리킬 수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글자나 기호가</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박혀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이미지에 텍스트를 요구했다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텍스트 요구 삭제 — 글자는 </a:t>
                      </a:r>
                      <a:pPr indent="0" marL="0">
                        <a:buNone/>
                      </a:pPr>
                      <a:r>
                        <a:rPr lang="en-US" sz="1875" b="1" dirty="0">
                          <a:solidFill>
                            <a:srgbClr val="9C2A1F"/>
                          </a:solidFill>
                          <a:latin typeface="Noto Serif KR" pitchFamily="34" charset="0"/>
                          <a:ea typeface="Noto Serif KR" pitchFamily="34" charset="-122"/>
                          <a:cs typeface="Noto Serif KR" pitchFamily="34" charset="-120"/>
                        </a:rPr>
                        <a:t>작품 캡션의 몫</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화면에 판독 불가 기호가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8134502"/>
            <a:ext cx="7810805"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①이 압도적으로 많다</a:t>
            </a:r>
            <a:endParaRPr lang="en-US" sz="1575" dirty="0"/>
          </a:p>
        </p:txBody>
      </p:sp>
      <p:pic>
        <p:nvPicPr>
          <p:cNvPr id="10" name="Image 2" descr="gen-dedup-8daa7bbad9e138f694b547871d64bad8.png">    </p:cNvPr>
          <p:cNvPicPr>
            <a:picLocks noChangeAspect="1"/>
          </p:cNvPicPr>
          <p:nvPr/>
        </p:nvPicPr>
        <p:blipFill>
          <a:blip r:embed="rId4"/>
          <a:stretch/>
        </p:blipFill>
        <p:spPr>
          <a:xfrm>
            <a:off x="1582731" y="8753551"/>
            <a:ext cx="6931342" cy="9144"/>
          </a:xfrm>
          <a:prstGeom prst="rect">
            <a:avLst/>
          </a:prstGeom>
        </p:spPr>
      </p:pic>
      <p:sp>
        <p:nvSpPr>
          <p:cNvPr id="11" name="Text 5"/>
          <p:cNvSpPr txBox="1"/>
          <p:nvPr/>
        </p:nvSpPr>
        <p:spPr>
          <a:xfrm>
            <a:off x="1438351"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4차시 자기 점검표에서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⑧ 매몰 흔적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강조한 이유가 여기서 드러난다. 시간이 지난 흔적은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문장으로 지정하지 않으면 나오지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12" name="Shape 6"/>
          <p:cNvSpPr/>
          <p:nvPr/>
        </p:nvSpPr>
        <p:spPr>
          <a:xfrm>
            <a:off x="9334195" y="8134502"/>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83530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시연 순서</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753551"/>
            <a:ext cx="6931342" cy="9144"/>
          </a:xfrm>
          <a:prstGeom prst="rect">
            <a:avLst/>
          </a:prstGeom>
        </p:spPr>
      </p:pic>
      <p:sp>
        <p:nvSpPr>
          <p:cNvPr id="15" name="Text 8"/>
          <p:cNvSpPr txBox="1"/>
          <p:nvPr/>
        </p:nvSpPr>
        <p:spPr>
          <a:xfrm>
            <a:off x="9629546" y="8896198"/>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선생님가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일부러 ①을 만들어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보여 준다. 매몰 줄을 뺀 프롬프트로 1회 생성하고, 한 줄 추가 후 다시 생성해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한 줄의 효과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눈으로 확인시킨다.</a:t>
            </a:r>
            <a:endParaRPr lang="en-US" sz="1800" dirty="0"/>
          </a:p>
        </p:txBody>
      </p:sp>
      <p:sp>
        <p:nvSpPr>
          <p:cNvPr id="16" name="Text 9"/>
          <p:cNvSpPr txBox="1"/>
          <p:nvPr/>
        </p:nvSpPr>
        <p:spPr>
          <a:xfrm>
            <a:off x="1143000" y="9963302"/>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다섯 유형은 학습지 [별지 5] 2면 하단에 인쇄해 두어 여러분이 스스로 진단하게 한다.</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2c696d9bf1d277b8845cdbe7df7b779f.jpg">    </p:cNvPr>
          <p:cNvPicPr>
            <a:picLocks noChangeAspect="1"/>
          </p:cNvPicPr>
          <p:nvPr/>
        </p:nvPicPr>
        <p:blipFill>
          <a:blip r:embed="rId2">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103–115분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 이미지의</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저자는 누구인가</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감상이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이미 내려진 결정들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본다. 미국 저작권청은 네 차례, 법원은 한 차례 판단했다. 한국은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2026년부터 표시를 의무화</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전개 5 — 저자성</a:t>
            </a:r>
            <a:endParaRPr lang="en-US" sz="16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5658307"/>
            <a:ext cx="9731964" cy="28346"/>
          </a:xfrm>
          <a:prstGeom prst="rect">
            <a:avLst/>
          </a:prstGeom>
        </p:spPr>
      </p:pic>
      <p:pic>
        <p:nvPicPr>
          <p:cNvPr id="4" name="Image 2" descr="gen-dedup-ce87182226452a8c3e765dcc253b345b.png">    </p:cNvPr>
          <p:cNvPicPr>
            <a:picLocks noChangeAspect="1"/>
          </p:cNvPicPr>
          <p:nvPr/>
        </p:nvPicPr>
        <p:blipFill>
          <a:blip r:embed="rId4"/>
          <a:stretch/>
        </p:blipFill>
        <p:spPr>
          <a:xfrm>
            <a:off x="11730980" y="5753405"/>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『새벽의 자리야』 부분 취소(2023)</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사례 ①</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이미지는 취소, 배열은 인정</a:t>
            </a:r>
            <a:endParaRPr lang="en-US" sz="34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686861"/>
        </p:xfrm>
        <a:graphic>
          <a:graphicData uri="http://schemas.openxmlformats.org/drawingml/2006/table">
            <a:tbl>
              <a:tblPr/>
              <a:tblGrid>
                <a:gridCol w="1714500"/>
                <a:gridCol w="8096098"/>
              </a:tblGrid>
              <a:tr h="73737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시점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경과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2022. 9</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크리스 카슈타노바가 미드저니로 만든 이미지를 포함한 그래픽 노블을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저작권 등록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2023. 2. 21</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미국 저작권청이 </a:t>
                      </a:r>
                      <a:pPr indent="0" marL="0">
                        <a:buNone/>
                      </a:pPr>
                      <a:r>
                        <a:rPr lang="en-US" sz="1875" b="1" dirty="0">
                          <a:solidFill>
                            <a:srgbClr val="9C2A1F"/>
                          </a:solidFill>
                          <a:latin typeface="Noto Serif KR" pitchFamily="34" charset="0"/>
                          <a:ea typeface="Noto Serif KR" pitchFamily="34" charset="-122"/>
                          <a:cs typeface="Noto Serif KR" pitchFamily="34" charset="-120"/>
                        </a:rPr>
                        <a:t>AI 생성 이미지 18점의 저작권을 부분 취소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인정된 부분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텍스트</a:t>
                      </a:r>
                      <a:pPr indent="0" marL="0">
                        <a:buNone/>
                      </a:pPr>
                      <a:r>
                        <a:rPr lang="en-US" sz="1875" dirty="0">
                          <a:solidFill>
                            <a:srgbClr val="3A362C"/>
                          </a:solidFill>
                          <a:latin typeface="Noto Serif KR" pitchFamily="34" charset="0"/>
                          <a:ea typeface="Noto Serif KR" pitchFamily="34" charset="-122"/>
                          <a:cs typeface="Noto Serif KR" pitchFamily="34" charset="-120"/>
                        </a:rPr>
                        <a:t>, 이미지의 </a:t>
                      </a:r>
                      <a:pPr indent="0" marL="0">
                        <a:buNone/>
                      </a:pPr>
                      <a:r>
                        <a:rPr lang="en-US" sz="1875" b="1" dirty="0">
                          <a:solidFill>
                            <a:srgbClr val="17150F"/>
                          </a:solidFill>
                          <a:latin typeface="Noto Serif KR" pitchFamily="34" charset="0"/>
                          <a:ea typeface="Noto Serif KR" pitchFamily="34" charset="-122"/>
                          <a:cs typeface="Noto Serif KR" pitchFamily="34" charset="-120"/>
                        </a:rPr>
                        <a:t>선택·배열·조정</a:t>
                      </a:r>
                      <a:pPr indent="0" marL="0">
                        <a:buNone/>
                      </a:pPr>
                      <a:r>
                        <a:rPr lang="en-US" sz="1875" dirty="0">
                          <a:solidFill>
                            <a:srgbClr val="3A362C"/>
                          </a:solidFill>
                          <a:latin typeface="Noto Serif KR" pitchFamily="34" charset="0"/>
                          <a:ea typeface="Noto Serif KR" pitchFamily="34" charset="-122"/>
                          <a:cs typeface="Noto Serif KR" pitchFamily="34" charset="-120"/>
                        </a:rPr>
                        <a:t> — 인간이 한 결정</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취소된 부분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생성된 </a:t>
                      </a:r>
                      <a:pPr indent="0" marL="0">
                        <a:buNone/>
                      </a:pPr>
                      <a:r>
                        <a:rPr lang="en-US" sz="1875" b="1" dirty="0">
                          <a:solidFill>
                            <a:srgbClr val="9C2A1F"/>
                          </a:solidFill>
                          <a:latin typeface="Noto Serif KR" pitchFamily="34" charset="0"/>
                          <a:ea typeface="Noto Serif KR" pitchFamily="34" charset="-122"/>
                          <a:cs typeface="Noto Serif KR" pitchFamily="34" charset="-120"/>
                        </a:rPr>
                        <a:t>이미지 자체</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5962802"/>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저작권청이 밝힌 이유</a:t>
            </a:r>
            <a:endParaRPr lang="en-US" sz="1650" dirty="0"/>
          </a:p>
        </p:txBody>
      </p:sp>
      <p:sp>
        <p:nvSpPr>
          <p:cNvPr id="10" name="Text 4"/>
          <p:cNvSpPr txBox="1"/>
          <p:nvPr/>
        </p:nvSpPr>
        <p:spPr>
          <a:xfrm>
            <a:off x="1143000" y="6362395"/>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이용자가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어떻게 이미지가 생성되는지 직접 통제할 수 없다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는 것이었다. 프롬프트를 썼다는 사실만으로는 결과물에 대한 통제로 보지 않았다. 따라서 생성된 이미지는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인간 저작물이 아니다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11" name="Shape 5"/>
          <p:cNvSpPr/>
          <p:nvPr/>
        </p:nvSpPr>
        <p:spPr>
          <a:xfrm>
            <a:off x="1143000" y="7981798"/>
            <a:ext cx="9810598" cy="198150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823874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결정이 우리에게 말해 주는 것</a:t>
            </a:r>
            <a:endParaRPr lang="en-US" sz="1650" dirty="0"/>
          </a:p>
        </p:txBody>
      </p:sp>
      <p:pic>
        <p:nvPicPr>
          <p:cNvPr id="13" name="Image 3" descr="gen-dedup-7cde0152aae0e987b34280df86a6917f.png">    </p:cNvPr>
          <p:cNvPicPr>
            <a:picLocks noChangeAspect="1"/>
          </p:cNvPicPr>
          <p:nvPr/>
        </p:nvPicPr>
        <p:blipFill>
          <a:blip r:embed="rId5"/>
          <a:stretch/>
        </p:blipFill>
        <p:spPr>
          <a:xfrm>
            <a:off x="1641174" y="8695944"/>
            <a:ext cx="8815165" cy="9144"/>
          </a:xfrm>
          <a:prstGeom prst="rect">
            <a:avLst/>
          </a:prstGeom>
        </p:spPr>
      </p:pic>
      <p:sp>
        <p:nvSpPr>
          <p:cNvPr id="14" name="Text 7"/>
          <p:cNvSpPr txBox="1"/>
          <p:nvPr/>
        </p:nvSpPr>
        <p:spPr>
          <a:xfrm>
            <a:off x="1457554" y="887699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저작권이 인정된 부분이 정확히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1차시에서 배운 세 가지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 선택, 명명, 배열. 법이 인정한 창작 행위와 뒤샹이 발명한 창작 행위가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같은 목록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이라는 점을 여러분에게 확인시킨다.</a:t>
            </a:r>
            <a:endParaRPr lang="en-US" sz="1875" dirty="0"/>
          </a:p>
        </p:txBody>
      </p:sp>
      <p:sp>
        <p:nvSpPr>
          <p:cNvPr id="29" name="Text 22"/>
          <p:cNvSpPr txBox="1"/>
          <p:nvPr/>
        </p:nvSpPr>
        <p:spPr>
          <a:xfrm>
            <a:off x="11620195" y="5410505"/>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작업에서 ‘인간의 결정’ 목록</a:t>
            </a:r>
            <a:endParaRPr lang="en-US" sz="1650" dirty="0"/>
          </a:p>
        </p:txBody>
      </p:sp>
      <p:sp>
        <p:nvSpPr>
          <p:cNvPr id="30" name="Text 23"/>
          <p:cNvSpPr txBox="1"/>
          <p:nvPr/>
        </p:nvSpPr>
        <p:spPr>
          <a:xfrm>
            <a:off x="11620195" y="6019495"/>
            <a:ext cx="5524805" cy="24487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사물을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고를지</a:t>
            </a:r>
            <a:pPr algn="l" indent="0" marL="0">
              <a:buNone/>
            </a:pPr>
            <a:r>
              <a:rPr lang="en-US" sz="1725" dirty="0">
                <a:solidFill>
                  <a:srgbClr val="3A362C"/>
                </a:solidFill>
                <a:latin typeface="Noto Serif KR" pitchFamily="34" charset="0"/>
                <a:ea typeface="Noto Serif KR" pitchFamily="34" charset="-122"/>
                <a:cs typeface="Noto Serif KR" pitchFamily="34" charset="-120"/>
              </a:rPr>
              <a:t> 정했다 — 4차시</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이름</a:t>
            </a:r>
            <a:pPr algn="l" indent="0" marL="0">
              <a:buNone/>
            </a:pPr>
            <a:r>
              <a:rPr lang="en-US" sz="1725" dirty="0">
                <a:solidFill>
                  <a:srgbClr val="3A362C"/>
                </a:solidFill>
                <a:latin typeface="Noto Serif KR" pitchFamily="34" charset="0"/>
                <a:ea typeface="Noto Serif KR" pitchFamily="34" charset="-122"/>
                <a:cs typeface="Noto Serif KR" pitchFamily="34" charset="-120"/>
              </a:rPr>
              <a:t>을 붙일지 정했다 — 4차시</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세 결과 중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하나를 선택</a:t>
            </a:r>
            <a:pPr algn="l" indent="0" marL="0">
              <a:buNone/>
            </a:pPr>
            <a:r>
              <a:rPr lang="en-US" sz="1725" dirty="0">
                <a:solidFill>
                  <a:srgbClr val="3A362C"/>
                </a:solidFill>
                <a:latin typeface="Noto Serif KR" pitchFamily="34" charset="0"/>
                <a:ea typeface="Noto Serif KR" pitchFamily="34" charset="-122"/>
                <a:cs typeface="Noto Serif KR" pitchFamily="34" charset="-120"/>
              </a:rPr>
              <a:t>했다 — 오늘</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캡션</a:t>
            </a:r>
            <a:pPr algn="l" indent="0" marL="0">
              <a:buNone/>
            </a:pPr>
            <a:r>
              <a:rPr lang="en-US" sz="1725" dirty="0">
                <a:solidFill>
                  <a:srgbClr val="3A362C"/>
                </a:solidFill>
                <a:latin typeface="Noto Serif KR" pitchFamily="34" charset="0"/>
                <a:ea typeface="Noto Serif KR" pitchFamily="34" charset="-122"/>
                <a:cs typeface="Noto Serif KR" pitchFamily="34" charset="-120"/>
              </a:rPr>
              <a:t>을 붙일지 정한다 — 6차시</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어떤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순서로 진열</a:t>
            </a:r>
            <a:pPr algn="l" indent="0" marL="0">
              <a:buNone/>
            </a:pPr>
            <a:r>
              <a:rPr lang="en-US" sz="1725" dirty="0">
                <a:solidFill>
                  <a:srgbClr val="3A362C"/>
                </a:solidFill>
                <a:latin typeface="Noto Serif KR" pitchFamily="34" charset="0"/>
                <a:ea typeface="Noto Serif KR" pitchFamily="34" charset="-122"/>
                <a:cs typeface="Noto Serif KR" pitchFamily="34" charset="-120"/>
              </a:rPr>
              <a:t>할지 정한다 — 7차시</a:t>
            </a:r>
            <a:endParaRPr lang="en-US" sz="1200" dirty="0"/>
          </a:p>
        </p:txBody>
      </p:sp>
      <p:sp>
        <p:nvSpPr>
          <p:cNvPr id="31" name="Shape 24"/>
          <p:cNvSpPr/>
          <p:nvPr/>
        </p:nvSpPr>
        <p:spPr>
          <a:xfrm>
            <a:off x="11620195" y="8744407"/>
            <a:ext cx="5524805" cy="1171346"/>
          </a:xfrm>
          <a:prstGeom prst="rect">
            <a:avLst/>
          </a:prstGeom>
          <a:solidFill>
            <a:srgbClr val="FFFFFF">
              <a:alpha val="36000"/>
            </a:srgbClr>
          </a:solidFill>
          <a:ln w="12700">
            <a:solidFill>
              <a:srgbClr val="BEB6A5"/>
            </a:solidFill>
            <a:prstDash val="solid"/>
          </a:ln>
        </p:spPr>
      </p:sp>
      <p:sp>
        <p:nvSpPr>
          <p:cNvPr id="32" name="Text 25"/>
          <p:cNvSpPr txBox="1"/>
          <p:nvPr/>
        </p:nvSpPr>
        <p:spPr>
          <a:xfrm>
            <a:off x="11878056" y="8943746"/>
            <a:ext cx="50109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목록이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우리 작품의 저작 부분</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 8차시 성찰문에서 이 목록을 자기 것으로 다시 쓴다.</a:t>
            </a:r>
            <a:endParaRPr lang="en-US" sz="1725"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44961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제도 · 미국 저작권청 등록 지침(2023 · 2025)</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제도</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고지 의무가 있다</a:t>
            </a:r>
            <a:endParaRPr lang="en-US" sz="3450" dirty="0"/>
          </a:p>
        </p:txBody>
      </p:sp>
      <p:sp>
        <p:nvSpPr>
          <p:cNvPr id="7" name="Text 3"/>
          <p:cNvSpPr txBox="1"/>
          <p:nvPr/>
        </p:nvSpPr>
        <p:spPr>
          <a:xfrm>
            <a:off x="1143000" y="2381098"/>
            <a:ext cx="16002000" cy="391363"/>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“Applicants have a duty to disclose the inclusion of AI-generated content in a work submitted to the Office.”</a:t>
            </a:r>
            <a:endParaRPr lang="en-US" sz="1875" dirty="0"/>
          </a:p>
        </p:txBody>
      </p:sp>
      <p:sp>
        <p:nvSpPr>
          <p:cNvPr id="8" name="Text 4"/>
          <p:cNvSpPr txBox="1"/>
          <p:nvPr/>
        </p:nvSpPr>
        <p:spPr>
          <a:xfrm>
            <a:off x="1143000" y="2881274"/>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신청자는 제출하는 저작물에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AI 생성 콘텐츠가 포함되어 있음을 고지할 의무</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있다.</a:t>
            </a:r>
            <a:endParaRPr lang="en-US" sz="1800" dirty="0"/>
          </a:p>
        </p:txBody>
      </p:sp>
      <p:sp>
        <p:nvSpPr>
          <p:cNvPr id="9" name="Text 5"/>
          <p:cNvSpPr txBox="1"/>
          <p:nvPr/>
        </p:nvSpPr>
        <p:spPr>
          <a:xfrm>
            <a:off x="1143000" y="3369564"/>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「Copyright Registration Guidance: Works Containing Material Generated by Artificial Intelligence」, 88 Fed. Reg. 16190(2023. 3. 16)</a:t>
            </a:r>
            <a:endParaRPr lang="en-US" sz="16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4800600"/>
          <a:ext cx="16002000" cy="3096158"/>
        </p:xfrm>
        <a:graphic>
          <a:graphicData uri="http://schemas.openxmlformats.org/drawingml/2006/table">
            <a:tbl>
              <a:tblPr/>
              <a:tblGrid>
                <a:gridCol w="1904695"/>
                <a:gridCol w="4000500"/>
                <a:gridCol w="10096805"/>
              </a:tblGrid>
              <a:tr h="103205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시점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문서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핵심 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2023. 3. 16</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등록 지침</a:t>
                      </a:r>
                      <a:pPr indent="0" marL="0">
                        <a:buNone/>
                      </a:pPr>
                      <a:endParaRPr lang="en-US" sz="1200" dirty="0"/>
                    </a:p>
                    <a:p>
                      <a:pPr indent="0" marL="0">
                        <a:buNone/>
                      </a:pPr>
                      <a:r>
                        <a:rPr lang="en-US" sz="1875" dirty="0">
                          <a:solidFill>
                            <a:srgbClr val="3A362C"/>
                          </a:solidFill>
                          <a:latin typeface="Noto Serif KR" pitchFamily="34" charset="0"/>
                          <a:ea typeface="Noto Serif KR" pitchFamily="34" charset="-122"/>
                          <a:cs typeface="Noto Serif KR" pitchFamily="34" charset="-120"/>
                        </a:rPr>
                        <a:t>88 Fed. Reg. 16190</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인간 저작성</a:t>
                      </a:r>
                      <a:pPr indent="0" marL="0">
                        <a:buNone/>
                      </a:pPr>
                      <a:r>
                        <a:rPr lang="en-US" sz="1875" dirty="0">
                          <a:solidFill>
                            <a:srgbClr val="3A362C"/>
                          </a:solidFill>
                          <a:latin typeface="Noto Serif KR" pitchFamily="34" charset="0"/>
                          <a:ea typeface="Noto Serif KR" pitchFamily="34" charset="-122"/>
                          <a:cs typeface="Noto Serif KR" pitchFamily="34" charset="-120"/>
                        </a:rPr>
                        <a:t>을 등록의 필수 조건으로 명시. AI 생성 부분 포함 여부를 </a:t>
                      </a:r>
                      <a:pPr indent="0" marL="0">
                        <a:buNone/>
                      </a:pPr>
                      <a:r>
                        <a:rPr lang="en-US" sz="1875" b="1" dirty="0">
                          <a:solidFill>
                            <a:srgbClr val="9C2A1F"/>
                          </a:solidFill>
                          <a:latin typeface="Noto Serif KR" pitchFamily="34" charset="0"/>
                          <a:ea typeface="Noto Serif KR" pitchFamily="34" charset="-122"/>
                          <a:cs typeface="Noto Serif KR" pitchFamily="34" charset="-120"/>
                        </a:rPr>
                        <a:t>신청자가 고지</a:t>
                      </a:r>
                      <a:pPr indent="0" marL="0">
                        <a:buNone/>
                      </a:pPr>
                      <a:r>
                        <a:rPr lang="en-US" sz="1875" dirty="0">
                          <a:solidFill>
                            <a:srgbClr val="3A362C"/>
                          </a:solidFill>
                          <a:latin typeface="Noto Serif KR" pitchFamily="34" charset="0"/>
                          <a:ea typeface="Noto Serif KR" pitchFamily="34" charset="-122"/>
                          <a:cs typeface="Noto Serif KR" pitchFamily="34" charset="-120"/>
                        </a:rPr>
                        <a:t>해야 하며, 그 부분은 인간 저작물에 해당하지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2025. 1. 29</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「Copyright and Artificial Intelligence, Part 2: Copyrightability」</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생성형 AI 산출물은 </a:t>
                      </a:r>
                      <a:pPr indent="0" marL="0">
                        <a:buNone/>
                      </a:pPr>
                      <a:r>
                        <a:rPr lang="en-US" sz="1875" b="1" dirty="0">
                          <a:solidFill>
                            <a:srgbClr val="17150F"/>
                          </a:solidFill>
                          <a:latin typeface="Noto Serif KR" pitchFamily="34" charset="0"/>
                          <a:ea typeface="Noto Serif KR" pitchFamily="34" charset="-122"/>
                          <a:cs typeface="Noto Serif KR" pitchFamily="34" charset="-120"/>
                        </a:rPr>
                        <a:t>인간 저작자가 없으면 저작권을 받을 수 없다</a:t>
                      </a:r>
                      <a:pPr indent="0" marL="0">
                        <a:buNone/>
                      </a:pPr>
                      <a:r>
                        <a:rPr lang="en-US" sz="1875" dirty="0">
                          <a:solidFill>
                            <a:srgbClr val="3A362C"/>
                          </a:solidFill>
                          <a:latin typeface="Noto Serif KR" pitchFamily="34" charset="0"/>
                          <a:ea typeface="Noto Serif KR" pitchFamily="34" charset="-122"/>
                          <a:cs typeface="Noto Serif KR" pitchFamily="34" charset="-120"/>
                        </a:rPr>
                        <a:t>는 결론을 재확립.</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43000" y="7144207"/>
            <a:ext cx="7810805" cy="1857146"/>
          </a:xfrm>
          <a:prstGeom prst="rect">
            <a:avLst/>
          </a:prstGeom>
          <a:solidFill>
            <a:srgbClr val="9C2A1F">
              <a:alpha val="6000"/>
            </a:srgbClr>
          </a:solidFill>
          <a:ln w="12700">
            <a:solidFill>
              <a:srgbClr val="9C2A1F"/>
            </a:solidFill>
            <a:prstDash val="solid"/>
          </a:ln>
        </p:spPr>
      </p:sp>
      <p:sp>
        <p:nvSpPr>
          <p:cNvPr id="12" name="Text 7"/>
          <p:cNvSpPr txBox="1"/>
          <p:nvPr/>
        </p:nvSpPr>
        <p:spPr>
          <a:xfrm>
            <a:off x="1438351" y="73819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‘고지 의무’라는 발상</a:t>
            </a:r>
            <a:endParaRPr lang="en-US" sz="1575" dirty="0"/>
          </a:p>
        </p:txBody>
      </p:sp>
      <p:pic>
        <p:nvPicPr>
          <p:cNvPr id="13" name="Image 2" descr="gen-dedup-8daa7bbad9e138f694b547871d64bad8.png">    </p:cNvPr>
          <p:cNvPicPr>
            <a:picLocks noChangeAspect="1"/>
          </p:cNvPicPr>
          <p:nvPr/>
        </p:nvPicPr>
        <p:blipFill>
          <a:blip r:embed="rId4"/>
          <a:stretch/>
        </p:blipFill>
        <p:spPr>
          <a:xfrm>
            <a:off x="1582731" y="7800746"/>
            <a:ext cx="6931342" cy="9144"/>
          </a:xfrm>
          <a:prstGeom prst="rect">
            <a:avLst/>
          </a:prstGeom>
        </p:spPr>
      </p:pic>
      <p:sp>
        <p:nvSpPr>
          <p:cNvPr id="14" name="Text 8"/>
          <p:cNvSpPr txBox="1"/>
          <p:nvPr/>
        </p:nvSpPr>
        <p:spPr>
          <a:xfrm>
            <a:off x="1438351" y="79625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제도는 AI 사용을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금지하지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대신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밝히라고 요구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이 구조가 2차시에서 확인한 파라픽션의 표기 윤리와 정확히 같다.</a:t>
            </a:r>
            <a:endParaRPr lang="en-US" sz="1800" dirty="0"/>
          </a:p>
        </p:txBody>
      </p:sp>
      <p:sp>
        <p:nvSpPr>
          <p:cNvPr id="15" name="Shape 9"/>
          <p:cNvSpPr/>
          <p:nvPr/>
        </p:nvSpPr>
        <p:spPr>
          <a:xfrm>
            <a:off x="9334195" y="7144207"/>
            <a:ext cx="7810805" cy="1857146"/>
          </a:xfrm>
          <a:prstGeom prst="rect">
            <a:avLst/>
          </a:prstGeom>
          <a:solidFill>
            <a:srgbClr val="FFFFFF">
              <a:alpha val="36000"/>
            </a:srgbClr>
          </a:solidFill>
          <a:ln w="12700">
            <a:solidFill>
              <a:srgbClr val="BEB6A5"/>
            </a:solidFill>
            <a:prstDash val="solid"/>
          </a:ln>
        </p:spPr>
      </p:sp>
      <p:sp>
        <p:nvSpPr>
          <p:cNvPr id="16" name="Text 10"/>
          <p:cNvSpPr txBox="1"/>
          <p:nvPr/>
        </p:nvSpPr>
        <p:spPr>
          <a:xfrm>
            <a:off x="9629546" y="73819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전시의 ⑨번 칸</a:t>
            </a:r>
            <a:endParaRPr lang="en-US" sz="1575" dirty="0"/>
          </a:p>
        </p:txBody>
      </p:sp>
      <p:pic>
        <p:nvPicPr>
          <p:cNvPr id="17" name="Image 3" descr="gen-dedup-8daa7bbad9e138f694b547871d64bad8.png">    </p:cNvPr>
          <p:cNvPicPr>
            <a:picLocks noChangeAspect="1"/>
          </p:cNvPicPr>
          <p:nvPr/>
        </p:nvPicPr>
        <p:blipFill>
          <a:blip r:embed="rId4"/>
          <a:stretch/>
        </p:blipFill>
        <p:spPr>
          <a:xfrm>
            <a:off x="9773926" y="7800746"/>
            <a:ext cx="6931342" cy="9144"/>
          </a:xfrm>
          <a:prstGeom prst="rect">
            <a:avLst/>
          </a:prstGeom>
        </p:spPr>
      </p:pic>
      <p:sp>
        <p:nvSpPr>
          <p:cNvPr id="18" name="Text 11"/>
          <p:cNvSpPr txBox="1"/>
          <p:nvPr/>
        </p:nvSpPr>
        <p:spPr>
          <a:xfrm>
            <a:off x="9629546" y="79625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카드 ⑨ 허구 표기가 바로 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고지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우리는 저작권 등록을 하지 않지만,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제도가 요구하는 최소 기준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스스로 지킨다.</a:t>
            </a:r>
            <a:endParaRPr lang="en-US" sz="1800" dirty="0"/>
          </a:p>
        </p:txBody>
      </p:sp>
      <p:sp>
        <p:nvSpPr>
          <p:cNvPr id="19" name="Text 12"/>
          <p:cNvSpPr txBox="1"/>
          <p:nvPr/>
        </p:nvSpPr>
        <p:spPr>
          <a:xfrm>
            <a:off x="1410005" y="9124798"/>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고지를 하면 문제가 없어집니까. 아니면 고지는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시작</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일 뿐입니까.</a:t>
            </a:r>
            <a:endParaRPr lang="en-US" sz="2175" dirty="0"/>
          </a:p>
        </p:txBody>
      </p:sp>
      <p:sp>
        <p:nvSpPr>
          <p:cNvPr id="20" name="Text 13"/>
          <p:cNvSpPr txBox="1"/>
          <p:nvPr/>
        </p:nvSpPr>
        <p:spPr>
          <a:xfrm>
            <a:off x="1143000" y="9963302"/>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질문은 8차시 “고지가 면죄부가 될 수 있는가”에서 다시 다룬다.</a:t>
            </a:r>
            <a:endParaRPr lang="en-US" sz="16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46863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판례 · 세일러 대 펄머터(2025)</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판례</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저자는 인간이어야 한다</a:t>
            </a:r>
            <a:endParaRPr lang="en-US" sz="3450" dirty="0"/>
          </a:p>
        </p:txBody>
      </p:sp>
      <p:sp>
        <p:nvSpPr>
          <p:cNvPr id="8" name="Text 3"/>
          <p:cNvSpPr txBox="1"/>
          <p:nvPr/>
        </p:nvSpPr>
        <p:spPr>
          <a:xfrm>
            <a:off x="1143000" y="2381098"/>
            <a:ext cx="9811512" cy="866851"/>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“The Copyright Act requires all eligible works to be authored by a human being.”</a:t>
            </a:r>
            <a:endParaRPr lang="en-US" sz="2100" dirty="0"/>
          </a:p>
        </p:txBody>
      </p:sp>
      <p:sp>
        <p:nvSpPr>
          <p:cNvPr id="9" name="Text 4"/>
          <p:cNvSpPr txBox="1"/>
          <p:nvPr/>
        </p:nvSpPr>
        <p:spPr>
          <a:xfrm>
            <a:off x="1143000" y="3378708"/>
            <a:ext cx="9811512" cy="428854"/>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저작권법은 보호 대상이 되는 모든 저작물이 </a:t>
            </a:r>
            <a:pPr algn="l" indent="0" marL="0">
              <a:buNone/>
            </a:pPr>
            <a:r>
              <a:rPr lang="en-US" sz="1950" b="1" dirty="0">
                <a:solidFill>
                  <a:srgbClr val="9C2A1F"/>
                </a:solidFill>
                <a:latin typeface="Noto Serif KR" pitchFamily="34" charset="0"/>
                <a:ea typeface="Noto Serif KR" pitchFamily="34" charset="-122"/>
                <a:cs typeface="Noto Serif KR" pitchFamily="34" charset="-120"/>
              </a:rPr>
              <a:t>인간에 의해 저작될 것</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요구한다.</a:t>
            </a:r>
            <a:endParaRPr lang="en-US" sz="1950" dirty="0"/>
          </a:p>
        </p:txBody>
      </p:sp>
      <p:sp>
        <p:nvSpPr>
          <p:cNvPr id="10" name="Text 5"/>
          <p:cNvSpPr txBox="1"/>
          <p:nvPr/>
        </p:nvSpPr>
        <p:spPr>
          <a:xfrm>
            <a:off x="1143000" y="3899916"/>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미국 연방순회항소법원(D.C. Cir.) 2025년 3월 18일 판결 · 사건번호 23-5233</a:t>
            </a:r>
            <a:endParaRPr lang="en-US" sz="1650" dirty="0"/>
          </a:p>
        </p:txBody>
      </p:sp>
      <p:sp>
        <p:nvSpPr>
          <p:cNvPr id="11" name="Text 6"/>
          <p:cNvSpPr txBox="1"/>
          <p:nvPr/>
        </p:nvSpPr>
        <p:spPr>
          <a:xfrm>
            <a:off x="1143000" y="4990795"/>
            <a:ext cx="9811512" cy="1324051"/>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스티븐 세일러는 자신의 AI 시스템 ‘Creativity Machine’이 만든 작품을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그 시스템 이름으로</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등록하려 했다. 저작권청이 거절했고, 지방법원과 항소법원이 모두 거절을 유지했다. 판단의 근거는 간단하다 —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법이 요구하는 저자는 사람</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a:t>
            </a:r>
            <a:endParaRPr lang="en-US" sz="1950" dirty="0"/>
          </a:p>
        </p:txBody>
      </p:sp>
      <p:sp>
        <p:nvSpPr>
          <p:cNvPr id="12" name="Shape 7"/>
          <p:cNvSpPr/>
          <p:nvPr/>
        </p:nvSpPr>
        <p:spPr>
          <a:xfrm>
            <a:off x="1143000" y="6667805"/>
            <a:ext cx="9810598" cy="2714854"/>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6924751"/>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판결이 정리한 것과 남긴 것</a:t>
            </a:r>
            <a:endParaRPr lang="en-US" sz="1650" dirty="0"/>
          </a:p>
        </p:txBody>
      </p:sp>
      <p:pic>
        <p:nvPicPr>
          <p:cNvPr id="14" name="Image 3" descr="gen-dedup-7cde0152aae0e987b34280df86a6917f.png">    </p:cNvPr>
          <p:cNvPicPr>
            <a:picLocks noChangeAspect="1"/>
          </p:cNvPicPr>
          <p:nvPr/>
        </p:nvPicPr>
        <p:blipFill>
          <a:blip r:embed="rId5"/>
          <a:stretch/>
        </p:blipFill>
        <p:spPr>
          <a:xfrm>
            <a:off x="1641174" y="7381951"/>
            <a:ext cx="8815165" cy="9144"/>
          </a:xfrm>
          <a:prstGeom prst="rect">
            <a:avLst/>
          </a:prstGeom>
        </p:spPr>
      </p:pic>
      <p:sp>
        <p:nvSpPr>
          <p:cNvPr id="15" name="Text 9"/>
          <p:cNvSpPr txBox="1"/>
          <p:nvPr/>
        </p:nvSpPr>
        <p:spPr>
          <a:xfrm>
            <a:off x="1457554" y="7563002"/>
            <a:ext cx="9182405" cy="41971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정리된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 — 기계는 저자가 될 수 없다. 이 점은 확정되었다.</a:t>
            </a:r>
            <a:endParaRPr lang="en-US" sz="1875" dirty="0"/>
          </a:p>
        </p:txBody>
      </p:sp>
      <p:pic>
        <p:nvPicPr>
          <p:cNvPr id="16" name="Image 4" descr="gen-dedup-30ab6479ac51d488179e17cc12ddf881.png">    </p:cNvPr>
          <p:cNvPicPr>
            <a:picLocks noChangeAspect="1"/>
          </p:cNvPicPr>
          <p:nvPr/>
        </p:nvPicPr>
        <p:blipFill>
          <a:blip r:embed="rId6"/>
          <a:stretch/>
        </p:blipFill>
        <p:spPr>
          <a:xfrm>
            <a:off x="1641174" y="8129930"/>
            <a:ext cx="8815165" cy="9144"/>
          </a:xfrm>
          <a:prstGeom prst="rect">
            <a:avLst/>
          </a:prstGeom>
        </p:spPr>
      </p:pic>
      <p:sp>
        <p:nvSpPr>
          <p:cNvPr id="17" name="Text 10"/>
          <p:cNvSpPr txBox="1"/>
          <p:nvPr/>
        </p:nvSpPr>
        <p:spPr>
          <a:xfrm>
            <a:off x="1457554" y="8291779"/>
            <a:ext cx="9182405"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남은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그렇다면 프롬프트를 쓴 사람은 저자인가. 이 질문은 여전히 논쟁 중이며, 자리야 결정은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“프롬프트만으로는 부족하다”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방향을 시사했다.</a:t>
            </a:r>
            <a:endParaRPr lang="en-US" sz="1875" dirty="0"/>
          </a:p>
        </p:txBody>
      </p:sp>
      <p:sp>
        <p:nvSpPr>
          <p:cNvPr id="22" name="Text 15"/>
          <p:cNvSpPr txBox="1"/>
          <p:nvPr/>
        </p:nvSpPr>
        <p:spPr>
          <a:xfrm>
            <a:off x="13478256" y="1686154"/>
            <a:ext cx="37719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스티븐 세일러 Stephen Thaler</a:t>
            </a:r>
            <a:endParaRPr lang="en-US" sz="1875"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620195" y="6286500"/>
          <a:ext cx="5524805" cy="2543861"/>
        </p:xfrm>
        <a:graphic>
          <a:graphicData uri="http://schemas.openxmlformats.org/drawingml/2006/table">
            <a:tbl>
              <a:tblPr/>
              <a:tblGrid>
                <a:gridCol w="1619402"/>
                <a:gridCol w="3905402"/>
              </a:tblGrid>
              <a:tr h="84795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누가 만들었나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도구가 생성했다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95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누가 정했나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사람이 정했다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954">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법이 보호하는 것</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정한 부분</a:t>
                      </a:r>
                      <a:pPr indent="0" marL="0">
                        <a:buNone/>
                      </a:pPr>
                      <a:r>
                        <a:rPr lang="en-US" sz="1650" dirty="0">
                          <a:solidFill>
                            <a:srgbClr val="3A362C"/>
                          </a:solidFill>
                          <a:latin typeface="Noto Serif KR" pitchFamily="34" charset="0"/>
                          <a:ea typeface="Noto Serif KR" pitchFamily="34" charset="-122"/>
                          <a:cs typeface="Noto Serif KR" pitchFamily="34" charset="-120"/>
                        </a:rPr>
                        <a:t>만</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33" name="Text 25"/>
          <p:cNvSpPr txBox="1"/>
          <p:nvPr/>
        </p:nvSpPr>
        <p:spPr>
          <a:xfrm>
            <a:off x="11887200" y="8115300"/>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오늘 ‘정한’ 것을 세 가지 적을 수 있습니까.</a:t>
            </a:r>
            <a:endParaRPr lang="en-US" sz="2025" dirty="0"/>
          </a:p>
        </p:txBody>
      </p:sp>
      <p:sp>
        <p:nvSpPr>
          <p:cNvPr id="34" name="Text 26"/>
          <p:cNvSpPr txBox="1"/>
          <p:nvPr/>
        </p:nvSpPr>
        <p:spPr>
          <a:xfrm>
            <a:off x="11620195" y="9525305"/>
            <a:ext cx="5524805"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학습지 5 ③에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세 가지</a:t>
            </a:r>
            <a:pPr algn="l" indent="0" marL="0">
              <a:buNone/>
            </a:pPr>
            <a:r>
              <a:rPr lang="en-US" sz="1725" dirty="0">
                <a:solidFill>
                  <a:srgbClr val="3A362C"/>
                </a:solidFill>
                <a:latin typeface="Noto Serif KR" pitchFamily="34" charset="0"/>
                <a:ea typeface="Noto Serif KR" pitchFamily="34" charset="-122"/>
                <a:cs typeface="Noto Serif KR" pitchFamily="34" charset="-120"/>
              </a:rPr>
              <a:t>를 적는다.</a:t>
            </a:r>
            <a:endParaRPr lang="en-US" sz="1725"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상은 받았지만 등록은 거절되었다</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사례 ②</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「우주 오페라 극장」의 두 판정</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같은 작품이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두 제도에서 정반대 판정</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을 받았다. 미술 공모전은 1위를 주었고, 저작권청은 등록을 거절했다. 두 제도가 보는 것이 다르기 때문이다.</a:t>
            </a:r>
            <a:endParaRPr lang="en-US" sz="217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096158"/>
        </p:xfrm>
        <a:graphic>
          <a:graphicData uri="http://schemas.openxmlformats.org/drawingml/2006/table">
            <a:tbl>
              <a:tblPr/>
              <a:tblGrid>
                <a:gridCol w="2190777"/>
                <a:gridCol w="2095685"/>
                <a:gridCol w="4571739"/>
                <a:gridCol w="7143799"/>
              </a:tblGrid>
              <a:tr h="103205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제도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판정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판정 근거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이 제도가 묻는 질문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콜로라도 주 박람회</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디지털 아트 부문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1위 수상</a:t>
                      </a:r>
                      <a:pPr indent="0" marL="0">
                        <a:buNone/>
                      </a:pPr>
                      <a:endParaRPr lang="en-US" sz="1200" dirty="0"/>
                    </a:p>
                    <a:p>
                      <a:pPr indent="0" marL="0">
                        <a:buNone/>
                      </a:pPr>
                      <a:r>
                        <a:rPr lang="en-US" sz="1875" dirty="0">
                          <a:solidFill>
                            <a:srgbClr val="3A362C"/>
                          </a:solidFill>
                          <a:latin typeface="Noto Serif KR" pitchFamily="34" charset="0"/>
                          <a:ea typeface="Noto Serif KR" pitchFamily="34" charset="-122"/>
                          <a:cs typeface="Noto Serif KR" pitchFamily="34" charset="-120"/>
                        </a:rPr>
                        <a:t>2022년 9월</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제출된 이미지의 완성도와 부문 규정 충족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 이미지는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좋은 작품</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205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미국 저작권청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등록 거절</a:t>
                      </a:r>
                      <a:pPr indent="0" marL="0">
                        <a:buNone/>
                      </a:pPr>
                      <a:endParaRPr lang="en-US" sz="1200" dirty="0"/>
                    </a:p>
                    <a:p>
                      <a:pPr indent="0" marL="0">
                        <a:buNone/>
                      </a:pPr>
                      <a:r>
                        <a:rPr lang="en-US" sz="1875" dirty="0">
                          <a:solidFill>
                            <a:srgbClr val="3A362C"/>
                          </a:solidFill>
                          <a:latin typeface="Noto Serif KR" pitchFamily="34" charset="0"/>
                          <a:ea typeface="Noto Serif KR" pitchFamily="34" charset="-122"/>
                          <a:cs typeface="Noto Serif KR" pitchFamily="34" charset="-120"/>
                        </a:rPr>
                        <a:t>2023년 9월 5일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AI가 생성한 부분에 대한 </a:t>
                      </a:r>
                      <a:pPr indent="0" marL="0">
                        <a:buNone/>
                      </a:pPr>
                      <a:r>
                        <a:rPr lang="en-US" sz="1875" b="1" dirty="0">
                          <a:solidFill>
                            <a:srgbClr val="17150F"/>
                          </a:solidFill>
                          <a:latin typeface="Noto Serif KR" pitchFamily="34" charset="0"/>
                          <a:ea typeface="Noto Serif KR" pitchFamily="34" charset="-122"/>
                          <a:cs typeface="Noto Serif KR" pitchFamily="34" charset="-120"/>
                        </a:rPr>
                        <a:t>인간의 기여가 미미</a:t>
                      </a:r>
                      <a:pPr indent="0" marL="0">
                        <a:buNone/>
                      </a:pPr>
                      <a:r>
                        <a:rPr lang="en-US" sz="1875" dirty="0">
                          <a:solidFill>
                            <a:srgbClr val="3A362C"/>
                          </a:solidFill>
                          <a:latin typeface="Noto Serif KR" pitchFamily="34" charset="0"/>
                          <a:ea typeface="Noto Serif KR" pitchFamily="34" charset="-122"/>
                          <a:cs typeface="Noto Serif KR" pitchFamily="34" charset="-120"/>
                        </a:rPr>
                        <a:t>하다는 판단</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 이미지는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인간이 만든 것</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6400800"/>
            <a:ext cx="7810805" cy="225765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66385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두 질문은 다른 질문이다</a:t>
            </a:r>
            <a:endParaRPr lang="en-US" sz="1575" dirty="0"/>
          </a:p>
        </p:txBody>
      </p:sp>
      <p:pic>
        <p:nvPicPr>
          <p:cNvPr id="11" name="Image 2" descr="gen-dedup-8daa7bbad9e138f694b547871d64bad8.png">    </p:cNvPr>
          <p:cNvPicPr>
            <a:picLocks noChangeAspect="1"/>
          </p:cNvPicPr>
          <p:nvPr/>
        </p:nvPicPr>
        <p:blipFill>
          <a:blip r:embed="rId4"/>
          <a:stretch/>
        </p:blipFill>
        <p:spPr>
          <a:xfrm>
            <a:off x="1582731" y="7058254"/>
            <a:ext cx="6931342" cy="9144"/>
          </a:xfrm>
          <a:prstGeom prst="rect">
            <a:avLst/>
          </a:prstGeom>
        </p:spPr>
      </p:pic>
      <p:sp>
        <p:nvSpPr>
          <p:cNvPr id="12" name="Text 6"/>
          <p:cNvSpPr txBox="1"/>
          <p:nvPr/>
        </p:nvSpPr>
        <p:spPr>
          <a:xfrm>
            <a:off x="1438351" y="72201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2차시 단토와 디키를 떠올린다.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무엇이 미술인가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누가 저자인가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서로 다른 제도가 각자의 기준으로 답한다. 한쪽의 승인이 다른 쪽을 보장하지 않는다.</a:t>
            </a:r>
            <a:endParaRPr lang="en-US" sz="1800" dirty="0"/>
          </a:p>
        </p:txBody>
      </p:sp>
      <p:sp>
        <p:nvSpPr>
          <p:cNvPr id="13" name="Shape 7"/>
          <p:cNvSpPr/>
          <p:nvPr/>
        </p:nvSpPr>
        <p:spPr>
          <a:xfrm>
            <a:off x="9334195" y="6400800"/>
            <a:ext cx="7810805" cy="2257654"/>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66385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전시가 통과해야 하는 제도</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7058254"/>
            <a:ext cx="6931342" cy="9144"/>
          </a:xfrm>
          <a:prstGeom prst="rect">
            <a:avLst/>
          </a:prstGeom>
        </p:spPr>
      </p:pic>
      <p:sp>
        <p:nvSpPr>
          <p:cNvPr id="16" name="Text 9"/>
          <p:cNvSpPr txBox="1"/>
          <p:nvPr/>
        </p:nvSpPr>
        <p:spPr>
          <a:xfrm>
            <a:off x="9629546" y="72201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저작권 등록도 공모전 출품도 하지 않는다. 우리가 통과해야 하는 것은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교실의 관람자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그 관람자가 우리에게 요구하는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설명 가능성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800" dirty="0"/>
          </a:p>
        </p:txBody>
      </p:sp>
      <p:sp>
        <p:nvSpPr>
          <p:cNvPr id="17" name="Text 10"/>
          <p:cNvSpPr txBox="1"/>
          <p:nvPr/>
        </p:nvSpPr>
        <p:spPr>
          <a:xfrm>
            <a:off x="1410005" y="8477402"/>
            <a:ext cx="15735910"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공모전이 1위를 준 이유와 저작권청이 거절한 이유가 </a:t>
            </a:r>
            <a:pPr algn="l" indent="0" marL="0">
              <a:buNone/>
            </a:pPr>
            <a:r>
              <a:rPr lang="en-US" sz="2250" b="1" dirty="0">
                <a:solidFill>
                  <a:srgbClr val="9C2A1F"/>
                </a:solidFill>
                <a:latin typeface="Noto Serif KR" pitchFamily="34" charset="0"/>
                <a:ea typeface="Noto Serif KR" pitchFamily="34" charset="-122"/>
                <a:cs typeface="Noto Serif KR" pitchFamily="34" charset="-120"/>
              </a:rPr>
              <a:t>둘 다 옳을</a:t>
            </a:r>
            <a:pPr algn="l" indent="0" marL="0">
              <a:buNone/>
            </a:pPr>
            <a:r>
              <a:rPr lang="en-US" sz="2250" b="1" dirty="0">
                <a:solidFill>
                  <a:srgbClr val="17150F"/>
                </a:solidFill>
                <a:latin typeface="Noto Serif KR" pitchFamily="34" charset="0"/>
                <a:ea typeface="Noto Serif KR" pitchFamily="34" charset="-122"/>
                <a:cs typeface="Noto Serif KR" pitchFamily="34" charset="-120"/>
              </a:rPr>
              <a:t> 수 있습니까.</a:t>
            </a:r>
            <a:endParaRPr lang="en-US" sz="2250" dirty="0"/>
          </a:p>
        </p:txBody>
      </p:sp>
      <p:sp>
        <p:nvSpPr>
          <p:cNvPr id="18" name="Text 11"/>
          <p:cNvSpPr txBox="1"/>
          <p:nvPr/>
        </p:nvSpPr>
        <p:spPr>
          <a:xfrm>
            <a:off x="1143000" y="9544507"/>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답의 방향 — 각 제도는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자기 질문에 대해서만</a:t>
            </a:r>
            <a:pPr algn="l" indent="0" marL="0">
              <a:buNone/>
            </a:pPr>
            <a:r>
              <a:rPr lang="en-US" sz="1725" dirty="0">
                <a:solidFill>
                  <a:srgbClr val="3A362C"/>
                </a:solidFill>
                <a:latin typeface="Noto Serif KR" pitchFamily="34" charset="0"/>
                <a:ea typeface="Noto Serif KR" pitchFamily="34" charset="-122"/>
                <a:cs typeface="Noto Serif KR" pitchFamily="34" charset="-120"/>
              </a:rPr>
              <a:t> 답했다. 두 판정은 충돌하지 않는다. 이것이 2차시 제도론의 실제 사례다.</a:t>
            </a:r>
            <a:endParaRPr lang="en-US" sz="1725" dirty="0"/>
          </a:p>
        </p:txBody>
      </p:sp>
      <p:sp>
        <p:nvSpPr>
          <p:cNvPr id="19" name="Text 12"/>
          <p:cNvSpPr txBox="1"/>
          <p:nvPr/>
        </p:nvSpPr>
        <p:spPr>
          <a:xfrm>
            <a:off x="1143000" y="9963302"/>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제이슨 M. 앨런 「Théâtre D'opéra Spatial」(2022) 관련 저작권청 결정 기록 및 보도 자료</a:t>
            </a:r>
            <a:endParaRPr lang="en-US" sz="15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3943807"/>
            <a:ext cx="9731964" cy="28346"/>
          </a:xfrm>
          <a:prstGeom prst="rect">
            <a:avLst/>
          </a:prstGeom>
        </p:spPr>
      </p:pic>
      <p:pic>
        <p:nvPicPr>
          <p:cNvPr id="4" name="Image 2" descr="gen-dedup-ce87182226452a8c3e765dcc253b345b.png">    </p:cNvPr>
          <p:cNvPicPr>
            <a:picLocks noChangeAspect="1"/>
          </p:cNvPicPr>
          <p:nvPr/>
        </p:nvPicPr>
        <p:blipFill>
          <a:blip r:embed="rId4"/>
          <a:stretch/>
        </p:blipFill>
        <p:spPr>
          <a:xfrm>
            <a:off x="11730980" y="2723998"/>
            <a:ext cx="5303236" cy="9144"/>
          </a:xfrm>
          <a:prstGeom prst="rect">
            <a:avLst/>
          </a:prstGeom>
        </p:spPr>
      </p:pic>
      <p:pic>
        <p:nvPicPr>
          <p:cNvPr id="5" name="Image 3" descr="gen-dedup-ce87182226452a8c3e765dcc253b345b.png">    </p:cNvPr>
          <p:cNvPicPr>
            <a:picLocks noChangeAspect="1"/>
          </p:cNvPicPr>
          <p:nvPr/>
        </p:nvPicPr>
        <p:blipFill>
          <a:blip r:embed="rId4"/>
          <a:stretch/>
        </p:blipFill>
        <p:spPr>
          <a:xfrm>
            <a:off x="11730980" y="6191402"/>
            <a:ext cx="5303236" cy="9144"/>
          </a:xfrm>
          <a:prstGeom prst="rect">
            <a:avLst/>
          </a:prstGeom>
        </p:spPr>
      </p:pic>
      <p:sp>
        <p:nvSpPr>
          <p:cNvPr id="6"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법령 · 대한민국 AI 기본법</a:t>
            </a:r>
            <a:endParaRPr lang="en-US" sz="1800" dirty="0"/>
          </a:p>
        </p:txBody>
      </p:sp>
      <p:sp>
        <p:nvSpPr>
          <p:cNvPr id="7"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법령</a:t>
            </a:r>
            <a:endParaRPr lang="en-US" sz="1650" dirty="0"/>
          </a:p>
        </p:txBody>
      </p:sp>
      <p:sp>
        <p:nvSpPr>
          <p:cNvPr id="8"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표시는 이제 법적 의무다</a:t>
            </a:r>
            <a:endParaRPr lang="en-US" sz="3450" dirty="0"/>
          </a:p>
        </p:txBody>
      </p:sp>
      <p:sp>
        <p:nvSpPr>
          <p:cNvPr id="9" name="Text 3"/>
          <p:cNvSpPr txBox="1"/>
          <p:nvPr/>
        </p:nvSpPr>
        <p:spPr>
          <a:xfrm>
            <a:off x="1143000" y="2381098"/>
            <a:ext cx="9811512" cy="438912"/>
          </a:xfrm>
          <a:prstGeom prst="rect">
            <a:avLst/>
          </a:prstGeom>
          <a:noFill/>
          <a:ln/>
        </p:spPr>
        <p:txBody>
          <a:bodyPr wrap="none" lIns="0" tIns="0" rIns="0" bIns="0" rtlCol="0" anchor="ctr"/>
          <a:lstStyle/>
          <a:p>
            <a:pPr algn="l" indent="0" marL="0">
              <a:buNone/>
            </a:pPr>
            <a:r>
              <a:rPr lang="en-US" sz="2100" dirty="0">
                <a:solidFill>
                  <a:srgbClr val="17150F"/>
                </a:solidFill>
                <a:latin typeface="Noto Serif KR" pitchFamily="34" charset="0"/>
                <a:ea typeface="Noto Serif KR" pitchFamily="34" charset="-122"/>
                <a:cs typeface="Noto Serif KR" pitchFamily="34" charset="-120"/>
              </a:rPr>
              <a:t>“생성형 인공지능에 의하여 생성되었다는 사실을 표시하여야 한다.”</a:t>
            </a:r>
            <a:endParaRPr lang="en-US" sz="2100" dirty="0"/>
          </a:p>
        </p:txBody>
      </p:sp>
      <p:sp>
        <p:nvSpPr>
          <p:cNvPr id="10" name="Text 4"/>
          <p:cNvSpPr txBox="1"/>
          <p:nvPr/>
        </p:nvSpPr>
        <p:spPr>
          <a:xfrm>
            <a:off x="1143000" y="2927909"/>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「인공지능 발전과 신뢰 기반 조성 등에 관한 기본법」 · 법률 제20771호 · 2025년 1월 24일 공포 · </a:t>
            </a:r>
            <a:pPr algn="l" indent="0" marL="0">
              <a:buNone/>
            </a:pPr>
            <a:r>
              <a:rPr lang="en-US" sz="1650" b="1" spc="66" kern="0" dirty="0">
                <a:solidFill>
                  <a:srgbClr val="9C2A1F"/>
                </a:solidFill>
                <a:latin typeface="Noto Sans KR" pitchFamily="34" charset="0"/>
                <a:ea typeface="Noto Sans KR" pitchFamily="34" charset="-122"/>
                <a:cs typeface="Noto Sans KR" pitchFamily="34" charset="-120"/>
              </a:rPr>
              <a:t>2026년 1월 22일 시행</a:t>
            </a:r>
            <a:endParaRPr lang="en-US" sz="1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9811512" cy="4353458"/>
        </p:xfrm>
        <a:graphic>
          <a:graphicData uri="http://schemas.openxmlformats.org/drawingml/2006/table">
            <a:tbl>
              <a:tblPr/>
              <a:tblGrid>
                <a:gridCol w="1904695"/>
                <a:gridCol w="7905902"/>
              </a:tblGrid>
              <a:tr h="72557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법률명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인공지능 발전과 신뢰 기반 조성 등에 관한 기본법 (약칭 AI 기본법)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국회 통과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2024년 12월 26일 본회의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공포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2025년 1월 24일 · 법률 제20771호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시행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2026년 1월 22일</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표시 의무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텍스트·이미지·영상 등 생성형 AI 산출물에 </a:t>
                      </a:r>
                      <a:pPr indent="0" marL="0">
                        <a:buNone/>
                      </a:pPr>
                      <a:r>
                        <a:rPr lang="en-US" sz="1875" b="1" dirty="0">
                          <a:solidFill>
                            <a:srgbClr val="17150F"/>
                          </a:solidFill>
                          <a:latin typeface="Noto Serif KR" pitchFamily="34" charset="0"/>
                          <a:ea typeface="Noto Serif KR" pitchFamily="34" charset="-122"/>
                          <a:cs typeface="Noto Serif KR" pitchFamily="34" charset="-120"/>
                        </a:rPr>
                        <a:t>AI가 만들었다는 표시</a:t>
                      </a:r>
                      <a:pPr indent="0" marL="0">
                        <a:buNone/>
                      </a:pPr>
                      <a:r>
                        <a:rPr lang="en-US" sz="1875" dirty="0">
                          <a:solidFill>
                            <a:srgbClr val="3A362C"/>
                          </a:solidFill>
                          <a:latin typeface="Noto Serif KR" pitchFamily="34" charset="0"/>
                          <a:ea typeface="Noto Serif KR" pitchFamily="34" charset="-122"/>
                          <a:cs typeface="Noto Serif KR" pitchFamily="34" charset="-120"/>
                        </a:rPr>
                        <a:t>(워터마크 포함)를 의무화</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Shape 5"/>
          <p:cNvSpPr/>
          <p:nvPr/>
        </p:nvSpPr>
        <p:spPr>
          <a:xfrm>
            <a:off x="1143000" y="7791602"/>
            <a:ext cx="9810598" cy="2400300"/>
          </a:xfrm>
          <a:prstGeom prst="rect">
            <a:avLst/>
          </a:prstGeom>
          <a:solidFill>
            <a:srgbClr val="9C2A1F">
              <a:alpha val="6000"/>
            </a:srgbClr>
          </a:solidFill>
          <a:ln w="12700">
            <a:solidFill>
              <a:srgbClr val="9C2A1F"/>
            </a:solidFill>
            <a:prstDash val="solid"/>
          </a:ln>
        </p:spPr>
      </p:sp>
      <p:sp>
        <p:nvSpPr>
          <p:cNvPr id="13" name="Text 6"/>
          <p:cNvSpPr txBox="1"/>
          <p:nvPr/>
        </p:nvSpPr>
        <p:spPr>
          <a:xfrm>
            <a:off x="1457554" y="8048549"/>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수업이 이 법의 적용 대상인가</a:t>
            </a:r>
            <a:endParaRPr lang="en-US" sz="1650" dirty="0"/>
          </a:p>
        </p:txBody>
      </p:sp>
      <p:pic>
        <p:nvPicPr>
          <p:cNvPr id="14" name="Image 4" descr="gen-dedup-7cde0152aae0e987b34280df86a6917f.png">    </p:cNvPr>
          <p:cNvPicPr>
            <a:picLocks noChangeAspect="1"/>
          </p:cNvPicPr>
          <p:nvPr/>
        </p:nvPicPr>
        <p:blipFill>
          <a:blip r:embed="rId5"/>
          <a:stretch/>
        </p:blipFill>
        <p:spPr>
          <a:xfrm>
            <a:off x="1641174" y="8505749"/>
            <a:ext cx="8815165" cy="9144"/>
          </a:xfrm>
          <a:prstGeom prst="rect">
            <a:avLst/>
          </a:prstGeom>
        </p:spPr>
      </p:pic>
      <p:sp>
        <p:nvSpPr>
          <p:cNvPr id="15" name="Text 7"/>
          <p:cNvSpPr txBox="1"/>
          <p:nvPr/>
        </p:nvSpPr>
        <p:spPr>
          <a:xfrm>
            <a:off x="1457554" y="8686800"/>
            <a:ext cx="91824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법의 표시 의무는 주로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사업자</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향한다. 교실 전시가 직접 규율 대상인지는 별도 확인이 필요하다. 그러나 우리는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법이 요구하기 전에 이미 표기하기로 정했다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2차시에서 스스로 정한 규칙이다.</a:t>
            </a:r>
            <a:endParaRPr lang="en-US" sz="1875" dirty="0"/>
          </a:p>
        </p:txBody>
      </p:sp>
      <p:sp>
        <p:nvSpPr>
          <p:cNvPr id="16" name="Text 8"/>
          <p:cNvSpPr txBox="1"/>
          <p:nvPr/>
        </p:nvSpPr>
        <p:spPr>
          <a:xfrm>
            <a:off x="11620195" y="23810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EU도 같은 방향이다</a:t>
            </a:r>
            <a:endParaRPr lang="en-US" sz="1650" dirty="0"/>
          </a:p>
        </p:txBody>
      </p:sp>
      <p:sp>
        <p:nvSpPr>
          <p:cNvPr id="17" name="Shape 9"/>
          <p:cNvSpPr/>
          <p:nvPr/>
        </p:nvSpPr>
        <p:spPr>
          <a:xfrm>
            <a:off x="11620195" y="2991002"/>
            <a:ext cx="5524805" cy="3581705"/>
          </a:xfrm>
          <a:prstGeom prst="rect">
            <a:avLst/>
          </a:prstGeom>
          <a:solidFill>
            <a:srgbClr val="FFFFFF">
              <a:alpha val="36000"/>
            </a:srgbClr>
          </a:solidFill>
          <a:ln w="12700">
            <a:solidFill>
              <a:srgbClr val="BEB6A5"/>
            </a:solidFill>
            <a:prstDash val="solid"/>
          </a:ln>
        </p:spPr>
      </p:sp>
      <p:sp>
        <p:nvSpPr>
          <p:cNvPr id="18" name="Text 10"/>
          <p:cNvSpPr txBox="1"/>
          <p:nvPr/>
        </p:nvSpPr>
        <p:spPr>
          <a:xfrm>
            <a:off x="11896344" y="3228746"/>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EU AI Act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제50조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합성 이미지·영상·음성·텍스트에 대해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기계 판독 가능한 형식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인공 생성 사실을 표시하도록 요구한다. 2026년 8월 2일부터 적용된다.</a:t>
            </a:r>
            <a:endParaRPr lang="en-US" sz="1800" dirty="0"/>
          </a:p>
        </p:txBody>
      </p:sp>
      <p:pic>
        <p:nvPicPr>
          <p:cNvPr id="19" name="Image 5" descr="gen-dedup-23822cb4f3c5edd0692bae0502c88a4a.png">    </p:cNvPr>
          <p:cNvPicPr>
            <a:picLocks noChangeAspect="1"/>
          </p:cNvPicPr>
          <p:nvPr/>
        </p:nvPicPr>
        <p:blipFill>
          <a:blip r:embed="rId6"/>
          <a:stretch/>
        </p:blipFill>
        <p:spPr>
          <a:xfrm>
            <a:off x="11996054" y="4972507"/>
            <a:ext cx="4773087" cy="9144"/>
          </a:xfrm>
          <a:prstGeom prst="rect">
            <a:avLst/>
          </a:prstGeom>
        </p:spPr>
      </p:pic>
      <p:sp>
        <p:nvSpPr>
          <p:cNvPr id="20" name="Text 11"/>
          <p:cNvSpPr txBox="1"/>
          <p:nvPr/>
        </p:nvSpPr>
        <p:spPr>
          <a:xfrm>
            <a:off x="11896344" y="5134356"/>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딥페이크에 대해서는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별도 조항</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있고, 예술적·풍자적 창작물은 고지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방식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완화되지만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의무 자체가 면제되지는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21" name="Text 12"/>
          <p:cNvSpPr txBox="1"/>
          <p:nvPr/>
        </p:nvSpPr>
        <p:spPr>
          <a:xfrm>
            <a:off x="11620195" y="5848502"/>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두 법제의 공통 메시지</a:t>
            </a:r>
            <a:endParaRPr lang="en-US" sz="1650" dirty="0"/>
          </a:p>
        </p:txBody>
      </p:sp>
      <p:sp>
        <p:nvSpPr>
          <p:cNvPr id="22" name="Text 13"/>
          <p:cNvSpPr txBox="1"/>
          <p:nvPr/>
        </p:nvSpPr>
        <p:spPr>
          <a:xfrm>
            <a:off x="11620195" y="6458407"/>
            <a:ext cx="5524805" cy="15389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AI 사용을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금지하지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대신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밝히라고 요구</a:t>
            </a:r>
            <a:pPr algn="l" indent="0" marL="0">
              <a:buNone/>
            </a:pPr>
            <a:r>
              <a:rPr lang="en-US" sz="1800" dirty="0">
                <a:solidFill>
                  <a:srgbClr val="3A362C"/>
                </a:solidFill>
                <a:latin typeface="Noto Serif KR" pitchFamily="34" charset="0"/>
                <a:ea typeface="Noto Serif KR" pitchFamily="34" charset="-122"/>
                <a:cs typeface="Noto Serif KR" pitchFamily="34" charset="-120"/>
              </a:rPr>
              <a:t>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밝히는 것이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최소 조건</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이며 충분 조건은 아니다</a:t>
            </a:r>
            <a:endParaRPr lang="en-US" sz="1200" dirty="0"/>
          </a:p>
        </p:txBody>
      </p:sp>
      <p:sp>
        <p:nvSpPr>
          <p:cNvPr id="23" name="Text 14"/>
          <p:cNvSpPr txBox="1"/>
          <p:nvPr/>
        </p:nvSpPr>
        <p:spPr>
          <a:xfrm>
            <a:off x="11620195" y="8991295"/>
            <a:ext cx="5524805" cy="553212"/>
          </a:xfrm>
          <a:prstGeom prst="rect">
            <a:avLst/>
          </a:prstGeom>
          <a:noFill/>
          <a:ln/>
        </p:spPr>
        <p:txBody>
          <a:bodyPr wrap="squar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출처: 국가법령정보센터 법령 정보, EU AI Act 제50조 공식 조문 · 8차시에서 상세히 다룸</a:t>
            </a:r>
            <a:endParaRPr lang="en-US" sz="15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72639a663133b00b482ebecd3a31d46a.png">    </p:cNvPr>
          <p:cNvPicPr>
            <a:picLocks noChangeAspect="1"/>
          </p:cNvPicPr>
          <p:nvPr/>
        </p:nvPicPr>
        <p:blipFill>
          <a:blip r:embed="rId3"/>
          <a:stretch/>
        </p:blipFill>
        <p:spPr>
          <a:xfrm>
            <a:off x="6660572" y="1772107"/>
            <a:ext cx="4206075" cy="9144"/>
          </a:xfrm>
          <a:prstGeom prst="rect">
            <a:avLst/>
          </a:prstGeom>
        </p:spPr>
      </p:pic>
      <p:pic>
        <p:nvPicPr>
          <p:cNvPr id="4" name="Image 2" descr="gen-dedup-6e10be3fd3a51797c631fbd3836d7c7a.png">    </p:cNvPr>
          <p:cNvPicPr>
            <a:picLocks noChangeAspect="1"/>
          </p:cNvPicPr>
          <p:nvPr/>
        </p:nvPicPr>
        <p:blipFill>
          <a:blip r:embed="rId4"/>
          <a:stretch/>
        </p:blipFill>
        <p:spPr>
          <a:xfrm>
            <a:off x="11637479" y="1772107"/>
            <a:ext cx="5395140" cy="9144"/>
          </a:xfrm>
          <a:prstGeom prst="rect">
            <a:avLst/>
          </a:prstGeom>
        </p:spPr>
      </p:pic>
      <p:pic>
        <p:nvPicPr>
          <p:cNvPr id="5" name="Image 3" descr="gen-dedup-e6f50d79f47457e74bd1f4c45ce7d849.png">    </p:cNvPr>
          <p:cNvPicPr>
            <a:picLocks noChangeAspect="1"/>
          </p:cNvPicPr>
          <p:nvPr/>
        </p:nvPicPr>
        <p:blipFill>
          <a:blip r:embed="rId5"/>
          <a:stretch/>
        </p:blipFill>
        <p:spPr>
          <a:xfrm>
            <a:off x="1242325" y="6743700"/>
            <a:ext cx="4754655" cy="9144"/>
          </a:xfrm>
          <a:prstGeom prst="rect">
            <a:avLst/>
          </a:prstGeom>
        </p:spPr>
      </p:pic>
      <p:sp>
        <p:nvSpPr>
          <p:cNvPr id="6" name="Shape 0"/>
          <p:cNvSpPr/>
          <p:nvPr/>
        </p:nvSpPr>
        <p:spPr>
          <a:xfrm>
            <a:off x="1143000" y="1429207"/>
            <a:ext cx="4953305" cy="4000500"/>
          </a:xfrm>
          <a:prstGeom prst="rect">
            <a:avLst/>
          </a:prstGeom>
          <a:solidFill>
            <a:srgbClr val="C9C3B6"/>
          </a:solidFill>
          <a:ln w="12700">
            <a:solidFill>
              <a:srgbClr val="BEB6A5"/>
            </a:solidFill>
            <a:prstDash val="solid"/>
          </a:ln>
        </p:spPr>
      </p:sp>
      <p:pic>
        <p:nvPicPr>
          <p:cNvPr id="7" name="Image 4" descr="gen-dedup-4590f47c30966c83d6379539912e0e89.jpg">    </p:cNvPr>
          <p:cNvPicPr>
            <a:picLocks noChangeAspect="1"/>
          </p:cNvPicPr>
          <p:nvPr/>
        </p:nvPicPr>
        <p:blipFill>
          <a:blip r:embed="rId6"/>
          <a:stretch/>
        </p:blipFill>
        <p:spPr>
          <a:xfrm>
            <a:off x="1152144" y="2041285"/>
            <a:ext cx="4934102" cy="2775429"/>
          </a:xfrm>
          <a:prstGeom prst="rect">
            <a:avLst/>
          </a:prstGeom>
        </p:spPr>
      </p:pic>
      <p:sp>
        <p:nvSpPr>
          <p:cNvPr id="8"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계보 · 우연을 재료로 쓴 작가들</a:t>
            </a:r>
            <a:endParaRPr lang="en-US" sz="1800" dirty="0"/>
          </a:p>
        </p:txBody>
      </p:sp>
      <p:sp>
        <p:nvSpPr>
          <p:cNvPr id="9"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도판 5—02</a:t>
            </a:r>
            <a:endParaRPr lang="en-US" sz="1650" dirty="0"/>
          </a:p>
        </p:txBody>
      </p:sp>
      <p:sp>
        <p:nvSpPr>
          <p:cNvPr id="10" name="Text 3"/>
          <p:cNvSpPr txBox="1"/>
          <p:nvPr/>
        </p:nvSpPr>
        <p:spPr>
          <a:xfrm>
            <a:off x="1143000" y="5600700"/>
            <a:ext cx="4953305" cy="685800"/>
          </a:xfrm>
          <a:prstGeom prst="rect">
            <a:avLst/>
          </a:prstGeom>
          <a:noFill/>
          <a:ln/>
        </p:spPr>
        <p:txBody>
          <a:bodyPr wrap="square" lIns="0" tIns="0" rIns="0" bIns="0" rtlCol="0" anchor="ctr"/>
          <a:lstStyle/>
          <a:p>
            <a:pPr algn="l" indent="0" marL="0">
              <a:lnSpc>
                <a:spcPts val="2640"/>
              </a:lnSpc>
              <a:buNone/>
            </a:pPr>
            <a:r>
              <a:rPr lang="en-US" sz="1650" dirty="0">
                <a:solidFill>
                  <a:srgbClr val="9C2A1F"/>
                </a:solidFill>
                <a:latin typeface="IBM Plex Mono" pitchFamily="34" charset="0"/>
                <a:ea typeface="IBM Plex Mono" pitchFamily="34" charset="-122"/>
                <a:cs typeface="IBM Plex Mono" pitchFamily="34" charset="-120"/>
              </a:rPr>
              <a:t>PLATE 5—02</a:t>
            </a:r>
            <a:pPr algn="l" indent="0" marL="0">
              <a:lnSpc>
                <a:spcPts val="2640"/>
              </a:lnSpc>
              <a:buNone/>
            </a:pPr>
            <a:r>
              <a:rPr lang="en-US" sz="1650" dirty="0">
                <a:solidFill>
                  <a:srgbClr val="6B6456"/>
                </a:solidFill>
                <a:latin typeface="Noto Sans KR" pitchFamily="34" charset="0"/>
                <a:ea typeface="Noto Sans KR" pitchFamily="34" charset="-122"/>
                <a:cs typeface="Noto Sans KR" pitchFamily="34" charset="-120"/>
              </a:rPr>
              <a:t> 마르셀 뒤샹, 「3개의 표준 정지3 Standard Stoppages」, 1913–14. MoMA 소장.</a:t>
            </a:r>
            <a:endParaRPr lang="en-US" sz="1650" dirty="0"/>
          </a:p>
        </p:txBody>
      </p:sp>
      <p:sp>
        <p:nvSpPr>
          <p:cNvPr id="11" name="Text 4"/>
          <p:cNvSpPr txBox="1"/>
          <p:nvPr/>
        </p:nvSpPr>
        <p:spPr>
          <a:xfrm>
            <a:off x="6572707" y="1429207"/>
            <a:ext cx="4381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뒤샹 — 우연의 통조림</a:t>
            </a:r>
            <a:endParaRPr lang="en-US" sz="1650" dirty="0"/>
          </a:p>
        </p:txBody>
      </p:sp>
      <p:sp>
        <p:nvSpPr>
          <p:cNvPr id="12" name="Text 5"/>
          <p:cNvSpPr txBox="1"/>
          <p:nvPr/>
        </p:nvSpPr>
        <p:spPr>
          <a:xfrm>
            <a:off x="6572707" y="2038198"/>
            <a:ext cx="4381805" cy="1991563"/>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1미터 길이의 실을 1미터 높이에서 떨어뜨려 생긴 곡선을 그대로 고정했다. 그는 이를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canned chance(우연의 통조림)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라 불렀다. 되돌릴 수 없는 우연을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표준으로 만드는</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시도였다.</a:t>
            </a:r>
            <a:endParaRPr lang="en-US" sz="1800" dirty="0"/>
          </a:p>
        </p:txBody>
      </p:sp>
      <p:sp>
        <p:nvSpPr>
          <p:cNvPr id="13" name="Shape 6"/>
          <p:cNvSpPr/>
          <p:nvPr/>
        </p:nvSpPr>
        <p:spPr>
          <a:xfrm>
            <a:off x="6572707" y="4304995"/>
            <a:ext cx="4381805" cy="1552651"/>
          </a:xfrm>
          <a:prstGeom prst="rect">
            <a:avLst/>
          </a:prstGeom>
          <a:solidFill>
            <a:srgbClr val="FFFFFF">
              <a:alpha val="36000"/>
            </a:srgbClr>
          </a:solidFill>
          <a:ln w="12700">
            <a:solidFill>
              <a:srgbClr val="BEB6A5"/>
            </a:solidFill>
            <a:prstDash val="solid"/>
          </a:ln>
        </p:spPr>
      </p:sp>
      <p:sp>
        <p:nvSpPr>
          <p:cNvPr id="14" name="Text 7"/>
          <p:cNvSpPr txBox="1"/>
          <p:nvPr/>
        </p:nvSpPr>
        <p:spPr>
          <a:xfrm>
            <a:off x="6829654" y="4505249"/>
            <a:ext cx="386791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떨어뜨린 것은 우연이지만,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떨어뜨리기로 정한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고정하기로 정한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은 작가다.</a:t>
            </a:r>
            <a:endParaRPr lang="en-US" sz="1725" dirty="0"/>
          </a:p>
        </p:txBody>
      </p:sp>
      <p:sp>
        <p:nvSpPr>
          <p:cNvPr id="16" name="Text 9"/>
          <p:cNvSpPr txBox="1"/>
          <p:nvPr/>
        </p:nvSpPr>
        <p:spPr>
          <a:xfrm>
            <a:off x="11525098" y="1429207"/>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우연을 다룬 세 진술</a:t>
            </a:r>
            <a:endParaRPr lang="en-US" sz="1650" dirty="0"/>
          </a:p>
        </p:txBody>
      </p:sp>
      <p:sp>
        <p:nvSpPr>
          <p:cNvPr id="17" name="Shape 10"/>
          <p:cNvSpPr/>
          <p:nvPr/>
        </p:nvSpPr>
        <p:spPr>
          <a:xfrm>
            <a:off x="11525098" y="2038198"/>
            <a:ext cx="5619902" cy="2819095"/>
          </a:xfrm>
          <a:prstGeom prst="rect">
            <a:avLst/>
          </a:prstGeom>
          <a:solidFill>
            <a:srgbClr val="FFFFFF">
              <a:alpha val="36000"/>
            </a:srgbClr>
          </a:solidFill>
          <a:ln w="12700">
            <a:solidFill>
              <a:srgbClr val="BEB6A5"/>
            </a:solidFill>
            <a:prstDash val="solid"/>
          </a:ln>
        </p:spPr>
      </p:sp>
      <p:sp>
        <p:nvSpPr>
          <p:cNvPr id="18" name="Text 11"/>
          <p:cNvSpPr txBox="1"/>
          <p:nvPr/>
        </p:nvSpPr>
        <p:spPr>
          <a:xfrm>
            <a:off x="11801246" y="2257654"/>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존 케이지</a:t>
            </a:r>
            <a:endParaRPr lang="en-US" sz="1575" dirty="0"/>
          </a:p>
        </p:txBody>
      </p:sp>
      <p:pic>
        <p:nvPicPr>
          <p:cNvPr id="19" name="Image 5" descr="gen-dedup-dc2973bed1acd8672cf7229964571424.png">    </p:cNvPr>
          <p:cNvPicPr>
            <a:picLocks noChangeAspect="1"/>
          </p:cNvPicPr>
          <p:nvPr/>
        </p:nvPicPr>
        <p:blipFill>
          <a:blip r:embed="rId7"/>
          <a:stretch/>
        </p:blipFill>
        <p:spPr>
          <a:xfrm>
            <a:off x="11902863" y="2657246"/>
            <a:ext cx="4864372" cy="9144"/>
          </a:xfrm>
          <a:prstGeom prst="rect">
            <a:avLst/>
          </a:prstGeom>
        </p:spPr>
      </p:pic>
      <p:sp>
        <p:nvSpPr>
          <p:cNvPr id="20" name="Text 12"/>
          <p:cNvSpPr txBox="1"/>
          <p:nvPr/>
        </p:nvSpPr>
        <p:spPr>
          <a:xfrm>
            <a:off x="11801246" y="2800807"/>
            <a:ext cx="5067605" cy="1019556"/>
          </a:xfrm>
          <a:prstGeom prst="rect">
            <a:avLst/>
          </a:prstGeom>
          <a:noFill/>
          <a:ln/>
        </p:spPr>
        <p:txBody>
          <a:bodyPr wrap="square" lIns="0" tIns="0" rIns="0" bIns="0" rtlCol="0" anchor="ctr"/>
          <a:lstStyle/>
          <a:p>
            <a:pPr algn="l" indent="0" marL="0">
              <a:lnSpc>
                <a:spcPts val="2673"/>
              </a:lnSpc>
              <a:buNone/>
            </a:pPr>
            <a:r>
              <a:rPr lang="en-US" sz="1650" i="1" dirty="0">
                <a:solidFill>
                  <a:srgbClr val="17150F"/>
                </a:solidFill>
                <a:latin typeface="Noto Serif KR" pitchFamily="34" charset="0"/>
                <a:ea typeface="Noto Serif KR" pitchFamily="34" charset="-122"/>
                <a:cs typeface="Noto Serif KR" pitchFamily="34" charset="-120"/>
              </a:rPr>
              <a:t>“By using chance operations I am accepting what I obtain. Instead of expressing myself, I change myself.”</a:t>
            </a:r>
            <a:endParaRPr lang="en-US" sz="1650" dirty="0"/>
          </a:p>
        </p:txBody>
      </p:sp>
      <p:sp>
        <p:nvSpPr>
          <p:cNvPr id="21" name="Text 13"/>
          <p:cNvSpPr txBox="1"/>
          <p:nvPr/>
        </p:nvSpPr>
        <p:spPr>
          <a:xfrm>
            <a:off x="11801246" y="3913632"/>
            <a:ext cx="5067605" cy="724205"/>
          </a:xfrm>
          <a:prstGeom prst="rect">
            <a:avLst/>
          </a:prstGeom>
          <a:noFill/>
          <a:ln/>
        </p:spPr>
        <p:txBody>
          <a:bodyPr wrap="square" lIns="0" tIns="0" rIns="0" bIns="0" rtlCol="0" anchor="ctr"/>
          <a:lstStyle/>
          <a:p>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우연 작곡을 통해 나는 </a:t>
            </a:r>
            <a:pPr algn="l" indent="0" marL="0">
              <a:lnSpc>
                <a:spcPts val="2838"/>
              </a:lnSpc>
              <a:buNone/>
            </a:pPr>
            <a:r>
              <a:rPr lang="en-US" sz="1650" b="1" dirty="0">
                <a:solidFill>
                  <a:srgbClr val="17150F"/>
                </a:solidFill>
                <a:latin typeface="Noto Serif KR" pitchFamily="34" charset="0"/>
                <a:ea typeface="Noto Serif KR" pitchFamily="34" charset="-122"/>
                <a:cs typeface="Noto Serif KR" pitchFamily="34" charset="-120"/>
              </a:rPr>
              <a:t>내가 얻은 것을 받아들인다</a:t>
            </a:r>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 자신을 표현하는 대신 나를 변화시킨다.</a:t>
            </a:r>
            <a:endParaRPr lang="en-US" sz="1650" dirty="0"/>
          </a:p>
        </p:txBody>
      </p:sp>
      <p:sp>
        <p:nvSpPr>
          <p:cNvPr id="22" name="Shape 14"/>
          <p:cNvSpPr/>
          <p:nvPr/>
        </p:nvSpPr>
        <p:spPr>
          <a:xfrm>
            <a:off x="11525098" y="4953305"/>
            <a:ext cx="5619902" cy="2476195"/>
          </a:xfrm>
          <a:prstGeom prst="rect">
            <a:avLst/>
          </a:prstGeom>
          <a:solidFill>
            <a:srgbClr val="FFFFFF">
              <a:alpha val="36000"/>
            </a:srgbClr>
          </a:solidFill>
          <a:ln w="12700">
            <a:solidFill>
              <a:srgbClr val="BEB6A5"/>
            </a:solidFill>
            <a:prstDash val="solid"/>
          </a:ln>
        </p:spPr>
      </p:sp>
      <p:sp>
        <p:nvSpPr>
          <p:cNvPr id="23" name="Text 15"/>
          <p:cNvSpPr txBox="1"/>
          <p:nvPr/>
        </p:nvSpPr>
        <p:spPr>
          <a:xfrm>
            <a:off x="11801246" y="5171846"/>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게르하르트 리히터</a:t>
            </a:r>
            <a:endParaRPr lang="en-US" sz="1575" dirty="0"/>
          </a:p>
        </p:txBody>
      </p:sp>
      <p:pic>
        <p:nvPicPr>
          <p:cNvPr id="24" name="Image 6" descr="gen-dedup-dc2973bed1acd8672cf7229964571424.png">    </p:cNvPr>
          <p:cNvPicPr>
            <a:picLocks noChangeAspect="1"/>
          </p:cNvPicPr>
          <p:nvPr/>
        </p:nvPicPr>
        <p:blipFill>
          <a:blip r:embed="rId7"/>
          <a:stretch/>
        </p:blipFill>
        <p:spPr>
          <a:xfrm>
            <a:off x="11902863" y="5572354"/>
            <a:ext cx="4864372" cy="9144"/>
          </a:xfrm>
          <a:prstGeom prst="rect">
            <a:avLst/>
          </a:prstGeom>
        </p:spPr>
      </p:pic>
      <p:sp>
        <p:nvSpPr>
          <p:cNvPr id="25" name="Text 16"/>
          <p:cNvSpPr txBox="1"/>
          <p:nvPr/>
        </p:nvSpPr>
        <p:spPr>
          <a:xfrm>
            <a:off x="11801246" y="5715000"/>
            <a:ext cx="5067605" cy="685800"/>
          </a:xfrm>
          <a:prstGeom prst="rect">
            <a:avLst/>
          </a:prstGeom>
          <a:noFill/>
          <a:ln/>
        </p:spPr>
        <p:txBody>
          <a:bodyPr wrap="square" lIns="0" tIns="0" rIns="0" bIns="0" rtlCol="0" anchor="ctr"/>
          <a:lstStyle/>
          <a:p>
            <a:pPr algn="l" indent="0" marL="0">
              <a:lnSpc>
                <a:spcPts val="2673"/>
              </a:lnSpc>
              <a:buNone/>
            </a:pPr>
            <a:r>
              <a:rPr lang="en-US" sz="1650" i="1" dirty="0">
                <a:solidFill>
                  <a:srgbClr val="17150F"/>
                </a:solidFill>
                <a:latin typeface="Noto Serif KR" pitchFamily="34" charset="0"/>
                <a:ea typeface="Noto Serif KR" pitchFamily="34" charset="-122"/>
                <a:cs typeface="Noto Serif KR" pitchFamily="34" charset="-120"/>
              </a:rPr>
              <a:t>“It's never blind chance: it's a chance that is always planned, but also always surprising.”</a:t>
            </a:r>
            <a:endParaRPr lang="en-US" sz="1650" dirty="0"/>
          </a:p>
        </p:txBody>
      </p:sp>
      <p:sp>
        <p:nvSpPr>
          <p:cNvPr id="26" name="Text 17"/>
          <p:cNvSpPr txBox="1"/>
          <p:nvPr/>
        </p:nvSpPr>
        <p:spPr>
          <a:xfrm>
            <a:off x="11801246" y="6489497"/>
            <a:ext cx="5067605" cy="724205"/>
          </a:xfrm>
          <a:prstGeom prst="rect">
            <a:avLst/>
          </a:prstGeom>
          <a:noFill/>
          <a:ln/>
        </p:spPr>
        <p:txBody>
          <a:bodyPr wrap="square" lIns="0" tIns="0" rIns="0" bIns="0" rtlCol="0" anchor="ctr"/>
          <a:lstStyle/>
          <a:p>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그것은 결코 </a:t>
            </a:r>
            <a:pPr algn="l" indent="0" marL="0">
              <a:lnSpc>
                <a:spcPts val="2838"/>
              </a:lnSpc>
              <a:buNone/>
            </a:pPr>
            <a:r>
              <a:rPr lang="en-US" sz="1650" b="1" dirty="0">
                <a:solidFill>
                  <a:srgbClr val="17150F"/>
                </a:solidFill>
                <a:latin typeface="Noto Serif KR" pitchFamily="34" charset="0"/>
                <a:ea typeface="Noto Serif KR" pitchFamily="34" charset="-122"/>
                <a:cs typeface="Noto Serif KR" pitchFamily="34" charset="-120"/>
              </a:rPr>
              <a:t>맹목적 우연이 아니다</a:t>
            </a:r>
            <a:pPr algn="l" indent="0" marL="0">
              <a:lnSpc>
                <a:spcPts val="2838"/>
              </a:lnSpc>
              <a:buNone/>
            </a:pPr>
            <a:r>
              <a:rPr lang="en-US" sz="1650" dirty="0">
                <a:solidFill>
                  <a:srgbClr val="3A362C"/>
                </a:solidFill>
                <a:latin typeface="Noto Serif KR" pitchFamily="34" charset="0"/>
                <a:ea typeface="Noto Serif KR" pitchFamily="34" charset="-122"/>
                <a:cs typeface="Noto Serif KR" pitchFamily="34" charset="-120"/>
              </a:rPr>
              <a:t>. 언제나 계획된 우연이지만, 동시에 언제나 놀라움이다.</a:t>
            </a:r>
            <a:endParaRPr lang="en-US" sz="1650" dirty="0"/>
          </a:p>
        </p:txBody>
      </p:sp>
      <p:sp>
        <p:nvSpPr>
          <p:cNvPr id="27" name="Shape 18"/>
          <p:cNvSpPr/>
          <p:nvPr/>
        </p:nvSpPr>
        <p:spPr>
          <a:xfrm>
            <a:off x="11525098" y="7619695"/>
            <a:ext cx="5619902" cy="2133295"/>
          </a:xfrm>
          <a:prstGeom prst="rect">
            <a:avLst/>
          </a:prstGeom>
          <a:solidFill>
            <a:srgbClr val="9C2A1F">
              <a:alpha val="6000"/>
            </a:srgbClr>
          </a:solidFill>
          <a:ln w="12700">
            <a:solidFill>
              <a:srgbClr val="9C2A1F"/>
            </a:solidFill>
            <a:prstDash val="solid"/>
          </a:ln>
        </p:spPr>
      </p:sp>
      <p:sp>
        <p:nvSpPr>
          <p:cNvPr id="28" name="Text 19"/>
          <p:cNvSpPr txBox="1"/>
          <p:nvPr/>
        </p:nvSpPr>
        <p:spPr>
          <a:xfrm>
            <a:off x="11801246" y="7839151"/>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우리가 한 일</a:t>
            </a:r>
            <a:endParaRPr lang="en-US" sz="1575" dirty="0"/>
          </a:p>
        </p:txBody>
      </p:sp>
      <p:pic>
        <p:nvPicPr>
          <p:cNvPr id="29" name="Image 7" descr="gen-dedup-eb8251e30e6f067c72c1c831d415f691.png">    </p:cNvPr>
          <p:cNvPicPr>
            <a:picLocks noChangeAspect="1"/>
          </p:cNvPicPr>
          <p:nvPr/>
        </p:nvPicPr>
        <p:blipFill>
          <a:blip r:embed="rId8"/>
          <a:stretch/>
        </p:blipFill>
        <p:spPr>
          <a:xfrm>
            <a:off x="11902863" y="8238744"/>
            <a:ext cx="4864372" cy="9144"/>
          </a:xfrm>
          <a:prstGeom prst="rect">
            <a:avLst/>
          </a:prstGeom>
        </p:spPr>
      </p:pic>
      <p:sp>
        <p:nvSpPr>
          <p:cNvPr id="30" name="Text 20"/>
          <p:cNvSpPr txBox="1"/>
          <p:nvPr/>
        </p:nvSpPr>
        <p:spPr>
          <a:xfrm>
            <a:off x="11801246" y="8382305"/>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우리도 세 번의 우연을 받아들이고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하나를 골랐다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리히터의 표현을 빌리면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계획된 우연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 계획은 카드였고, 우연은 도구였다.</a:t>
            </a:r>
            <a:endParaRPr lang="en-US" sz="1725" dirty="0"/>
          </a:p>
        </p:txBody>
      </p:sp>
      <p:sp>
        <p:nvSpPr>
          <p:cNvPr id="31" name="Text 21"/>
          <p:cNvSpPr txBox="1"/>
          <p:nvPr/>
        </p:nvSpPr>
        <p:spPr>
          <a:xfrm>
            <a:off x="1143000" y="6400800"/>
            <a:ext cx="49533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초현실주의의 두 개념</a:t>
            </a:r>
            <a:endParaRPr lang="en-US" sz="1575"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7010705"/>
          <a:ext cx="4953305" cy="1924812"/>
        </p:xfrm>
        <a:graphic>
          <a:graphicData uri="http://schemas.openxmlformats.org/drawingml/2006/table">
            <a:tbl>
              <a:tblPr/>
              <a:tblGrid>
                <a:gridCol w="1714500"/>
                <a:gridCol w="3238805"/>
              </a:tblGrid>
              <a:tr h="962406">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오브제 트루베</a:t>
                      </a:r>
                      <a:pPr indent="0" marL="0">
                        <a:buNone/>
                      </a:pPr>
                      <a:endParaRPr lang="en-US" sz="1200" dirty="0"/>
                    </a:p>
                    <a:p>
                      <a:pPr indent="0" marL="0">
                        <a:buNone/>
                      </a:pPr>
                      <a:r>
                        <a:rPr lang="en-US" sz="1425" dirty="0">
                          <a:solidFill>
                            <a:srgbClr val="6B6456"/>
                          </a:solidFill>
                          <a:latin typeface="Noto Sans KR" pitchFamily="34" charset="0"/>
                          <a:ea typeface="Noto Sans KR" pitchFamily="34" charset="-122"/>
                          <a:cs typeface="Noto Sans KR" pitchFamily="34" charset="-120"/>
                        </a:rPr>
                        <a:t>objet trouvé</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우연히 발견되어 미적 가치를 인정받은 사물</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406">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데페이즈망</a:t>
                      </a:r>
                      <a:pPr indent="0" marL="0">
                        <a:buNone/>
                      </a:pPr>
                      <a:endParaRPr lang="en-US" sz="1200" dirty="0"/>
                    </a:p>
                    <a:p>
                      <a:pPr indent="0" marL="0">
                        <a:buNone/>
                      </a:pPr>
                      <a:r>
                        <a:rPr lang="en-US" sz="1425" dirty="0">
                          <a:solidFill>
                            <a:srgbClr val="6B6456"/>
                          </a:solidFill>
                          <a:latin typeface="Noto Sans KR" pitchFamily="34" charset="0"/>
                          <a:ea typeface="Noto Sans KR" pitchFamily="34" charset="-122"/>
                          <a:cs typeface="Noto Sans KR" pitchFamily="34" charset="-120"/>
                        </a:rPr>
                        <a:t>dépaysement</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일상적 맥락에서 떼어내 </a:t>
                      </a:r>
                      <a:pPr indent="0" marL="0">
                        <a:buNone/>
                      </a:pPr>
                      <a:r>
                        <a:rPr lang="en-US" sz="1650" b="1" dirty="0">
                          <a:solidFill>
                            <a:srgbClr val="17150F"/>
                          </a:solidFill>
                          <a:latin typeface="Noto Serif KR" pitchFamily="34" charset="0"/>
                          <a:ea typeface="Noto Serif KR" pitchFamily="34" charset="-122"/>
                          <a:cs typeface="Noto Serif KR" pitchFamily="34" charset="-120"/>
                        </a:rPr>
                        <a:t>낯선 환경</a:t>
                      </a:r>
                      <a:pPr indent="0" marL="0">
                        <a:buNone/>
                      </a:pPr>
                      <a:r>
                        <a:rPr lang="en-US" sz="1650" dirty="0">
                          <a:solidFill>
                            <a:srgbClr val="3A362C"/>
                          </a:solidFill>
                          <a:latin typeface="Noto Serif KR" pitchFamily="34" charset="0"/>
                          <a:ea typeface="Noto Serif KR" pitchFamily="34" charset="-122"/>
                          <a:cs typeface="Noto Serif KR" pitchFamily="34" charset="-120"/>
                        </a:rPr>
                        <a:t>에 놓는 기법</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33" name="Text 22"/>
          <p:cNvSpPr txBox="1"/>
          <p:nvPr/>
        </p:nvSpPr>
        <p:spPr>
          <a:xfrm>
            <a:off x="1143000" y="9430207"/>
            <a:ext cx="4953305" cy="734263"/>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우리 전시는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데페이즈망을 두 번</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한다 — 사물을 미래로, 이미지를 교실로.</a:t>
            </a:r>
            <a:endParaRPr lang="en-US" sz="16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73152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5 정리 · 내 입장을 한 문장으로</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네 입장 중 하나를 고른다</a:t>
            </a:r>
            <a:endParaRPr lang="en-US" sz="3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4810658"/>
        </p:xfrm>
        <a:graphic>
          <a:graphicData uri="http://schemas.openxmlformats.org/drawingml/2006/table">
            <a:tbl>
              <a:tblPr/>
              <a:tblGrid>
                <a:gridCol w="1714500"/>
                <a:gridCol w="4381805"/>
                <a:gridCol w="4572000"/>
                <a:gridCol w="5333695"/>
              </a:tblGrid>
              <a:tr h="96213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입장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주장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근거로 쓸 수 있는 자료</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약점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저자 없음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도구가 만들었으므로 저자는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세일러 판결 — 기계는 저자가 될 수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그럼 </a:t>
                      </a:r>
                      <a:pPr indent="0" marL="0">
                        <a:buNone/>
                      </a:pPr>
                      <a:r>
                        <a:rPr lang="en-US" sz="1875" b="1" dirty="0">
                          <a:solidFill>
                            <a:srgbClr val="9C2A1F"/>
                          </a:solidFill>
                          <a:latin typeface="Noto Serif KR" pitchFamily="34" charset="0"/>
                          <a:ea typeface="Noto Serif KR" pitchFamily="34" charset="-122"/>
                          <a:cs typeface="Noto Serif KR" pitchFamily="34" charset="-120"/>
                        </a:rPr>
                        <a:t>고른 사람</a:t>
                      </a:r>
                      <a:pPr indent="0" marL="0">
                        <a:buNone/>
                      </a:pPr>
                      <a:r>
                        <a:rPr lang="en-US" sz="1875" dirty="0">
                          <a:solidFill>
                            <a:srgbClr val="3A362C"/>
                          </a:solidFill>
                          <a:latin typeface="Noto Serif KR" pitchFamily="34" charset="0"/>
                          <a:ea typeface="Noto Serif KR" pitchFamily="34" charset="-122"/>
                          <a:cs typeface="Noto Serif KR" pitchFamily="34" charset="-120"/>
                        </a:rPr>
                        <a:t>의 결정은 무엇인가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부분 저자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선택·명명·배열 부분만 내 것이다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자리야 결정 — 텍스트와 배열은 인정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이미지가 </a:t>
                      </a:r>
                      <a:pPr indent="0" marL="0">
                        <a:buNone/>
                      </a:pPr>
                      <a:r>
                        <a:rPr lang="en-US" sz="1875" b="1" dirty="0">
                          <a:solidFill>
                            <a:srgbClr val="9C2A1F"/>
                          </a:solidFill>
                          <a:latin typeface="Noto Serif KR" pitchFamily="34" charset="0"/>
                          <a:ea typeface="Noto Serif KR" pitchFamily="34" charset="-122"/>
                          <a:cs typeface="Noto Serif KR" pitchFamily="34" charset="-120"/>
                        </a:rPr>
                        <a:t>작품의 대부분</a:t>
                      </a:r>
                      <a:pPr indent="0" marL="0">
                        <a:buNone/>
                      </a:pPr>
                      <a:r>
                        <a:rPr lang="en-US" sz="1875" dirty="0">
                          <a:solidFill>
                            <a:srgbClr val="3A362C"/>
                          </a:solidFill>
                          <a:latin typeface="Noto Serif KR" pitchFamily="34" charset="0"/>
                          <a:ea typeface="Noto Serif KR" pitchFamily="34" charset="-122"/>
                          <a:cs typeface="Noto Serif KR" pitchFamily="34" charset="-120"/>
                        </a:rPr>
                        <a:t>인 경우는 어떻게 되는가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전체 저자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프롬프트를 쓴 사람이 저자다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리히터 — 계획된 우연도 작가의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저작권청은 </a:t>
                      </a:r>
                      <a:pPr indent="0" marL="0">
                        <a:buNone/>
                      </a:pPr>
                      <a:r>
                        <a:rPr lang="en-US" sz="1875" b="1" dirty="0">
                          <a:solidFill>
                            <a:srgbClr val="9C2A1F"/>
                          </a:solidFill>
                          <a:latin typeface="Noto Serif KR" pitchFamily="34" charset="0"/>
                          <a:ea typeface="Noto Serif KR" pitchFamily="34" charset="-122"/>
                          <a:cs typeface="Noto Serif KR" pitchFamily="34" charset="-120"/>
                        </a:rPr>
                        <a:t>프롬프트만으로는 부족</a:t>
                      </a:r>
                      <a:pPr indent="0" marL="0">
                        <a:buNone/>
                      </a:pPr>
                      <a:r>
                        <a:rPr lang="en-US" sz="1875" dirty="0">
                          <a:solidFill>
                            <a:srgbClr val="3A362C"/>
                          </a:solidFill>
                          <a:latin typeface="Noto Serif KR" pitchFamily="34" charset="0"/>
                          <a:ea typeface="Noto Serif KR" pitchFamily="34" charset="-122"/>
                          <a:cs typeface="Noto Serif KR" pitchFamily="34" charset="-120"/>
                        </a:rPr>
                        <a:t>하다고 보았다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D</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공동 저자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사람과 도구의 공동 산물이다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케이지 — 우연을 받아들이는 것도 창작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현행법은 </a:t>
                      </a:r>
                      <a:pPr indent="0" marL="0">
                        <a:buNone/>
                      </a:pPr>
                      <a:r>
                        <a:rPr lang="en-US" sz="1875" b="1" dirty="0">
                          <a:solidFill>
                            <a:srgbClr val="9C2A1F"/>
                          </a:solidFill>
                          <a:latin typeface="Noto Serif KR" pitchFamily="34" charset="0"/>
                          <a:ea typeface="Noto Serif KR" pitchFamily="34" charset="-122"/>
                          <a:cs typeface="Noto Serif KR" pitchFamily="34" charset="-120"/>
                        </a:rPr>
                        <a:t>기계를 저자로 인정하지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619695"/>
            <a:ext cx="7810805" cy="1781251"/>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8391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단원이 권하는 입장</a:t>
            </a:r>
            <a:endParaRPr lang="en-US" sz="1575" dirty="0"/>
          </a:p>
        </p:txBody>
      </p:sp>
      <p:pic>
        <p:nvPicPr>
          <p:cNvPr id="10" name="Image 2" descr="gen-dedup-8daa7bbad9e138f694b547871d64bad8.png">    </p:cNvPr>
          <p:cNvPicPr>
            <a:picLocks noChangeAspect="1"/>
          </p:cNvPicPr>
          <p:nvPr/>
        </p:nvPicPr>
        <p:blipFill>
          <a:blip r:embed="rId4"/>
          <a:stretch/>
        </p:blipFill>
        <p:spPr>
          <a:xfrm>
            <a:off x="1582731" y="8238744"/>
            <a:ext cx="6931342" cy="9144"/>
          </a:xfrm>
          <a:prstGeom prst="rect">
            <a:avLst/>
          </a:prstGeom>
        </p:spPr>
      </p:pic>
      <p:sp>
        <p:nvSpPr>
          <p:cNvPr id="11" name="Text 5"/>
          <p:cNvSpPr txBox="1"/>
          <p:nvPr/>
        </p:nvSpPr>
        <p:spPr>
          <a:xfrm>
            <a:off x="1438351" y="8382305"/>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B</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이미지는 도구의 산물이지만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무엇을 만들지 정한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우리다. 그래서 우리는 “이미지를 만들었다”가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“전시를 만들었다”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 말한다.</a:t>
            </a:r>
            <a:endParaRPr lang="en-US" sz="1800" dirty="0"/>
          </a:p>
        </p:txBody>
      </p:sp>
      <p:sp>
        <p:nvSpPr>
          <p:cNvPr id="12" name="Shape 6"/>
          <p:cNvSpPr/>
          <p:nvPr/>
        </p:nvSpPr>
        <p:spPr>
          <a:xfrm>
            <a:off x="9334195" y="7619695"/>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7839151"/>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그러나 강요하지 않는다</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238744"/>
            <a:ext cx="6931342" cy="9144"/>
          </a:xfrm>
          <a:prstGeom prst="rect">
            <a:avLst/>
          </a:prstGeom>
        </p:spPr>
      </p:pic>
      <p:sp>
        <p:nvSpPr>
          <p:cNvPr id="15" name="Text 8"/>
          <p:cNvSpPr txBox="1"/>
          <p:nvPr/>
        </p:nvSpPr>
        <p:spPr>
          <a:xfrm>
            <a:off x="9629546" y="83823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네 입장 모두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근거를 댈 수 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여러분이 A나 D를 고르고 근거를 대면 그것이 이 차시의 성취다. 8차시에서 입장이 바뀌었는지 확인한다.</a:t>
            </a:r>
            <a:endParaRPr lang="en-US" sz="1800" dirty="0"/>
          </a:p>
        </p:txBody>
      </p:sp>
      <p:sp>
        <p:nvSpPr>
          <p:cNvPr id="16" name="Text 9"/>
          <p:cNvSpPr txBox="1"/>
          <p:nvPr/>
        </p:nvSpPr>
        <p:spPr>
          <a:xfrm>
            <a:off x="1143000" y="9525305"/>
            <a:ext cx="16002000" cy="391363"/>
          </a:xfrm>
          <a:prstGeom prst="rect">
            <a:avLst/>
          </a:prstGeom>
          <a:noFill/>
          <a:ln/>
        </p:spPr>
        <p:txBody>
          <a:bodyPr wrap="none" lIns="0" tIns="0" rIns="0" bIns="0" rtlCol="0" anchor="ctr"/>
          <a:lstStyle/>
          <a:p>
            <a:pPr algn="l" indent="0" marL="0">
              <a:buNone/>
            </a:pPr>
            <a:r>
              <a:rPr lang="en-US" sz="1725" b="1" dirty="0">
                <a:solidFill>
                  <a:srgbClr val="17150F"/>
                </a:solidFill>
                <a:latin typeface="Noto Serif KR" pitchFamily="34" charset="0"/>
                <a:ea typeface="Noto Serif KR" pitchFamily="34" charset="-122"/>
                <a:cs typeface="Noto Serif KR" pitchFamily="34" charset="-120"/>
              </a:rPr>
              <a:t>학습지 5 ③</a:t>
            </a:r>
            <a:pPr algn="l" indent="0" marL="0">
              <a:buNone/>
            </a:pPr>
            <a:r>
              <a:rPr lang="en-US" sz="1725" dirty="0">
                <a:solidFill>
                  <a:srgbClr val="3A362C"/>
                </a:solidFill>
                <a:latin typeface="Noto Serif KR" pitchFamily="34" charset="0"/>
                <a:ea typeface="Noto Serif KR" pitchFamily="34" charset="-122"/>
                <a:cs typeface="Noto Serif KR" pitchFamily="34" charset="-120"/>
              </a:rPr>
              <a:t> — 고른 입장(A~D)과 근거 자료 한 가지, 그리고 “오늘 내가 정한 것” 세 가지를 적는다.</a:t>
            </a:r>
            <a:endParaRPr lang="en-US" sz="1725"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2">
            <a:alphaModFix amt="88000"/>
          </a:blip>
          <a:stretch>
            <a:fillRect/>
          </a:stretch>
        </p:blipFill>
        <p:spPr>
          <a:xfrm>
            <a:off x="11239805" y="0"/>
            <a:ext cx="7053943"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정리 · 핵심 발문</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06</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문장을 고쳤는가,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기대를 고쳤는가</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개의 발문으로 오늘을 닫는다. 오늘의 근거는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방금 생성한 이미지와 세 번의 프롬프트</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정리 — 핵심 발문</a:t>
            </a:r>
            <a:endParaRPr lang="en-US" sz="16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신뢰의 출처</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발문 1</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빛이 닿지 않은 이미지가</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사진처럼 믿기는 이유는 무엇인가.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전개 1의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세 층</a:t>
            </a:r>
            <a:pPr algn="l" indent="0" marL="0">
              <a:buNone/>
            </a:pPr>
            <a:r>
              <a:rPr lang="en-US" sz="1875" dirty="0">
                <a:solidFill>
                  <a:srgbClr val="3A362C"/>
                </a:solidFill>
                <a:latin typeface="Noto Serif KR" pitchFamily="34" charset="0"/>
                <a:ea typeface="Noto Serif KR" pitchFamily="34" charset="-122"/>
                <a:cs typeface="Noto Serif KR" pitchFamily="34" charset="-120"/>
              </a:rPr>
              <a:t> 중 하나를 지목한다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자기 이미지에서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그 층에 해당하는 요소</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든다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짝이 오해한 지점을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근거로 인용</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도구와 결정</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발문 2</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결과가 카드와 달랐을 때</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여러분은 무엇을 고쳤는가.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1차와 2차 프롬프트에서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고친 줄 번호</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결과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무엇이 달라졌는지</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이미지에서 지목한다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혹시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카드를 고쳤다면</a:t>
            </a:r>
            <a:pPr algn="l" indent="0" marL="0">
              <a:buNone/>
            </a:pPr>
            <a:r>
              <a:rPr lang="en-US" sz="1875" dirty="0">
                <a:solidFill>
                  <a:srgbClr val="3A362C"/>
                </a:solidFill>
                <a:latin typeface="Noto Serif KR" pitchFamily="34" charset="0"/>
                <a:ea typeface="Noto Serif KR" pitchFamily="34" charset="-122"/>
                <a:cs typeface="Noto Serif KR" pitchFamily="34" charset="-120"/>
              </a:rPr>
              <a:t> 그 사실도 밝힌다</a:t>
            </a:r>
            <a:endParaRPr lang="en-US" sz="12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저자성</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발문 3</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이 이미지를 여러분의 작품이라고</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말할 수 있는가.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A~D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자기 입장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밝힌다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오늘 배운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결정 하나</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근거로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1차시 뒤샹과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비교하거나 구별</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5] 문장이 이미지를 결정한다</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학습지</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1면이 프롬프트 기록</a:t>
            </a:r>
            <a:endParaRPr lang="en-US" sz="3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2266798"/>
          <a:ext cx="16002000" cy="3715207"/>
        </p:xfrm>
        <a:graphic>
          <a:graphicData uri="http://schemas.openxmlformats.org/drawingml/2006/table">
            <a:tbl>
              <a:tblPr/>
              <a:tblGrid>
                <a:gridCol w="1142935"/>
                <a:gridCol w="3238620"/>
                <a:gridCol w="2095685"/>
                <a:gridCol w="9524761"/>
              </a:tblGrid>
              <a:tr h="743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프롬프트 3회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70–90분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여섯 줄 서식에 1·2·3차 프롬프트를 각각 기록. 고친 줄에 밑줄, 옆에 “무엇이 달라졌는가” 한 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3단 검증표</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③ 짝의 추정 기록</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90–103분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있는가·맞는가·남는가 체크. 짝이 추정한 재질·사용흔·매몰흔·용도 네 줄을 그대로 받아 적음. 하단에 실패 유형 5가지 인쇄.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기호 분류 연습</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조작 기준선</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1 · 10–35분</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전개 2 · 35–50분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다섯 사례를 도상·지표·상징으로 분류. 편집/조작 기준 A·B·C 중 선택과 근거 한 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⑥ 저자성 입장</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⑦ 내가 정한 것 3가지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5 · 103–115분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A~D 입장 선택 + 근거 자료 한 가지. 그리고 오늘 자신이 </a:t>
                      </a:r>
                      <a:pPr indent="0" marL="0">
                        <a:buNone/>
                      </a:pPr>
                      <a:r>
                        <a:rPr lang="en-US" sz="1725" b="1" dirty="0">
                          <a:solidFill>
                            <a:srgbClr val="17150F"/>
                          </a:solidFill>
                          <a:latin typeface="Noto Serif KR" pitchFamily="34" charset="0"/>
                          <a:ea typeface="Noto Serif KR" pitchFamily="34" charset="-122"/>
                          <a:cs typeface="Noto Serif KR" pitchFamily="34" charset="-120"/>
                        </a:rPr>
                        <a:t>직접 결정한 것</a:t>
                      </a:r>
                      <a:pPr indent="0" marL="0">
                        <a:buNone/>
                      </a:pPr>
                      <a:r>
                        <a:rPr lang="en-US" sz="1725" dirty="0">
                          <a:solidFill>
                            <a:srgbClr val="3A362C"/>
                          </a:solidFill>
                          <a:latin typeface="Noto Serif KR" pitchFamily="34" charset="0"/>
                          <a:ea typeface="Noto Serif KR" pitchFamily="34" charset="-122"/>
                          <a:cs typeface="Noto Serif KR" pitchFamily="34" charset="-120"/>
                        </a:rPr>
                        <a:t> 세 가지. </a:t>
                      </a:r>
                      <a:pPr indent="0" marL="0">
                        <a:buNone/>
                      </a:pPr>
                      <a:r>
                        <a:rPr lang="en-US" sz="1725" b="1" dirty="0">
                          <a:solidFill>
                            <a:srgbClr val="9C2A1F"/>
                          </a:solidFill>
                          <a:latin typeface="Noto Serif KR" pitchFamily="34" charset="0"/>
                          <a:ea typeface="Noto Serif KR" pitchFamily="34" charset="-122"/>
                          <a:cs typeface="Noto Serif KR" pitchFamily="34" charset="-120"/>
                        </a:rPr>
                        <a:t>8차시 성찰문에서 재사용</a:t>
                      </a:r>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25005"/>
            <a:ext cx="7810805" cy="2219249"/>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343546"/>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763256"/>
            <a:ext cx="6967409" cy="9144"/>
          </a:xfrm>
          <a:prstGeom prst="rect">
            <a:avLst/>
          </a:prstGeom>
        </p:spPr>
      </p:pic>
      <p:sp>
        <p:nvSpPr>
          <p:cNvPr id="10" name="Text 5"/>
          <p:cNvSpPr txBox="1"/>
          <p:nvPr/>
        </p:nvSpPr>
        <p:spPr>
          <a:xfrm>
            <a:off x="1419149" y="7925105"/>
            <a:ext cx="7258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1~4차시와 동일 서식. 단 1면은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여섯 줄 빈칸 서식을 3세트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인쇄해 회차별로 나란히 비교되게 조판한다.</a:t>
            </a:r>
            <a:endParaRPr lang="en-US" sz="1800" dirty="0"/>
          </a:p>
        </p:txBody>
      </p:sp>
      <p:sp>
        <p:nvSpPr>
          <p:cNvPr id="11" name="Shape 6"/>
          <p:cNvSpPr/>
          <p:nvPr/>
        </p:nvSpPr>
        <p:spPr>
          <a:xfrm>
            <a:off x="9620402" y="7125005"/>
            <a:ext cx="7524598" cy="2219249"/>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343546"/>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763256"/>
            <a:ext cx="6693451" cy="9144"/>
          </a:xfrm>
          <a:prstGeom prst="rect">
            <a:avLst/>
          </a:prstGeom>
        </p:spPr>
      </p:pic>
      <p:sp>
        <p:nvSpPr>
          <p:cNvPr id="14" name="Text 8"/>
          <p:cNvSpPr txBox="1"/>
          <p:nvPr/>
        </p:nvSpPr>
        <p:spPr>
          <a:xfrm>
            <a:off x="9896551" y="7925105"/>
            <a:ext cx="697230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1면과 2면은 복사해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6차시 캡션 작성은 2면의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짝의 오해 기록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에서 출발한다. 4면 ⑦번 세 가지는 8차시 성찰문의 첫 문장이 된다.</a:t>
            </a:r>
            <a:endParaRPr lang="en-US" sz="1800" dirty="0"/>
          </a:p>
        </p:txBody>
      </p:sp>
      <p:sp>
        <p:nvSpPr>
          <p:cNvPr id="15" name="Shape 9"/>
          <p:cNvSpPr/>
          <p:nvPr/>
        </p:nvSpPr>
        <p:spPr>
          <a:xfrm>
            <a:off x="1143000" y="9144000"/>
            <a:ext cx="16002000" cy="1181405"/>
          </a:xfrm>
          <a:prstGeom prst="rect">
            <a:avLst/>
          </a:prstGeom>
          <a:solidFill>
            <a:srgbClr val="FFFFFF">
              <a:alpha val="36000"/>
            </a:srgbClr>
          </a:solidFill>
          <a:ln w="12700">
            <a:solidFill>
              <a:srgbClr val="BEB6A5"/>
            </a:solidFill>
            <a:prstDash val="solid"/>
          </a:ln>
        </p:spPr>
      </p:sp>
      <p:sp>
        <p:nvSpPr>
          <p:cNvPr id="16" name="Text 10"/>
          <p:cNvSpPr txBox="1"/>
          <p:nvPr/>
        </p:nvSpPr>
        <p:spPr>
          <a:xfrm>
            <a:off x="1399946" y="9325051"/>
            <a:ext cx="15488107" cy="819302"/>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생성 파일 관리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3회 생성 결과는 모두 </a:t>
            </a:r>
            <a:pPr algn="l" indent="0" marL="0">
              <a:lnSpc>
                <a:spcPts val="3132"/>
              </a:lnSpc>
              <a:buNone/>
            </a:pPr>
            <a:r>
              <a:rPr lang="en-US" sz="1800" dirty="0">
                <a:solidFill>
                  <a:srgbClr val="3A362C"/>
                </a:solidFill>
                <a:latin typeface="IBM Plex Mono" pitchFamily="34" charset="0"/>
                <a:ea typeface="IBM Plex Mono" pitchFamily="34" charset="-122"/>
                <a:cs typeface="IBM Plex Mono" pitchFamily="34" charset="-120"/>
              </a:rPr>
              <a:t>2300-KR-학번-1/2/3</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형식으로 저장한다. 최종 선택본은 파일명 끝에 </a:t>
            </a:r>
            <a:pPr algn="l" indent="0" marL="0">
              <a:lnSpc>
                <a:spcPts val="3132"/>
              </a:lnSpc>
              <a:buNone/>
            </a:pPr>
            <a:r>
              <a:rPr lang="en-US" sz="1800" dirty="0">
                <a:solidFill>
                  <a:srgbClr val="3A362C"/>
                </a:solidFill>
                <a:latin typeface="IBM Plex Mono" pitchFamily="34" charset="0"/>
                <a:ea typeface="IBM Plex Mono" pitchFamily="34" charset="-122"/>
                <a:cs typeface="IBM Plex Mono" pitchFamily="34" charset="-120"/>
              </a:rPr>
              <a:t>-final</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붙인다. 7차시 전시 배치에서 유물번호와 파일이 대응해야 한다.</a:t>
            </a:r>
            <a:endParaRPr lang="en-US" sz="1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차시 마무리</a:t>
            </a:r>
            <a:endParaRPr lang="en-US" sz="1800" dirty="0"/>
          </a:p>
        </p:txBody>
      </p:sp>
      <p:sp>
        <p:nvSpPr>
          <p:cNvPr id="4" name="Text 1"/>
          <p:cNvSpPr txBox="1"/>
          <p:nvPr/>
        </p:nvSpPr>
        <p:spPr>
          <a:xfrm>
            <a:off x="12477902" y="629107"/>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05 · 정리</a:t>
            </a:r>
            <a:endParaRPr lang="en-US" sz="1650" dirty="0"/>
          </a:p>
        </p:txBody>
      </p:sp>
      <p:sp>
        <p:nvSpPr>
          <p:cNvPr id="5" name="Text 2"/>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6" name="Text 3"/>
          <p:cNvSpPr txBox="1"/>
          <p:nvPr/>
        </p:nvSpPr>
        <p:spPr>
          <a:xfrm>
            <a:off x="1143000" y="2361895"/>
            <a:ext cx="10668305" cy="330098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사진이 믿기는 이유는 잘 찍어서가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빛이 실제로 닿았기</a:t>
            </a:r>
            <a:pPr algn="l" indent="0" marL="0">
              <a:buNone/>
            </a:pPr>
            <a:r>
              <a:rPr lang="en-US" sz="2175" dirty="0">
                <a:solidFill>
                  <a:srgbClr val="3A362C"/>
                </a:solidFill>
                <a:latin typeface="Noto Serif KR" pitchFamily="34" charset="0"/>
                <a:ea typeface="Noto Serif KR" pitchFamily="34" charset="-122"/>
                <a:cs typeface="Noto Serif KR" pitchFamily="34" charset="-120"/>
              </a:rPr>
              <a:t> 때문이다.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그 물리적 연결이 없어도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형식과 서식</a:t>
            </a:r>
            <a:pPr algn="l" indent="0" marL="0">
              <a:buNone/>
            </a:pPr>
            <a:r>
              <a:rPr lang="en-US" sz="2175" dirty="0">
                <a:solidFill>
                  <a:srgbClr val="3A362C"/>
                </a:solidFill>
                <a:latin typeface="Noto Serif KR" pitchFamily="34" charset="0"/>
                <a:ea typeface="Noto Serif KR" pitchFamily="34" charset="-122"/>
                <a:cs typeface="Noto Serif KR" pitchFamily="34" charset="-120"/>
              </a:rPr>
              <a:t>만으로 관람자는 믿는다.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조작은 AI와 함께 오지 않았다. 사진은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처음부터</a:t>
            </a:r>
            <a:pPr algn="l" indent="0" marL="0">
              <a:buNone/>
            </a:pPr>
            <a:r>
              <a:rPr lang="en-US" sz="2175" dirty="0">
                <a:solidFill>
                  <a:srgbClr val="3A362C"/>
                </a:solidFill>
                <a:latin typeface="Noto Serif KR" pitchFamily="34" charset="0"/>
                <a:ea typeface="Noto Serif KR" pitchFamily="34" charset="-122"/>
                <a:cs typeface="Noto Serif KR" pitchFamily="34" charset="-120"/>
              </a:rPr>
              <a:t> 연출되었다.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결과가 어긋나면 고칠 것은 도구가 아니라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내 문장</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법이 인정한 창작은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선택·명명·배열</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이었다. 1차시의 목록과 같다.</a:t>
            </a:r>
            <a:endParaRPr lang="en-US" sz="1200" dirty="0"/>
          </a:p>
        </p:txBody>
      </p:sp>
      <p:sp>
        <p:nvSpPr>
          <p:cNvPr id="7" name="Shape 4"/>
          <p:cNvSpPr/>
          <p:nvPr/>
        </p:nvSpPr>
        <p:spPr>
          <a:xfrm>
            <a:off x="12477902" y="2361895"/>
            <a:ext cx="4667098" cy="8210398"/>
          </a:xfrm>
          <a:prstGeom prst="rect">
            <a:avLst/>
          </a:prstGeom>
          <a:solidFill>
            <a:srgbClr val="FFFFFF">
              <a:alpha val="42000"/>
            </a:srgbClr>
          </a:solidFill>
          <a:ln w="12700">
            <a:solidFill>
              <a:srgbClr val="BEB6A5"/>
            </a:solidFill>
            <a:prstDash val="solid"/>
          </a:ln>
        </p:spPr>
      </p:sp>
      <p:sp>
        <p:nvSpPr>
          <p:cNvPr id="8" name="Text 5"/>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9" name="Text 6"/>
          <p:cNvSpPr txBox="1"/>
          <p:nvPr/>
        </p:nvSpPr>
        <p:spPr>
          <a:xfrm>
            <a:off x="12715646" y="30476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1863</a:t>
            </a:r>
            <a:endParaRPr lang="en-US" sz="1650" dirty="0"/>
          </a:p>
        </p:txBody>
      </p:sp>
      <p:sp>
        <p:nvSpPr>
          <p:cNvPr id="10" name="Text 7"/>
          <p:cNvSpPr txBox="1"/>
          <p:nvPr/>
        </p:nvSpPr>
        <p:spPr>
          <a:xfrm>
            <a:off x="14315846" y="3000146"/>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가드너 「반란군 저격병의 집」</a:t>
            </a:r>
            <a:endParaRPr lang="en-US" sz="1875" dirty="0"/>
          </a:p>
        </p:txBody>
      </p:sp>
      <p:sp>
        <p:nvSpPr>
          <p:cNvPr id="11" name="Text 8"/>
          <p:cNvSpPr txBox="1"/>
          <p:nvPr/>
        </p:nvSpPr>
        <p:spPr>
          <a:xfrm>
            <a:off x="12715646" y="38477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1867</a:t>
            </a:r>
            <a:endParaRPr lang="en-US" sz="1650" dirty="0"/>
          </a:p>
        </p:txBody>
      </p:sp>
      <p:sp>
        <p:nvSpPr>
          <p:cNvPr id="12" name="Text 9"/>
          <p:cNvSpPr txBox="1"/>
          <p:nvPr/>
        </p:nvSpPr>
        <p:spPr>
          <a:xfrm>
            <a:off x="14315846" y="3800246"/>
            <a:ext cx="20272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퍼스 기호 삼분법</a:t>
            </a:r>
            <a:endParaRPr lang="en-US" sz="1875" dirty="0"/>
          </a:p>
        </p:txBody>
      </p:sp>
      <p:sp>
        <p:nvSpPr>
          <p:cNvPr id="13" name="Text 10"/>
          <p:cNvSpPr txBox="1"/>
          <p:nvPr/>
        </p:nvSpPr>
        <p:spPr>
          <a:xfrm>
            <a:off x="12715646" y="4291279"/>
            <a:ext cx="109819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1913–14</a:t>
            </a:r>
            <a:endParaRPr lang="en-US" sz="1650" dirty="0"/>
          </a:p>
        </p:txBody>
      </p:sp>
      <p:sp>
        <p:nvSpPr>
          <p:cNvPr id="14" name="Text 11"/>
          <p:cNvSpPr txBox="1"/>
          <p:nvPr/>
        </p:nvSpPr>
        <p:spPr>
          <a:xfrm>
            <a:off x="14315846" y="4243730"/>
            <a:ext cx="28767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뒤샹 「3개의 표준 정지」</a:t>
            </a:r>
            <a:endParaRPr lang="en-US" sz="1875" dirty="0"/>
          </a:p>
        </p:txBody>
      </p:sp>
      <p:sp>
        <p:nvSpPr>
          <p:cNvPr id="15" name="Text 12"/>
          <p:cNvSpPr txBox="1"/>
          <p:nvPr/>
        </p:nvSpPr>
        <p:spPr>
          <a:xfrm>
            <a:off x="12715646" y="47338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1936</a:t>
            </a:r>
            <a:endParaRPr lang="en-US" sz="1650" dirty="0"/>
          </a:p>
        </p:txBody>
      </p:sp>
      <p:sp>
        <p:nvSpPr>
          <p:cNvPr id="16" name="Text 13"/>
          <p:cNvSpPr txBox="1"/>
          <p:nvPr/>
        </p:nvSpPr>
        <p:spPr>
          <a:xfrm>
            <a:off x="14315846" y="4686300"/>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벤야민 「기술복제시대의 예술작품」</a:t>
            </a:r>
            <a:endParaRPr lang="en-US" sz="1875" dirty="0"/>
          </a:p>
        </p:txBody>
      </p:sp>
      <p:sp>
        <p:nvSpPr>
          <p:cNvPr id="17" name="Text 14"/>
          <p:cNvSpPr txBox="1"/>
          <p:nvPr/>
        </p:nvSpPr>
        <p:spPr>
          <a:xfrm>
            <a:off x="12715646" y="55339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1972</a:t>
            </a:r>
            <a:endParaRPr lang="en-US" sz="1650" dirty="0"/>
          </a:p>
        </p:txBody>
      </p:sp>
      <p:sp>
        <p:nvSpPr>
          <p:cNvPr id="18" name="Text 15"/>
          <p:cNvSpPr txBox="1"/>
          <p:nvPr/>
        </p:nvSpPr>
        <p:spPr>
          <a:xfrm>
            <a:off x="14315846" y="5486400"/>
            <a:ext cx="25338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버거 『다른 방식으로 보기』</a:t>
            </a:r>
            <a:endParaRPr lang="en-US" sz="1875" dirty="0"/>
          </a:p>
        </p:txBody>
      </p:sp>
      <p:sp>
        <p:nvSpPr>
          <p:cNvPr id="19" name="Text 16"/>
          <p:cNvSpPr txBox="1"/>
          <p:nvPr/>
        </p:nvSpPr>
        <p:spPr>
          <a:xfrm>
            <a:off x="12715646" y="63340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1977</a:t>
            </a:r>
            <a:endParaRPr lang="en-US" sz="1650" dirty="0"/>
          </a:p>
        </p:txBody>
      </p:sp>
      <p:sp>
        <p:nvSpPr>
          <p:cNvPr id="20" name="Text 17"/>
          <p:cNvSpPr txBox="1"/>
          <p:nvPr/>
        </p:nvSpPr>
        <p:spPr>
          <a:xfrm>
            <a:off x="14315846" y="628650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크라우스 「지표에 관한 노트」</a:t>
            </a:r>
            <a:endParaRPr lang="en-US" sz="1875" dirty="0"/>
          </a:p>
        </p:txBody>
      </p:sp>
      <p:sp>
        <p:nvSpPr>
          <p:cNvPr id="21" name="Text 18"/>
          <p:cNvSpPr txBox="1"/>
          <p:nvPr/>
        </p:nvSpPr>
        <p:spPr>
          <a:xfrm>
            <a:off x="12715646" y="71341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1980</a:t>
            </a:r>
            <a:endParaRPr lang="en-US" sz="1650" dirty="0"/>
          </a:p>
        </p:txBody>
      </p:sp>
      <p:sp>
        <p:nvSpPr>
          <p:cNvPr id="22" name="Text 19"/>
          <p:cNvSpPr txBox="1"/>
          <p:nvPr/>
        </p:nvSpPr>
        <p:spPr>
          <a:xfrm>
            <a:off x="14315846" y="7086600"/>
            <a:ext cx="20098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바르트 『밝은 방』</a:t>
            </a:r>
            <a:endParaRPr lang="en-US" sz="1875" dirty="0"/>
          </a:p>
        </p:txBody>
      </p:sp>
      <p:sp>
        <p:nvSpPr>
          <p:cNvPr id="23" name="Text 20"/>
          <p:cNvSpPr txBox="1"/>
          <p:nvPr/>
        </p:nvSpPr>
        <p:spPr>
          <a:xfrm>
            <a:off x="12715646" y="75767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1992</a:t>
            </a:r>
            <a:endParaRPr lang="en-US" sz="1650" dirty="0"/>
          </a:p>
        </p:txBody>
      </p:sp>
      <p:sp>
        <p:nvSpPr>
          <p:cNvPr id="24" name="Text 21"/>
          <p:cNvSpPr txBox="1"/>
          <p:nvPr/>
        </p:nvSpPr>
        <p:spPr>
          <a:xfrm>
            <a:off x="14315846" y="7529170"/>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미첼 『재구성된 눈』</a:t>
            </a:r>
            <a:endParaRPr lang="en-US" sz="1875" dirty="0"/>
          </a:p>
        </p:txBody>
      </p:sp>
      <p:sp>
        <p:nvSpPr>
          <p:cNvPr id="25" name="Text 22"/>
          <p:cNvSpPr txBox="1"/>
          <p:nvPr/>
        </p:nvSpPr>
        <p:spPr>
          <a:xfrm>
            <a:off x="12715646" y="80202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2004</a:t>
            </a:r>
            <a:endParaRPr lang="en-US" sz="1650" dirty="0"/>
          </a:p>
        </p:txBody>
      </p:sp>
      <p:sp>
        <p:nvSpPr>
          <p:cNvPr id="26" name="Text 23"/>
          <p:cNvSpPr txBox="1"/>
          <p:nvPr/>
        </p:nvSpPr>
        <p:spPr>
          <a:xfrm>
            <a:off x="14315846" y="7972654"/>
            <a:ext cx="25338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거닝 「지표는 무엇을 위한 것인가」</a:t>
            </a:r>
            <a:endParaRPr lang="en-US" sz="1875" dirty="0"/>
          </a:p>
        </p:txBody>
      </p:sp>
      <p:sp>
        <p:nvSpPr>
          <p:cNvPr id="27" name="Text 24"/>
          <p:cNvSpPr txBox="1"/>
          <p:nvPr/>
        </p:nvSpPr>
        <p:spPr>
          <a:xfrm>
            <a:off x="12715646" y="88203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2023</a:t>
            </a:r>
            <a:endParaRPr lang="en-US" sz="1650" dirty="0"/>
          </a:p>
        </p:txBody>
      </p:sp>
      <p:sp>
        <p:nvSpPr>
          <p:cNvPr id="28" name="Text 25"/>
          <p:cNvSpPr txBox="1"/>
          <p:nvPr/>
        </p:nvSpPr>
        <p:spPr>
          <a:xfrm>
            <a:off x="14315846" y="8772754"/>
            <a:ext cx="25246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미국 저작권청 자리야 결정·등록 지침</a:t>
            </a:r>
            <a:endParaRPr lang="en-US" sz="1875" dirty="0"/>
          </a:p>
        </p:txBody>
      </p:sp>
      <p:sp>
        <p:nvSpPr>
          <p:cNvPr id="29" name="Text 26"/>
          <p:cNvSpPr txBox="1"/>
          <p:nvPr/>
        </p:nvSpPr>
        <p:spPr>
          <a:xfrm>
            <a:off x="12715646" y="96204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2025</a:t>
            </a:r>
            <a:endParaRPr lang="en-US" sz="1650" dirty="0"/>
          </a:p>
        </p:txBody>
      </p:sp>
      <p:sp>
        <p:nvSpPr>
          <p:cNvPr id="30" name="Text 27"/>
          <p:cNvSpPr txBox="1"/>
          <p:nvPr/>
        </p:nvSpPr>
        <p:spPr>
          <a:xfrm>
            <a:off x="14315846" y="9572854"/>
            <a:ext cx="267004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세일러 대 펄머터 판결</a:t>
            </a:r>
            <a:endParaRPr lang="en-US" sz="1875" dirty="0"/>
          </a:p>
        </p:txBody>
      </p:sp>
      <p:sp>
        <p:nvSpPr>
          <p:cNvPr id="31" name="Text 28"/>
          <p:cNvSpPr txBox="1"/>
          <p:nvPr/>
        </p:nvSpPr>
        <p:spPr>
          <a:xfrm>
            <a:off x="12715646" y="1006297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2026</a:t>
            </a:r>
            <a:endParaRPr lang="en-US" sz="1650" dirty="0"/>
          </a:p>
        </p:txBody>
      </p:sp>
      <p:sp>
        <p:nvSpPr>
          <p:cNvPr id="32" name="Text 29"/>
          <p:cNvSpPr txBox="1"/>
          <p:nvPr/>
        </p:nvSpPr>
        <p:spPr>
          <a:xfrm>
            <a:off x="14315846" y="10015423"/>
            <a:ext cx="2483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한국 AI 기본법 시행</a:t>
            </a:r>
            <a:endParaRPr lang="en-US" sz="1875" dirty="0"/>
          </a:p>
        </p:txBody>
      </p:sp>
      <p:sp>
        <p:nvSpPr>
          <p:cNvPr id="33" name="Text 30"/>
          <p:cNvSpPr txBox="1"/>
          <p:nvPr/>
        </p:nvSpPr>
        <p:spPr>
          <a:xfrm>
            <a:off x="1410005" y="8401507"/>
            <a:ext cx="10401300" cy="924458"/>
          </a:xfrm>
          <a:prstGeom prst="rect">
            <a:avLst/>
          </a:prstGeom>
          <a:noFill/>
          <a:ln/>
        </p:spPr>
        <p:txBody>
          <a:bodyPr wrap="square" lIns="0" tIns="0" rIns="0" bIns="0" rtlCol="0" anchor="ctr"/>
          <a:lstStyle/>
          <a:p>
            <a:pPr algn="l" indent="0" marL="0">
              <a:lnSpc>
                <a:spcPts val="3627"/>
              </a:lnSpc>
              <a:buNone/>
            </a:pPr>
            <a:r>
              <a:rPr lang="en-US" sz="2325" b="1" dirty="0">
                <a:solidFill>
                  <a:srgbClr val="17150F"/>
                </a:solidFill>
                <a:latin typeface="Noto Serif KR" pitchFamily="34" charset="0"/>
                <a:ea typeface="Noto Serif KR" pitchFamily="34" charset="-122"/>
                <a:cs typeface="Noto Serif KR" pitchFamily="34" charset="-120"/>
              </a:rPr>
              <a:t>마지막 확인 — 최종 선택 이미지 파일을 </a:t>
            </a:r>
            <a:pPr algn="l" indent="0" marL="0">
              <a:lnSpc>
                <a:spcPts val="3627"/>
              </a:lnSpc>
              <a:buNone/>
            </a:pPr>
            <a:r>
              <a:rPr lang="en-US" sz="2325" b="1" dirty="0">
                <a:solidFill>
                  <a:srgbClr val="9C2A1F"/>
                </a:solidFill>
                <a:latin typeface="Noto Serif KR" pitchFamily="34" charset="0"/>
                <a:ea typeface="Noto Serif KR" pitchFamily="34" charset="-122"/>
                <a:cs typeface="Noto Serif KR" pitchFamily="34" charset="-120"/>
              </a:rPr>
              <a:t>규칙대로 저장</a:t>
            </a:r>
            <a:pPr algn="l" indent="0" marL="0">
              <a:lnSpc>
                <a:spcPts val="3627"/>
              </a:lnSpc>
              <a:buNone/>
            </a:pPr>
            <a:r>
              <a:rPr lang="en-US" sz="2325" b="1" dirty="0">
                <a:solidFill>
                  <a:srgbClr val="17150F"/>
                </a:solidFill>
                <a:latin typeface="Noto Serif KR" pitchFamily="34" charset="0"/>
                <a:ea typeface="Noto Serif KR" pitchFamily="34" charset="-122"/>
                <a:cs typeface="Noto Serif KR" pitchFamily="34" charset="-120"/>
              </a:rPr>
              <a:t>했는가. 학습지 1·2면을 제출했는가.</a:t>
            </a:r>
            <a:endParaRPr lang="en-US" sz="2325" dirty="0"/>
          </a:p>
        </p:txBody>
      </p:sp>
      <p:sp>
        <p:nvSpPr>
          <p:cNvPr id="34" name="Text 31"/>
          <p:cNvSpPr txBox="1"/>
          <p:nvPr/>
        </p:nvSpPr>
        <p:spPr>
          <a:xfrm>
            <a:off x="1143000" y="9658807"/>
            <a:ext cx="11127334"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다음 시간에는 이 이미지에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글을 붙인다</a:t>
            </a:r>
            <a:pPr algn="l" indent="0" marL="0">
              <a:buNone/>
            </a:pPr>
            <a:r>
              <a:rPr lang="en-US" sz="1725" dirty="0">
                <a:solidFill>
                  <a:srgbClr val="3A362C"/>
                </a:solidFill>
                <a:latin typeface="Noto Serif KR" pitchFamily="34" charset="0"/>
                <a:ea typeface="Noto Serif KR" pitchFamily="34" charset="-122"/>
                <a:cs typeface="Noto Serif KR" pitchFamily="34" charset="-120"/>
              </a:rPr>
              <a:t>. 이미지는 그대로인데 의미가 달라지는 과정을 직접 만들게 된다.</a:t>
            </a:r>
            <a:endParaRPr lang="en-US" sz="1725"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722eb7eba285039ff3c5294a00fc53fc.jpg">    </p:cNvPr>
          <p:cNvPicPr>
            <a:picLocks noChangeAspect="1"/>
          </p:cNvPicPr>
          <p:nvPr/>
        </p:nvPicPr>
        <p:blipFill>
          <a:blip r:embed="rId2">
            <a:alphaModFix amt="88000"/>
          </a:blip>
          <a:stretch>
            <a:fillRect/>
          </a:stretch>
        </p:blipFill>
        <p:spPr>
          <a:xfrm>
            <a:off x="11239805" y="0"/>
            <a:ext cx="7053943"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6 차시 · 120분 · 텍스트 작업</a:t>
            </a:r>
            <a:endParaRPr lang="en-US" sz="1725" dirty="0"/>
          </a:p>
        </p:txBody>
      </p:sp>
      <p:sp>
        <p:nvSpPr>
          <p:cNvPr id="10" name="Text 3"/>
          <p:cNvSpPr txBox="1"/>
          <p:nvPr/>
        </p:nvSpPr>
        <p:spPr>
          <a:xfrm>
            <a:off x="1143000" y="2400300"/>
            <a:ext cx="9620402" cy="1562710"/>
          </a:xfrm>
          <a:prstGeom prst="rect">
            <a:avLst/>
          </a:prstGeom>
          <a:noFill/>
          <a:ln/>
        </p:spPr>
        <p:txBody>
          <a:bodyPr wrap="square" lIns="0" tIns="0" rIns="0" bIns="0" rtlCol="0" anchor="t"/>
          <a:lstStyle/>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캡션이</a:t>
            </a:r>
            <a:pPr algn="l" indent="0" marL="0">
              <a:lnSpc>
                <a:spcPct val="124000"/>
              </a:lnSpc>
              <a:buNone/>
            </a:pPr>
            <a:endParaRPr lang="en-US" sz="4950" dirty="0"/>
          </a:p>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작품을 바꾼다</a:t>
            </a:r>
            <a:endParaRPr lang="en-US" sz="4950" dirty="0"/>
          </a:p>
        </p:txBody>
      </p:sp>
      <p:sp>
        <p:nvSpPr>
          <p:cNvPr id="11" name="Text 4"/>
          <p:cNvSpPr txBox="1"/>
          <p:nvPr/>
        </p:nvSpPr>
        <p:spPr>
          <a:xfrm>
            <a:off x="1143000" y="4953305"/>
            <a:ext cx="95253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같은 이미지에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세 개의 다른 캡션</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붙여 본다. 이미지는 그대로인데 관람자가 보는 것이 달라진다. 그리고 마지막 줄에 넣을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허구 표기의 문구와 위치</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를 확정한다.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6차시 준비 사항</a:t>
            </a:r>
            <a:endParaRPr lang="en-US" sz="1650" dirty="0"/>
          </a:p>
        </p:txBody>
      </p:sp>
      <p:sp>
        <p:nvSpPr>
          <p:cNvPr id="13" name="Text 6"/>
          <p:cNvSpPr txBox="1"/>
          <p:nvPr/>
        </p:nvSpPr>
        <p:spPr>
          <a:xfrm>
            <a:off x="1143000" y="7925105"/>
            <a:ext cx="9525305" cy="1497787"/>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최종 선택 이미지를 </a:t>
            </a:r>
            <a:pPr algn="l" indent="0" marL="0">
              <a:buNone/>
            </a:pPr>
            <a:r>
              <a:rPr lang="en-US" sz="1950" dirty="0">
                <a:solidFill>
                  <a:srgbClr val="FFFFFF"/>
                </a:solidFill>
                <a:latin typeface="Noto Serif KR" pitchFamily="34" charset="0"/>
                <a:ea typeface="Noto Serif KR" pitchFamily="34" charset="-122"/>
                <a:cs typeface="Noto Serif KR" pitchFamily="34" charset="-120"/>
              </a:rPr>
              <a:t>인쇄해 온다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 A5 크기 흑백 인쇄도 가능</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학습지 [별지 5] </a:t>
            </a:r>
            <a:pPr algn="l" indent="0" marL="0">
              <a:buNone/>
            </a:pPr>
            <a:r>
              <a:rPr lang="en-US" sz="1950" dirty="0">
                <a:solidFill>
                  <a:srgbClr val="FFFFFF"/>
                </a:solidFill>
                <a:latin typeface="Noto Serif KR" pitchFamily="34" charset="0"/>
                <a:ea typeface="Noto Serif KR" pitchFamily="34" charset="-122"/>
                <a:cs typeface="Noto Serif KR" pitchFamily="34" charset="-120"/>
              </a:rPr>
              <a:t>2면의 짝의 추정 기록</a:t>
            </a:r>
            <a:pPr algn="l" indent="0" marL="0">
              <a:buNone/>
            </a:pPr>
            <a:r>
              <a:rPr lang="en-US" sz="1950" dirty="0">
                <a:solidFill>
                  <a:srgbClr val="A79E8C"/>
                </a:solidFill>
                <a:latin typeface="Noto Serif KR" pitchFamily="34" charset="0"/>
                <a:ea typeface="Noto Serif KR" pitchFamily="34" charset="-122"/>
                <a:cs typeface="Noto Serif KR" pitchFamily="34" charset="-120"/>
              </a:rPr>
              <a:t>을 반드시 지참</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4차시 카드도 함께 — </a:t>
            </a:r>
            <a:pPr algn="l" indent="0" marL="0">
              <a:buNone/>
            </a:pPr>
            <a:r>
              <a:rPr lang="en-US" sz="1950" dirty="0">
                <a:solidFill>
                  <a:srgbClr val="FFFFFF"/>
                </a:solidFill>
                <a:latin typeface="Noto Serif KR" pitchFamily="34" charset="0"/>
                <a:ea typeface="Noto Serif KR" pitchFamily="34" charset="-122"/>
                <a:cs typeface="Noto Serif KR" pitchFamily="34" charset="-120"/>
              </a:rPr>
              <a:t>작품 캡션은 카드에서 나온다</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05 / 08 → LESSON 06 / 08</a:t>
            </a:r>
            <a:endParaRPr lang="en-US" sz="165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38605"/>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38605"/>
            <a:ext cx="7223660" cy="9144"/>
          </a:xfrm>
          <a:prstGeom prst="rect">
            <a:avLst/>
          </a:prstGeom>
        </p:spPr>
      </p:pic>
      <p:sp>
        <p:nvSpPr>
          <p:cNvPr id="5" name="Text 0"/>
          <p:cNvSpPr txBox="1"/>
          <p:nvPr/>
        </p:nvSpPr>
        <p:spPr>
          <a:xfrm>
            <a:off x="1143000" y="571500"/>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5차시</a:t>
            </a:r>
            <a:endParaRPr lang="en-US" sz="1800" dirty="0"/>
          </a:p>
        </p:txBody>
      </p:sp>
      <p:sp>
        <p:nvSpPr>
          <p:cNvPr id="6" name="Text 1"/>
          <p:cNvSpPr txBox="1"/>
          <p:nvPr/>
        </p:nvSpPr>
        <p:spPr>
          <a:xfrm>
            <a:off x="12382805" y="571500"/>
            <a:ext cx="4763110" cy="277063"/>
          </a:xfrm>
          <a:prstGeom prst="rect">
            <a:avLst/>
          </a:prstGeom>
          <a:noFill/>
          <a:ln/>
        </p:spPr>
        <p:txBody>
          <a:bodyPr wrap="none" lIns="0" tIns="0" rIns="0" bIns="0" rtlCol="0" anchor="ctr"/>
          <a:lstStyle/>
          <a:p>
            <a:pPr algn="r"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05 / 08 · 출처</a:t>
            </a:r>
            <a:endParaRPr lang="en-US" sz="1500" dirty="0"/>
          </a:p>
        </p:txBody>
      </p:sp>
      <p:sp>
        <p:nvSpPr>
          <p:cNvPr id="7" name="Text 2"/>
          <p:cNvSpPr txBox="1"/>
          <p:nvPr/>
        </p:nvSpPr>
        <p:spPr>
          <a:xfrm>
            <a:off x="1143000" y="133319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 · 이론</a:t>
            </a:r>
            <a:endParaRPr lang="en-US" sz="1575" dirty="0"/>
          </a:p>
        </p:txBody>
      </p:sp>
      <p:sp>
        <p:nvSpPr>
          <p:cNvPr id="8" name="Text 3"/>
          <p:cNvSpPr txBox="1"/>
          <p:nvPr/>
        </p:nvSpPr>
        <p:spPr>
          <a:xfrm>
            <a:off x="1143000" y="1848002"/>
            <a:ext cx="7810805" cy="6108192"/>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Roland Barthes,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La Chambre claire: Note sur la photographie</a:t>
            </a:r>
            <a:pPr algn="l" indent="0" marL="0">
              <a:buNone/>
            </a:pPr>
            <a:r>
              <a:rPr lang="en-US" sz="1575" dirty="0">
                <a:solidFill>
                  <a:srgbClr val="3A362C"/>
                </a:solidFill>
                <a:latin typeface="Noto Serif KR" pitchFamily="34" charset="0"/>
                <a:ea typeface="Noto Serif KR" pitchFamily="34" charset="-122"/>
                <a:cs typeface="Noto Serif KR" pitchFamily="34" charset="-120"/>
              </a:rPr>
              <a:t>, 1980 · 영역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Camera Lucida</a:t>
            </a:r>
            <a:pPr algn="l" indent="0" marL="0">
              <a:buNone/>
            </a:pPr>
            <a:r>
              <a:rPr lang="en-US" sz="1575" dirty="0">
                <a:solidFill>
                  <a:srgbClr val="3A362C"/>
                </a:solidFill>
                <a:latin typeface="Noto Serif KR" pitchFamily="34" charset="0"/>
                <a:ea typeface="Noto Serif KR" pitchFamily="34" charset="-122"/>
                <a:cs typeface="Noto Serif KR" pitchFamily="34" charset="-120"/>
              </a:rPr>
              <a:t>, Richard Howard 역, Hill and Wang, 1981 — 노에마 ‘ça-a-été’, 스투디움·푼크툼.</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C. S. Peirce, 「On A New List of Categories」(1867) — 도상·지표·상징 삼분법. Stanford Encyclopedia of Philosophy 인용본으로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Rosalind Krauss, 「Notes on the Index: Seventies Art in America」,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October</a:t>
            </a:r>
            <a:pPr algn="l" indent="0" marL="0">
              <a:buNone/>
            </a:pPr>
            <a:r>
              <a:rPr lang="en-US" sz="1575" dirty="0">
                <a:solidFill>
                  <a:srgbClr val="3A362C"/>
                </a:solidFill>
                <a:latin typeface="Noto Serif KR" pitchFamily="34" charset="0"/>
                <a:ea typeface="Noto Serif KR" pitchFamily="34" charset="-122"/>
                <a:cs typeface="Noto Serif KR" pitchFamily="34" charset="-120"/>
              </a:rPr>
              <a:t> Vol. 3(1977) pp.68–81, Vol. 4(1977) pp.58–67 — JSTOR 서지(778480).</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Walter Benjamin, 「Das Kunstwerk im Zeitalter seiner technischen Reproduzierbarkeit」, 1936/1939 — MIT 공개 영역본으로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John Berger,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Ways of Seeing</a:t>
            </a:r>
            <a:pPr algn="l" indent="0" marL="0">
              <a:buNone/>
            </a:pPr>
            <a:r>
              <a:rPr lang="en-US" sz="1575" dirty="0">
                <a:solidFill>
                  <a:srgbClr val="3A362C"/>
                </a:solidFill>
                <a:latin typeface="Noto Serif KR" pitchFamily="34" charset="0"/>
                <a:ea typeface="Noto Serif KR" pitchFamily="34" charset="-122"/>
                <a:cs typeface="Noto Serif KR" pitchFamily="34" charset="-120"/>
              </a:rPr>
              <a:t>, BBC Two 4부작 및 Penguin Books, 1972 — 공식 사이트 ways-of-seeing.com 1장 텍스트.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William J. Mitchell,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The Reconfigured Eye: Visual Truth in the Post-Photographic Era</a:t>
            </a:r>
            <a:pPr algn="l" indent="0" marL="0">
              <a:buNone/>
            </a:pPr>
            <a:r>
              <a:rPr lang="en-US" sz="1575" dirty="0">
                <a:solidFill>
                  <a:srgbClr val="3A362C"/>
                </a:solidFill>
                <a:latin typeface="Noto Serif KR" pitchFamily="34" charset="0"/>
                <a:ea typeface="Noto Serif KR" pitchFamily="34" charset="-122"/>
                <a:cs typeface="Noto Serif KR" pitchFamily="34" charset="-120"/>
              </a:rPr>
              <a:t>, MIT Press, 1992 — MIT Press 서지 정보.</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Tom Gunning, 「What's the Point of an Index? or, Faking Photographs」, 2004 — Duke University Press 수록본.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John Cage · Gerhard Richter 우연 관련 진술 — 공개 인터뷰·강연 인용 자료.</a:t>
            </a:r>
            <a:endParaRPr lang="en-US" sz="1200" dirty="0"/>
          </a:p>
        </p:txBody>
      </p:sp>
      <p:sp>
        <p:nvSpPr>
          <p:cNvPr id="9" name="Text 4"/>
          <p:cNvSpPr txBox="1"/>
          <p:nvPr/>
        </p:nvSpPr>
        <p:spPr>
          <a:xfrm>
            <a:off x="9620402" y="133319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제도 · 판례 · 법령 · 도판</a:t>
            </a:r>
            <a:endParaRPr lang="en-US" sz="1575" dirty="0"/>
          </a:p>
        </p:txBody>
      </p:sp>
      <p:sp>
        <p:nvSpPr>
          <p:cNvPr id="10" name="Text 5"/>
          <p:cNvSpPr txBox="1"/>
          <p:nvPr/>
        </p:nvSpPr>
        <p:spPr>
          <a:xfrm>
            <a:off x="9620402" y="1848002"/>
            <a:ext cx="7525512" cy="6960413"/>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미국 저작권청, 『Zarya of the Dawn』 부분 취소 통지(2023. 2. 21) — 저작권청 통지문 및 Harvard JOLT 해설.</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「Copyright Registration Guidance: Works Containing Material Generated by Artificial Intelligence」, 88 Fed. Reg. 16190(2023. 3. 16).</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미국 저작권청, 「Copyright and Artificial Intelligence, Part 2: Copyrightability」(2025. 1. 29).</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Thaler v. Perlmutter</a:t>
            </a:r>
            <a:pPr algn="l" indent="0" marL="0">
              <a:buNone/>
            </a:pPr>
            <a:r>
              <a:rPr lang="en-US" sz="1575" dirty="0">
                <a:solidFill>
                  <a:srgbClr val="3A362C"/>
                </a:solidFill>
                <a:latin typeface="Noto Serif KR" pitchFamily="34" charset="0"/>
                <a:ea typeface="Noto Serif KR" pitchFamily="34" charset="-122"/>
                <a:cs typeface="Noto Serif KR" pitchFamily="34" charset="-120"/>
              </a:rPr>
              <a:t>, 미국 연방순회항소법원(D.C. Cir.) 2025. 3. 18 판결 · 사건번호 23-5233 — 판결문 게재본.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제이슨 M. 앨런 「Théâtre D'opéra Spatial」(2022) 관련 저작권청 등록 거절(2023. 9. 5) — 결정 기록 및 보도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「인공지능 발전과 신뢰 기반 조성 등에 관한 기본법」, 법률 제20771호, 2025. 1. 24 공포 · 2026. 1. 22 시행 — 국가법령정보센터.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EU AI Act 제50조 — 공식 조문(적용 2026. 8. 2). 8차시에서 상세 인용.</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World Press Photo 출품·검증 규정 — 공식 사이트 게시본.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b="1" dirty="0">
                <a:solidFill>
                  <a:srgbClr val="17150F"/>
                </a:solidFill>
                <a:latin typeface="Noto Serif KR" pitchFamily="34" charset="0"/>
                <a:ea typeface="Noto Serif KR" pitchFamily="34" charset="-122"/>
                <a:cs typeface="Noto Serif KR" pitchFamily="34" charset="-120"/>
              </a:rPr>
              <a:t>5—01</a:t>
            </a:r>
            <a:pPr algn="l" indent="0" marL="0">
              <a:buNone/>
            </a:pPr>
            <a:r>
              <a:rPr lang="en-US" sz="1575" dirty="0">
                <a:solidFill>
                  <a:srgbClr val="3A362C"/>
                </a:solidFill>
                <a:latin typeface="Noto Serif KR" pitchFamily="34" charset="0"/>
                <a:ea typeface="Noto Serif KR" pitchFamily="34" charset="-122"/>
                <a:cs typeface="Noto Serif KR" pitchFamily="34" charset="-120"/>
              </a:rPr>
              <a:t> 가드너 「반란군 저격병의 집」(1863) — 미국 의회도서관 남북전쟁 유리 원판 컬렉션, 시카고 미술관 소장 정보.</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b="1" dirty="0">
                <a:solidFill>
                  <a:srgbClr val="17150F"/>
                </a:solidFill>
                <a:latin typeface="Noto Serif KR" pitchFamily="34" charset="0"/>
                <a:ea typeface="Noto Serif KR" pitchFamily="34" charset="-122"/>
                <a:cs typeface="Noto Serif KR" pitchFamily="34" charset="-120"/>
              </a:rPr>
              <a:t>5—02</a:t>
            </a:r>
            <a:pPr algn="l" indent="0" marL="0">
              <a:buNone/>
            </a:pPr>
            <a:r>
              <a:rPr lang="en-US" sz="1575" dirty="0">
                <a:solidFill>
                  <a:srgbClr val="3A362C"/>
                </a:solidFill>
                <a:latin typeface="Noto Serif KR" pitchFamily="34" charset="0"/>
                <a:ea typeface="Noto Serif KR" pitchFamily="34" charset="-122"/>
                <a:cs typeface="Noto Serif KR" pitchFamily="34" charset="-120"/>
              </a:rPr>
              <a:t> 뒤샹 「3개의 표준 정지」(1913–14) — MoMA 소장 정보, 퐁피두 센터 작품 기록.</a:t>
            </a:r>
            <a:endParaRPr lang="en-US" sz="1200" dirty="0"/>
          </a:p>
        </p:txBody>
      </p:sp>
      <p:sp>
        <p:nvSpPr>
          <p:cNvPr id="11" name="Shape 6"/>
          <p:cNvSpPr/>
          <p:nvPr/>
        </p:nvSpPr>
        <p:spPr>
          <a:xfrm>
            <a:off x="1143000" y="7733995"/>
            <a:ext cx="7810805" cy="1762049"/>
          </a:xfrm>
          <a:prstGeom prst="rect">
            <a:avLst/>
          </a:prstGeom>
          <a:solidFill>
            <a:srgbClr val="9C2A1F">
              <a:alpha val="6000"/>
            </a:srgbClr>
          </a:solidFill>
          <a:ln w="12700">
            <a:solidFill>
              <a:srgbClr val="9C2A1F"/>
            </a:solidFill>
            <a:prstDash val="solid"/>
          </a:ln>
        </p:spPr>
      </p:sp>
      <p:sp>
        <p:nvSpPr>
          <p:cNvPr id="12" name="Text 7"/>
          <p:cNvSpPr txBox="1"/>
          <p:nvPr/>
        </p:nvSpPr>
        <p:spPr>
          <a:xfrm>
            <a:off x="1362456" y="7877556"/>
            <a:ext cx="7372807" cy="1476756"/>
          </a:xfrm>
          <a:prstGeom prst="rect">
            <a:avLst/>
          </a:prstGeom>
          <a:noFill/>
          <a:ln/>
        </p:spPr>
        <p:txBody>
          <a:bodyPr wrap="square" lIns="0" tIns="0" rIns="0" bIns="0" rtlCol="0" anchor="ctr"/>
          <a:lstStyle/>
          <a:p>
            <a:pPr algn="l" indent="0" marL="0">
              <a:lnSpc>
                <a:spcPts val="2325"/>
              </a:lnSpc>
              <a:buNone/>
            </a:pPr>
            <a:r>
              <a:rPr lang="en-US" sz="1500"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① 카파 「쓰러지는 병사」(1936)의 연출 여부는 </a:t>
            </a:r>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학계 확정 결론이 부재</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하므로 “논쟁이 있다”까지만 제시한다. ② World Press Photo의 AI 이미지 관련 최신 조항, ③ 한국저작권위원회 생성형 AI 저작권 안내서 본문, ④ 레프 마노비치의 생성 이미지 관련 최신 논의, ⑤ 교육부·시도교육청 생성형 AI 활용 지침 본문은 1차 확인이 필요하다. 학생 배포 자료에는 ①만 </a:t>
            </a:r>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‘미결’로 명시해</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사용하고 나머지는 인용하지 않는다.</a:t>
            </a:r>
            <a:endParaRPr lang="en-US" sz="1500" dirty="0"/>
          </a:p>
        </p:txBody>
      </p:sp>
      <p:sp>
        <p:nvSpPr>
          <p:cNvPr id="13" name="Text 8"/>
          <p:cNvSpPr txBox="1"/>
          <p:nvPr/>
        </p:nvSpPr>
        <p:spPr>
          <a:xfrm>
            <a:off x="1143000" y="9639605"/>
            <a:ext cx="7810805" cy="590702"/>
          </a:xfrm>
          <a:prstGeom prst="rect">
            <a:avLst/>
          </a:prstGeom>
          <a:noFill/>
          <a:ln/>
        </p:spPr>
        <p:txBody>
          <a:bodyPr wrap="square" lIns="0" tIns="0" rIns="0" bIns="0" rtlCol="0" anchor="ctr"/>
          <a:lstStyle/>
          <a:p>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도판 사용 안내</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교사용 수업 자료로서 인용·교육 목적에 한해 사용하며, 학생 배포본에는 소장 기관명과 작품 정보를 함께 표기한다.</a:t>
            </a:r>
            <a:endParaRPr lang="en-US" sz="1500" dirty="0"/>
          </a:p>
        </p:txBody>
      </p:sp>
      <p:sp>
        <p:nvSpPr>
          <p:cNvPr id="14" name="Text 9"/>
          <p:cNvSpPr txBox="1"/>
          <p:nvPr/>
        </p:nvSpPr>
        <p:spPr>
          <a:xfrm>
            <a:off x="9620402" y="9201607"/>
            <a:ext cx="7525512" cy="886054"/>
          </a:xfrm>
          <a:prstGeom prst="rect">
            <a:avLst/>
          </a:prstGeom>
          <a:noFill/>
          <a:ln/>
        </p:spPr>
        <p:txBody>
          <a:bodyPr wrap="square" lIns="0" tIns="0" rIns="0" bIns="0" rtlCol="0" anchor="ctr"/>
          <a:lstStyle/>
          <a:p>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수업 운영상 주의</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 전쟁 사망자 사진을 다루므로 도입에서 주제를 예고하고, 정서적 부담을 느끼는 학생에게는 </a:t>
            </a:r>
            <a:pPr algn="l" indent="0" marL="0">
              <a:lnSpc>
                <a:spcPts val="2325"/>
              </a:lnSpc>
              <a:buNone/>
            </a:pPr>
            <a:r>
              <a:rPr lang="en-US" sz="1500" b="1" dirty="0">
                <a:solidFill>
                  <a:srgbClr val="17150F"/>
                </a:solidFill>
                <a:latin typeface="Noto Serif KR" pitchFamily="34" charset="0"/>
                <a:ea typeface="Noto Serif KR" pitchFamily="34" charset="-122"/>
                <a:cs typeface="Noto Serif KR" pitchFamily="34" charset="-120"/>
              </a:rPr>
              <a:t>대체 사례(스포츠 보도사진 후처리 논쟁)</a:t>
            </a:r>
            <a:pPr algn="l" indent="0" marL="0">
              <a:lnSpc>
                <a:spcPts val="2325"/>
              </a:lnSpc>
              <a:buNone/>
            </a:pPr>
            <a:r>
              <a:rPr lang="en-US" sz="1500" dirty="0">
                <a:solidFill>
                  <a:srgbClr val="3A362C"/>
                </a:solidFill>
                <a:latin typeface="Noto Serif KR" pitchFamily="34" charset="0"/>
                <a:ea typeface="Noto Serif KR" pitchFamily="34" charset="-122"/>
                <a:cs typeface="Noto Serif KR" pitchFamily="34" charset="-120"/>
              </a:rPr>
              <a:t>를 제시한다. 생성 도구의 계정·연령 정책은 학교 지침을 우선 적용한다.</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2026-08-25T01:53:01Z</dcterms:created>
  <dcterms:modified xsi:type="dcterms:W3CDTF">2026-08-25T01:53:01Z</dcterms:modified>
</cp:coreProperties>
</file>